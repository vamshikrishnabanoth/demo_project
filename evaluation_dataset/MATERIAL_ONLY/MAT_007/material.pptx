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0" r:id="rId2"/>
    <p:sldId id="389" r:id="rId3"/>
    <p:sldId id="398" r:id="rId4"/>
    <p:sldId id="399" r:id="rId5"/>
    <p:sldId id="401" r:id="rId6"/>
    <p:sldId id="404" r:id="rId7"/>
    <p:sldId id="403" r:id="rId8"/>
    <p:sldId id="405" r:id="rId9"/>
    <p:sldId id="408" r:id="rId10"/>
    <p:sldId id="409" r:id="rId11"/>
    <p:sldId id="406" r:id="rId12"/>
    <p:sldId id="402" r:id="rId13"/>
    <p:sldId id="407" r:id="rId14"/>
    <p:sldId id="410" r:id="rId15"/>
    <p:sldId id="416" r:id="rId16"/>
    <p:sldId id="417" r:id="rId17"/>
    <p:sldId id="418" r:id="rId18"/>
    <p:sldId id="507" r:id="rId19"/>
    <p:sldId id="419" r:id="rId20"/>
    <p:sldId id="411" r:id="rId21"/>
    <p:sldId id="508" r:id="rId22"/>
    <p:sldId id="415" r:id="rId23"/>
    <p:sldId id="414" r:id="rId24"/>
    <p:sldId id="423" r:id="rId25"/>
    <p:sldId id="424" r:id="rId26"/>
    <p:sldId id="425" r:id="rId27"/>
    <p:sldId id="426" r:id="rId28"/>
    <p:sldId id="427" r:id="rId29"/>
    <p:sldId id="412" r:id="rId30"/>
    <p:sldId id="430" r:id="rId31"/>
    <p:sldId id="431" r:id="rId32"/>
    <p:sldId id="432" r:id="rId33"/>
    <p:sldId id="433" r:id="rId34"/>
    <p:sldId id="434" r:id="rId35"/>
    <p:sldId id="435" r:id="rId36"/>
    <p:sldId id="421" r:id="rId37"/>
    <p:sldId id="428" r:id="rId38"/>
    <p:sldId id="436" r:id="rId39"/>
    <p:sldId id="438" r:id="rId40"/>
    <p:sldId id="439" r:id="rId41"/>
    <p:sldId id="441" r:id="rId42"/>
    <p:sldId id="442" r:id="rId43"/>
    <p:sldId id="451" r:id="rId44"/>
    <p:sldId id="453" r:id="rId45"/>
    <p:sldId id="454" r:id="rId46"/>
    <p:sldId id="458" r:id="rId47"/>
    <p:sldId id="461" r:id="rId48"/>
    <p:sldId id="468" r:id="rId49"/>
    <p:sldId id="469" r:id="rId50"/>
    <p:sldId id="470" r:id="rId51"/>
    <p:sldId id="472" r:id="rId52"/>
    <p:sldId id="473" r:id="rId53"/>
    <p:sldId id="474" r:id="rId54"/>
    <p:sldId id="476" r:id="rId55"/>
    <p:sldId id="511" r:id="rId56"/>
    <p:sldId id="482" r:id="rId57"/>
    <p:sldId id="483" r:id="rId58"/>
    <p:sldId id="484" r:id="rId59"/>
    <p:sldId id="486" r:id="rId60"/>
    <p:sldId id="488" r:id="rId61"/>
    <p:sldId id="494" r:id="rId62"/>
    <p:sldId id="496" r:id="rId63"/>
    <p:sldId id="495" r:id="rId64"/>
    <p:sldId id="498" r:id="rId65"/>
    <p:sldId id="499" r:id="rId66"/>
    <p:sldId id="503" r:id="rId67"/>
    <p:sldId id="504" r:id="rId68"/>
    <p:sldId id="505"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45BB3-D0D1-49C0-9E84-747CEB2DFBB5}" v="31" dt="2025-11-14T09:51:27.5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fareesa firdouse" userId="02b4e526553002df" providerId="LiveId" clId="{BDBF16E7-395B-411F-8B92-5589C1AF6AA5}"/>
    <pc:docChg chg="undo custSel addSld delSld modSld">
      <pc:chgData name="Dr fareesa firdouse" userId="02b4e526553002df" providerId="LiveId" clId="{BDBF16E7-395B-411F-8B92-5589C1AF6AA5}" dt="2025-11-19T14:19:04.106" v="419" actId="47"/>
      <pc:docMkLst>
        <pc:docMk/>
      </pc:docMkLst>
      <pc:sldChg chg="modSp mod">
        <pc:chgData name="Dr fareesa firdouse" userId="02b4e526553002df" providerId="LiveId" clId="{BDBF16E7-395B-411F-8B92-5589C1AF6AA5}" dt="2025-11-14T10:00:34.552" v="416" actId="20577"/>
        <pc:sldMkLst>
          <pc:docMk/>
          <pc:sldMk cId="0" sldId="451"/>
        </pc:sldMkLst>
        <pc:spChg chg="mod">
          <ac:chgData name="Dr fareesa firdouse" userId="02b4e526553002df" providerId="LiveId" clId="{BDBF16E7-395B-411F-8B92-5589C1AF6AA5}" dt="2025-11-14T10:00:34.552" v="416" actId="20577"/>
          <ac:spMkLst>
            <pc:docMk/>
            <pc:sldMk cId="0" sldId="451"/>
            <ac:spMk id="3" creationId="{00000000-0000-0000-0000-000000000000}"/>
          </ac:spMkLst>
        </pc:spChg>
      </pc:sldChg>
      <pc:sldChg chg="addSp modSp mod">
        <pc:chgData name="Dr fareesa firdouse" userId="02b4e526553002df" providerId="LiveId" clId="{BDBF16E7-395B-411F-8B92-5589C1AF6AA5}" dt="2025-11-14T09:02:04.482" v="44" actId="14100"/>
        <pc:sldMkLst>
          <pc:docMk/>
          <pc:sldMk cId="0" sldId="469"/>
        </pc:sldMkLst>
        <pc:spChg chg="mod">
          <ac:chgData name="Dr fareesa firdouse" userId="02b4e526553002df" providerId="LiveId" clId="{BDBF16E7-395B-411F-8B92-5589C1AF6AA5}" dt="2025-11-14T09:00:41.698" v="30" actId="20577"/>
          <ac:spMkLst>
            <pc:docMk/>
            <pc:sldMk cId="0" sldId="469"/>
            <ac:spMk id="3" creationId="{00000000-0000-0000-0000-000000000000}"/>
          </ac:spMkLst>
        </pc:spChg>
        <pc:spChg chg="add mod">
          <ac:chgData name="Dr fareesa firdouse" userId="02b4e526553002df" providerId="LiveId" clId="{BDBF16E7-395B-411F-8B92-5589C1AF6AA5}" dt="2025-11-14T09:01:56.827" v="42" actId="14100"/>
          <ac:spMkLst>
            <pc:docMk/>
            <pc:sldMk cId="0" sldId="469"/>
            <ac:spMk id="7" creationId="{6E9A4DFC-1CE3-0192-8DB7-AAA90E77FDDC}"/>
          </ac:spMkLst>
        </pc:spChg>
        <pc:graphicFrameChg chg="add mod">
          <ac:chgData name="Dr fareesa firdouse" userId="02b4e526553002df" providerId="LiveId" clId="{BDBF16E7-395B-411F-8B92-5589C1AF6AA5}" dt="2025-11-14T09:02:04.482" v="44" actId="14100"/>
          <ac:graphicFrameMkLst>
            <pc:docMk/>
            <pc:sldMk cId="0" sldId="469"/>
            <ac:graphicFrameMk id="8" creationId="{0A99AE57-D2D1-41A5-5BDA-18D3AA3D5326}"/>
          </ac:graphicFrameMkLst>
        </pc:graphicFrameChg>
        <pc:picChg chg="mod">
          <ac:chgData name="Dr fareesa firdouse" userId="02b4e526553002df" providerId="LiveId" clId="{BDBF16E7-395B-411F-8B92-5589C1AF6AA5}" dt="2025-11-14T09:00:27.143" v="3" actId="1076"/>
          <ac:picMkLst>
            <pc:docMk/>
            <pc:sldMk cId="0" sldId="469"/>
            <ac:picMk id="4" creationId="{00000000-0000-0000-0000-000000000000}"/>
          </ac:picMkLst>
        </pc:picChg>
        <pc:picChg chg="mod">
          <ac:chgData name="Dr fareesa firdouse" userId="02b4e526553002df" providerId="LiveId" clId="{BDBF16E7-395B-411F-8B92-5589C1AF6AA5}" dt="2025-11-14T09:00:49.387" v="33" actId="14100"/>
          <ac:picMkLst>
            <pc:docMk/>
            <pc:sldMk cId="0" sldId="469"/>
            <ac:picMk id="5" creationId="{00000000-0000-0000-0000-000000000000}"/>
          </ac:picMkLst>
        </pc:picChg>
      </pc:sldChg>
      <pc:sldChg chg="add del">
        <pc:chgData name="Dr fareesa firdouse" userId="02b4e526553002df" providerId="LiveId" clId="{BDBF16E7-395B-411F-8B92-5589C1AF6AA5}" dt="2025-11-14T09:19:03.303" v="142"/>
        <pc:sldMkLst>
          <pc:docMk/>
          <pc:sldMk cId="0" sldId="472"/>
        </pc:sldMkLst>
      </pc:sldChg>
      <pc:sldChg chg="addSp modSp mod">
        <pc:chgData name="Dr fareesa firdouse" userId="02b4e526553002df" providerId="LiveId" clId="{BDBF16E7-395B-411F-8B92-5589C1AF6AA5}" dt="2025-11-14T09:12:18.161" v="130" actId="1076"/>
        <pc:sldMkLst>
          <pc:docMk/>
          <pc:sldMk cId="0" sldId="476"/>
        </pc:sldMkLst>
        <pc:spChg chg="mod">
          <ac:chgData name="Dr fareesa firdouse" userId="02b4e526553002df" providerId="LiveId" clId="{BDBF16E7-395B-411F-8B92-5589C1AF6AA5}" dt="2025-11-14T09:04:54.033" v="55" actId="404"/>
          <ac:spMkLst>
            <pc:docMk/>
            <pc:sldMk cId="0" sldId="476"/>
            <ac:spMk id="2" creationId="{00000000-0000-0000-0000-000000000000}"/>
          </ac:spMkLst>
        </pc:spChg>
        <pc:spChg chg="mod">
          <ac:chgData name="Dr fareesa firdouse" userId="02b4e526553002df" providerId="LiveId" clId="{BDBF16E7-395B-411F-8B92-5589C1AF6AA5}" dt="2025-11-14T09:06:18.736" v="60"/>
          <ac:spMkLst>
            <pc:docMk/>
            <pc:sldMk cId="0" sldId="476"/>
            <ac:spMk id="3" creationId="{00000000-0000-0000-0000-000000000000}"/>
          </ac:spMkLst>
        </pc:spChg>
        <pc:spChg chg="add mod">
          <ac:chgData name="Dr fareesa firdouse" userId="02b4e526553002df" providerId="LiveId" clId="{BDBF16E7-395B-411F-8B92-5589C1AF6AA5}" dt="2025-11-14T09:07:42.948" v="66" actId="1076"/>
          <ac:spMkLst>
            <pc:docMk/>
            <pc:sldMk cId="0" sldId="476"/>
            <ac:spMk id="5" creationId="{3C5AA3FC-77D9-F6C1-8CAD-C95FF7724A74}"/>
          </ac:spMkLst>
        </pc:spChg>
        <pc:spChg chg="add mod">
          <ac:chgData name="Dr fareesa firdouse" userId="02b4e526553002df" providerId="LiveId" clId="{BDBF16E7-395B-411F-8B92-5589C1AF6AA5}" dt="2025-11-14T09:11:25.673" v="126" actId="1076"/>
          <ac:spMkLst>
            <pc:docMk/>
            <pc:sldMk cId="0" sldId="476"/>
            <ac:spMk id="8" creationId="{E382D4AC-99A8-EDDC-45C1-409793F1C7B9}"/>
          </ac:spMkLst>
        </pc:spChg>
        <pc:graphicFrameChg chg="add mod">
          <ac:chgData name="Dr fareesa firdouse" userId="02b4e526553002df" providerId="LiveId" clId="{BDBF16E7-395B-411F-8B92-5589C1AF6AA5}" dt="2025-11-14T09:10:11.837" v="68" actId="1076"/>
          <ac:graphicFrameMkLst>
            <pc:docMk/>
            <pc:sldMk cId="0" sldId="476"/>
            <ac:graphicFrameMk id="6" creationId="{D1200512-02E2-3137-744C-A5385513B441}"/>
          </ac:graphicFrameMkLst>
        </pc:graphicFrameChg>
        <pc:picChg chg="add mod">
          <ac:chgData name="Dr fareesa firdouse" userId="02b4e526553002df" providerId="LiveId" clId="{BDBF16E7-395B-411F-8B92-5589C1AF6AA5}" dt="2025-11-14T09:12:18.161" v="130" actId="1076"/>
          <ac:picMkLst>
            <pc:docMk/>
            <pc:sldMk cId="0" sldId="476"/>
            <ac:picMk id="9" creationId="{5568CC96-AAE8-6582-FDC0-5373D8AB758A}"/>
          </ac:picMkLst>
        </pc:picChg>
        <pc:picChg chg="mod">
          <ac:chgData name="Dr fareesa firdouse" userId="02b4e526553002df" providerId="LiveId" clId="{BDBF16E7-395B-411F-8B92-5589C1AF6AA5}" dt="2025-11-14T09:06:59.894" v="64" actId="1076"/>
          <ac:picMkLst>
            <pc:docMk/>
            <pc:sldMk cId="0" sldId="476"/>
            <ac:picMk id="9218" creationId="{00000000-0000-0000-0000-000000000000}"/>
          </ac:picMkLst>
        </pc:picChg>
      </pc:sldChg>
      <pc:sldChg chg="modSp mod">
        <pc:chgData name="Dr fareesa firdouse" userId="02b4e526553002df" providerId="LiveId" clId="{BDBF16E7-395B-411F-8B92-5589C1AF6AA5}" dt="2025-11-14T09:14:59.511" v="140" actId="20577"/>
        <pc:sldMkLst>
          <pc:docMk/>
          <pc:sldMk cId="0" sldId="482"/>
        </pc:sldMkLst>
        <pc:spChg chg="mod">
          <ac:chgData name="Dr fareesa firdouse" userId="02b4e526553002df" providerId="LiveId" clId="{BDBF16E7-395B-411F-8B92-5589C1AF6AA5}" dt="2025-11-14T09:14:23.490" v="137" actId="1076"/>
          <ac:spMkLst>
            <pc:docMk/>
            <pc:sldMk cId="0" sldId="482"/>
            <ac:spMk id="2" creationId="{00000000-0000-0000-0000-000000000000}"/>
          </ac:spMkLst>
        </pc:spChg>
        <pc:spChg chg="mod">
          <ac:chgData name="Dr fareesa firdouse" userId="02b4e526553002df" providerId="LiveId" clId="{BDBF16E7-395B-411F-8B92-5589C1AF6AA5}" dt="2025-11-14T09:14:59.511" v="140" actId="20577"/>
          <ac:spMkLst>
            <pc:docMk/>
            <pc:sldMk cId="0" sldId="482"/>
            <ac:spMk id="3" creationId="{00000000-0000-0000-0000-000000000000}"/>
          </ac:spMkLst>
        </pc:spChg>
      </pc:sldChg>
      <pc:sldChg chg="addSp modSp mod">
        <pc:chgData name="Dr fareesa firdouse" userId="02b4e526553002df" providerId="LiveId" clId="{BDBF16E7-395B-411F-8B92-5589C1AF6AA5}" dt="2025-11-14T09:24:53.255" v="165" actId="1076"/>
        <pc:sldMkLst>
          <pc:docMk/>
          <pc:sldMk cId="0" sldId="484"/>
        </pc:sldMkLst>
        <pc:spChg chg="mod">
          <ac:chgData name="Dr fareesa firdouse" userId="02b4e526553002df" providerId="LiveId" clId="{BDBF16E7-395B-411F-8B92-5589C1AF6AA5}" dt="2025-11-14T09:23:47.081" v="155" actId="20577"/>
          <ac:spMkLst>
            <pc:docMk/>
            <pc:sldMk cId="0" sldId="484"/>
            <ac:spMk id="3" creationId="{00000000-0000-0000-0000-000000000000}"/>
          </ac:spMkLst>
        </pc:spChg>
        <pc:spChg chg="add mod">
          <ac:chgData name="Dr fareesa firdouse" userId="02b4e526553002df" providerId="LiveId" clId="{BDBF16E7-395B-411F-8B92-5589C1AF6AA5}" dt="2025-11-14T09:24:51.496" v="164" actId="1076"/>
          <ac:spMkLst>
            <pc:docMk/>
            <pc:sldMk cId="0" sldId="484"/>
            <ac:spMk id="6" creationId="{E41F4C16-6318-A4BB-DEA0-9B218F19C5EA}"/>
          </ac:spMkLst>
        </pc:spChg>
        <pc:picChg chg="add mod">
          <ac:chgData name="Dr fareesa firdouse" userId="02b4e526553002df" providerId="LiveId" clId="{BDBF16E7-395B-411F-8B92-5589C1AF6AA5}" dt="2025-11-14T09:24:53.255" v="165" actId="1076"/>
          <ac:picMkLst>
            <pc:docMk/>
            <pc:sldMk cId="0" sldId="484"/>
            <ac:picMk id="4" creationId="{A782A022-D466-4BD6-D7F4-DC456D805FAA}"/>
          </ac:picMkLst>
        </pc:picChg>
        <pc:picChg chg="mod">
          <ac:chgData name="Dr fareesa firdouse" userId="02b4e526553002df" providerId="LiveId" clId="{BDBF16E7-395B-411F-8B92-5589C1AF6AA5}" dt="2025-11-14T09:23:56.837" v="156" actId="1076"/>
          <ac:picMkLst>
            <pc:docMk/>
            <pc:sldMk cId="0" sldId="484"/>
            <ac:picMk id="54297432" creationId="{00000000-0000-0000-0000-000000000000}"/>
          </ac:picMkLst>
        </pc:picChg>
        <pc:picChg chg="mod">
          <ac:chgData name="Dr fareesa firdouse" userId="02b4e526553002df" providerId="LiveId" clId="{BDBF16E7-395B-411F-8B92-5589C1AF6AA5}" dt="2025-11-14T09:23:59.939" v="157" actId="1076"/>
          <ac:picMkLst>
            <pc:docMk/>
            <pc:sldMk cId="0" sldId="484"/>
            <ac:picMk id="435698471" creationId="{00000000-0000-0000-0000-000000000000}"/>
          </ac:picMkLst>
        </pc:picChg>
      </pc:sldChg>
      <pc:sldChg chg="addSp delSp modSp mod">
        <pc:chgData name="Dr fareesa firdouse" userId="02b4e526553002df" providerId="LiveId" clId="{BDBF16E7-395B-411F-8B92-5589C1AF6AA5}" dt="2025-11-14T09:29:29.281" v="216" actId="1076"/>
        <pc:sldMkLst>
          <pc:docMk/>
          <pc:sldMk cId="0" sldId="486"/>
        </pc:sldMkLst>
        <pc:spChg chg="mod">
          <ac:chgData name="Dr fareesa firdouse" userId="02b4e526553002df" providerId="LiveId" clId="{BDBF16E7-395B-411F-8B92-5589C1AF6AA5}" dt="2025-11-14T09:28:57.552" v="208" actId="1076"/>
          <ac:spMkLst>
            <pc:docMk/>
            <pc:sldMk cId="0" sldId="486"/>
            <ac:spMk id="2" creationId="{00000000-0000-0000-0000-000000000000}"/>
          </ac:spMkLst>
        </pc:spChg>
        <pc:spChg chg="mod">
          <ac:chgData name="Dr fareesa firdouse" userId="02b4e526553002df" providerId="LiveId" clId="{BDBF16E7-395B-411F-8B92-5589C1AF6AA5}" dt="2025-11-14T09:29:06.055" v="210" actId="1076"/>
          <ac:spMkLst>
            <pc:docMk/>
            <pc:sldMk cId="0" sldId="486"/>
            <ac:spMk id="3" creationId="{00000000-0000-0000-0000-000000000000}"/>
          </ac:spMkLst>
        </pc:spChg>
        <pc:spChg chg="add mod">
          <ac:chgData name="Dr fareesa firdouse" userId="02b4e526553002df" providerId="LiveId" clId="{BDBF16E7-395B-411F-8B92-5589C1AF6AA5}" dt="2025-11-14T09:28:05.761" v="201" actId="20577"/>
          <ac:spMkLst>
            <pc:docMk/>
            <pc:sldMk cId="0" sldId="486"/>
            <ac:spMk id="7" creationId="{D1FC3063-B408-709B-4F30-F90B46A0B7DC}"/>
          </ac:spMkLst>
        </pc:spChg>
        <pc:picChg chg="mod">
          <ac:chgData name="Dr fareesa firdouse" userId="02b4e526553002df" providerId="LiveId" clId="{BDBF16E7-395B-411F-8B92-5589C1AF6AA5}" dt="2025-11-14T09:29:09.234" v="211" actId="1076"/>
          <ac:picMkLst>
            <pc:docMk/>
            <pc:sldMk cId="0" sldId="486"/>
            <ac:picMk id="5" creationId="{00000000-0000-0000-0000-000000000000}"/>
          </ac:picMkLst>
        </pc:picChg>
        <pc:picChg chg="add mod">
          <ac:chgData name="Dr fareesa firdouse" userId="02b4e526553002df" providerId="LiveId" clId="{BDBF16E7-395B-411F-8B92-5589C1AF6AA5}" dt="2025-11-14T09:29:29.281" v="216" actId="1076"/>
          <ac:picMkLst>
            <pc:docMk/>
            <pc:sldMk cId="0" sldId="486"/>
            <ac:picMk id="8" creationId="{B9B810D3-1DAA-12C2-39BE-6E9552AD320B}"/>
          </ac:picMkLst>
        </pc:picChg>
        <pc:picChg chg="mod">
          <ac:chgData name="Dr fareesa firdouse" userId="02b4e526553002df" providerId="LiveId" clId="{BDBF16E7-395B-411F-8B92-5589C1AF6AA5}" dt="2025-11-14T09:29:12.306" v="212" actId="1076"/>
          <ac:picMkLst>
            <pc:docMk/>
            <pc:sldMk cId="0" sldId="486"/>
            <ac:picMk id="1580490399" creationId="{00000000-0000-0000-0000-000000000000}"/>
          </ac:picMkLst>
        </pc:picChg>
      </pc:sldChg>
      <pc:sldChg chg="addSp modSp mod">
        <pc:chgData name="Dr fareesa firdouse" userId="02b4e526553002df" providerId="LiveId" clId="{BDBF16E7-395B-411F-8B92-5589C1AF6AA5}" dt="2025-11-14T09:32:26.314" v="294" actId="14100"/>
        <pc:sldMkLst>
          <pc:docMk/>
          <pc:sldMk cId="0" sldId="488"/>
        </pc:sldMkLst>
        <pc:spChg chg="mod">
          <ac:chgData name="Dr fareesa firdouse" userId="02b4e526553002df" providerId="LiveId" clId="{BDBF16E7-395B-411F-8B92-5589C1AF6AA5}" dt="2025-11-14T09:30:18.413" v="222" actId="1076"/>
          <ac:spMkLst>
            <pc:docMk/>
            <pc:sldMk cId="0" sldId="488"/>
            <ac:spMk id="2" creationId="{00000000-0000-0000-0000-000000000000}"/>
          </ac:spMkLst>
        </pc:spChg>
        <pc:spChg chg="mod">
          <ac:chgData name="Dr fareesa firdouse" userId="02b4e526553002df" providerId="LiveId" clId="{BDBF16E7-395B-411F-8B92-5589C1AF6AA5}" dt="2025-11-14T09:31:04.713" v="285" actId="20577"/>
          <ac:spMkLst>
            <pc:docMk/>
            <pc:sldMk cId="0" sldId="488"/>
            <ac:spMk id="3" creationId="{00000000-0000-0000-0000-000000000000}"/>
          </ac:spMkLst>
        </pc:spChg>
        <pc:spChg chg="add mod">
          <ac:chgData name="Dr fareesa firdouse" userId="02b4e526553002df" providerId="LiveId" clId="{BDBF16E7-395B-411F-8B92-5589C1AF6AA5}" dt="2025-11-14T09:31:49.125" v="288" actId="14100"/>
          <ac:spMkLst>
            <pc:docMk/>
            <pc:sldMk cId="0" sldId="488"/>
            <ac:spMk id="5" creationId="{B4E0B0AB-14B7-BBB2-5B33-D392594EA2F4}"/>
          </ac:spMkLst>
        </pc:spChg>
        <pc:picChg chg="add mod">
          <ac:chgData name="Dr fareesa firdouse" userId="02b4e526553002df" providerId="LiveId" clId="{BDBF16E7-395B-411F-8B92-5589C1AF6AA5}" dt="2025-11-14T09:32:26.314" v="294" actId="14100"/>
          <ac:picMkLst>
            <pc:docMk/>
            <pc:sldMk cId="0" sldId="488"/>
            <ac:picMk id="6" creationId="{3995FD51-550F-B8C1-3A06-F9F962D2A4EA}"/>
          </ac:picMkLst>
        </pc:picChg>
        <pc:picChg chg="mod">
          <ac:chgData name="Dr fareesa firdouse" userId="02b4e526553002df" providerId="LiveId" clId="{BDBF16E7-395B-411F-8B92-5589C1AF6AA5}" dt="2025-11-14T09:30:49.580" v="249" actId="1076"/>
          <ac:picMkLst>
            <pc:docMk/>
            <pc:sldMk cId="0" sldId="488"/>
            <ac:picMk id="340112682" creationId="{00000000-0000-0000-0000-000000000000}"/>
          </ac:picMkLst>
        </pc:picChg>
        <pc:picChg chg="mod">
          <ac:chgData name="Dr fareesa firdouse" userId="02b4e526553002df" providerId="LiveId" clId="{BDBF16E7-395B-411F-8B92-5589C1AF6AA5}" dt="2025-11-14T09:30:43.357" v="248" actId="1076"/>
          <ac:picMkLst>
            <pc:docMk/>
            <pc:sldMk cId="0" sldId="488"/>
            <ac:picMk id="1722538459" creationId="{00000000-0000-0000-0000-000000000000}"/>
          </ac:picMkLst>
        </pc:picChg>
      </pc:sldChg>
      <pc:sldChg chg="addSp modSp del mod">
        <pc:chgData name="Dr fareesa firdouse" userId="02b4e526553002df" providerId="LiveId" clId="{BDBF16E7-395B-411F-8B92-5589C1AF6AA5}" dt="2025-11-18T08:02:43.476" v="417" actId="47"/>
        <pc:sldMkLst>
          <pc:docMk/>
          <pc:sldMk cId="0" sldId="491"/>
        </pc:sldMkLst>
      </pc:sldChg>
      <pc:sldChg chg="addSp modSp mod">
        <pc:chgData name="Dr fareesa firdouse" userId="02b4e526553002df" providerId="LiveId" clId="{BDBF16E7-395B-411F-8B92-5589C1AF6AA5}" dt="2025-11-14T09:48:26.590" v="363" actId="14100"/>
        <pc:sldMkLst>
          <pc:docMk/>
          <pc:sldMk cId="0" sldId="494"/>
        </pc:sldMkLst>
        <pc:spChg chg="mod">
          <ac:chgData name="Dr fareesa firdouse" userId="02b4e526553002df" providerId="LiveId" clId="{BDBF16E7-395B-411F-8B92-5589C1AF6AA5}" dt="2025-11-14T09:41:32.874" v="327" actId="1076"/>
          <ac:spMkLst>
            <pc:docMk/>
            <pc:sldMk cId="0" sldId="494"/>
            <ac:spMk id="3" creationId="{00000000-0000-0000-0000-000000000000}"/>
          </ac:spMkLst>
        </pc:spChg>
        <pc:spChg chg="add mod">
          <ac:chgData name="Dr fareesa firdouse" userId="02b4e526553002df" providerId="LiveId" clId="{BDBF16E7-395B-411F-8B92-5589C1AF6AA5}" dt="2025-11-14T09:46:07.459" v="342" actId="1076"/>
          <ac:spMkLst>
            <pc:docMk/>
            <pc:sldMk cId="0" sldId="494"/>
            <ac:spMk id="4" creationId="{2C95D704-AFA2-4220-5869-33D3FF85E7B7}"/>
          </ac:spMkLst>
        </pc:spChg>
        <pc:spChg chg="add mod">
          <ac:chgData name="Dr fareesa firdouse" userId="02b4e526553002df" providerId="LiveId" clId="{BDBF16E7-395B-411F-8B92-5589C1AF6AA5}" dt="2025-11-14T09:46:30.222" v="345" actId="14100"/>
          <ac:spMkLst>
            <pc:docMk/>
            <pc:sldMk cId="0" sldId="494"/>
            <ac:spMk id="6" creationId="{85419820-92B5-A38B-5A7A-F51F3185C641}"/>
          </ac:spMkLst>
        </pc:spChg>
        <pc:spChg chg="add mod">
          <ac:chgData name="Dr fareesa firdouse" userId="02b4e526553002df" providerId="LiveId" clId="{BDBF16E7-395B-411F-8B92-5589C1AF6AA5}" dt="2025-11-14T09:48:00.443" v="361" actId="14100"/>
          <ac:spMkLst>
            <pc:docMk/>
            <pc:sldMk cId="0" sldId="494"/>
            <ac:spMk id="9" creationId="{2731E02C-BDCF-D197-0312-29E469909127}"/>
          </ac:spMkLst>
        </pc:spChg>
        <pc:picChg chg="add mod">
          <ac:chgData name="Dr fareesa firdouse" userId="02b4e526553002df" providerId="LiveId" clId="{BDBF16E7-395B-411F-8B92-5589C1AF6AA5}" dt="2025-11-14T09:47:15.872" v="353" actId="14100"/>
          <ac:picMkLst>
            <pc:docMk/>
            <pc:sldMk cId="0" sldId="494"/>
            <ac:picMk id="7" creationId="{1651CC13-ED8F-D2C9-757E-EFFD402258F0}"/>
          </ac:picMkLst>
        </pc:picChg>
        <pc:picChg chg="add mod">
          <ac:chgData name="Dr fareesa firdouse" userId="02b4e526553002df" providerId="LiveId" clId="{BDBF16E7-395B-411F-8B92-5589C1AF6AA5}" dt="2025-11-14T09:48:26.590" v="363" actId="14100"/>
          <ac:picMkLst>
            <pc:docMk/>
            <pc:sldMk cId="0" sldId="494"/>
            <ac:picMk id="8" creationId="{B742987C-60F2-1A72-3800-04BA51557786}"/>
          </ac:picMkLst>
        </pc:picChg>
      </pc:sldChg>
      <pc:sldChg chg="addSp delSp modSp mod">
        <pc:chgData name="Dr fareesa firdouse" userId="02b4e526553002df" providerId="LiveId" clId="{BDBF16E7-395B-411F-8B92-5589C1AF6AA5}" dt="2025-11-14T09:52:41.288" v="398" actId="403"/>
        <pc:sldMkLst>
          <pc:docMk/>
          <pc:sldMk cId="0" sldId="495"/>
        </pc:sldMkLst>
        <pc:spChg chg="mod">
          <ac:chgData name="Dr fareesa firdouse" userId="02b4e526553002df" providerId="LiveId" clId="{BDBF16E7-395B-411F-8B92-5589C1AF6AA5}" dt="2025-11-14T09:50:38.433" v="381" actId="1076"/>
          <ac:spMkLst>
            <pc:docMk/>
            <pc:sldMk cId="0" sldId="495"/>
            <ac:spMk id="2" creationId="{00000000-0000-0000-0000-000000000000}"/>
          </ac:spMkLst>
        </pc:spChg>
        <pc:spChg chg="add del mod">
          <ac:chgData name="Dr fareesa firdouse" userId="02b4e526553002df" providerId="LiveId" clId="{BDBF16E7-395B-411F-8B92-5589C1AF6AA5}" dt="2025-11-14T09:50:58.215" v="385" actId="1076"/>
          <ac:spMkLst>
            <pc:docMk/>
            <pc:sldMk cId="0" sldId="495"/>
            <ac:spMk id="3" creationId="{00000000-0000-0000-0000-000000000000}"/>
          </ac:spMkLst>
        </pc:spChg>
        <pc:spChg chg="add mod">
          <ac:chgData name="Dr fareesa firdouse" userId="02b4e526553002df" providerId="LiveId" clId="{BDBF16E7-395B-411F-8B92-5589C1AF6AA5}" dt="2025-11-14T09:52:41.288" v="398" actId="403"/>
          <ac:spMkLst>
            <pc:docMk/>
            <pc:sldMk cId="0" sldId="495"/>
            <ac:spMk id="8" creationId="{12946EF2-EA1F-F30A-2AD3-88EBA39EDE9D}"/>
          </ac:spMkLst>
        </pc:spChg>
        <pc:picChg chg="add mod">
          <ac:chgData name="Dr fareesa firdouse" userId="02b4e526553002df" providerId="LiveId" clId="{BDBF16E7-395B-411F-8B92-5589C1AF6AA5}" dt="2025-11-14T09:51:31.272" v="392" actId="1076"/>
          <ac:picMkLst>
            <pc:docMk/>
            <pc:sldMk cId="0" sldId="495"/>
            <ac:picMk id="6" creationId="{5E2DA41A-1A8C-FFA5-4D10-1FDF959AAB60}"/>
          </ac:picMkLst>
        </pc:picChg>
        <pc:picChg chg="mod">
          <ac:chgData name="Dr fareesa firdouse" userId="02b4e526553002df" providerId="LiveId" clId="{BDBF16E7-395B-411F-8B92-5589C1AF6AA5}" dt="2025-11-14T09:51:24.823" v="390" actId="1076"/>
          <ac:picMkLst>
            <pc:docMk/>
            <pc:sldMk cId="0" sldId="495"/>
            <ac:picMk id="1715729449" creationId="{00000000-0000-0000-0000-000000000000}"/>
          </ac:picMkLst>
        </pc:picChg>
      </pc:sldChg>
      <pc:sldChg chg="addSp delSp modSp mod">
        <pc:chgData name="Dr fareesa firdouse" userId="02b4e526553002df" providerId="LiveId" clId="{BDBF16E7-395B-411F-8B92-5589C1AF6AA5}" dt="2025-11-14T09:49:10.695" v="370" actId="14100"/>
        <pc:sldMkLst>
          <pc:docMk/>
          <pc:sldMk cId="0" sldId="496"/>
        </pc:sldMkLst>
        <pc:graphicFrameChg chg="mod">
          <ac:chgData name="Dr fareesa firdouse" userId="02b4e526553002df" providerId="LiveId" clId="{BDBF16E7-395B-411F-8B92-5589C1AF6AA5}" dt="2025-11-14T09:49:10.695" v="370" actId="14100"/>
          <ac:graphicFrameMkLst>
            <pc:docMk/>
            <pc:sldMk cId="0" sldId="496"/>
            <ac:graphicFrameMk id="4" creationId="{00000000-0000-0000-0000-000000000000}"/>
          </ac:graphicFrameMkLst>
        </pc:graphicFrameChg>
      </pc:sldChg>
      <pc:sldChg chg="modSp mod">
        <pc:chgData name="Dr fareesa firdouse" userId="02b4e526553002df" providerId="LiveId" clId="{BDBF16E7-395B-411F-8B92-5589C1AF6AA5}" dt="2025-11-14T09:52:55.548" v="403" actId="1076"/>
        <pc:sldMkLst>
          <pc:docMk/>
          <pc:sldMk cId="0" sldId="499"/>
        </pc:sldMkLst>
        <pc:spChg chg="mod">
          <ac:chgData name="Dr fareesa firdouse" userId="02b4e526553002df" providerId="LiveId" clId="{BDBF16E7-395B-411F-8B92-5589C1AF6AA5}" dt="2025-11-14T09:52:53.552" v="402" actId="1076"/>
          <ac:spMkLst>
            <pc:docMk/>
            <pc:sldMk cId="0" sldId="499"/>
            <ac:spMk id="2" creationId="{00000000-0000-0000-0000-000000000000}"/>
          </ac:spMkLst>
        </pc:spChg>
        <pc:picChg chg="mod">
          <ac:chgData name="Dr fareesa firdouse" userId="02b4e526553002df" providerId="LiveId" clId="{BDBF16E7-395B-411F-8B92-5589C1AF6AA5}" dt="2025-11-14T09:52:55.548" v="403" actId="1076"/>
          <ac:picMkLst>
            <pc:docMk/>
            <pc:sldMk cId="0" sldId="499"/>
            <ac:picMk id="2120587812" creationId="{00000000-0000-0000-0000-000000000000}"/>
          </ac:picMkLst>
        </pc:picChg>
      </pc:sldChg>
      <pc:sldChg chg="modSp mod">
        <pc:chgData name="Dr fareesa firdouse" userId="02b4e526553002df" providerId="LiveId" clId="{BDBF16E7-395B-411F-8B92-5589C1AF6AA5}" dt="2025-11-14T09:54:32.499" v="411" actId="403"/>
        <pc:sldMkLst>
          <pc:docMk/>
          <pc:sldMk cId="3738751447" sldId="503"/>
        </pc:sldMkLst>
        <pc:spChg chg="mod">
          <ac:chgData name="Dr fareesa firdouse" userId="02b4e526553002df" providerId="LiveId" clId="{BDBF16E7-395B-411F-8B92-5589C1AF6AA5}" dt="2025-11-14T09:54:32.499" v="411" actId="403"/>
          <ac:spMkLst>
            <pc:docMk/>
            <pc:sldMk cId="3738751447" sldId="503"/>
            <ac:spMk id="3" creationId="{FFC50A9B-85BC-11D7-06CD-B1D51CAB84E9}"/>
          </ac:spMkLst>
        </pc:spChg>
        <pc:picChg chg="mod">
          <ac:chgData name="Dr fareesa firdouse" userId="02b4e526553002df" providerId="LiveId" clId="{BDBF16E7-395B-411F-8B92-5589C1AF6AA5}" dt="2025-11-14T09:54:20.100" v="410" actId="1076"/>
          <ac:picMkLst>
            <pc:docMk/>
            <pc:sldMk cId="3738751447" sldId="503"/>
            <ac:picMk id="5" creationId="{FDAD0D13-457D-53FE-4ED5-41E8F0173F47}"/>
          </ac:picMkLst>
        </pc:picChg>
      </pc:sldChg>
      <pc:sldChg chg="modSp mod">
        <pc:chgData name="Dr fareesa firdouse" userId="02b4e526553002df" providerId="LiveId" clId="{BDBF16E7-395B-411F-8B92-5589C1AF6AA5}" dt="2025-11-14T09:56:40.311" v="415" actId="1035"/>
        <pc:sldMkLst>
          <pc:docMk/>
          <pc:sldMk cId="2012757098" sldId="504"/>
        </pc:sldMkLst>
        <pc:spChg chg="mod">
          <ac:chgData name="Dr fareesa firdouse" userId="02b4e526553002df" providerId="LiveId" clId="{BDBF16E7-395B-411F-8B92-5589C1AF6AA5}" dt="2025-11-14T09:56:40.311" v="415" actId="1035"/>
          <ac:spMkLst>
            <pc:docMk/>
            <pc:sldMk cId="2012757098" sldId="504"/>
            <ac:spMk id="3" creationId="{FA6F11E2-DAD2-1EC0-28FD-F503206DB6F9}"/>
          </ac:spMkLst>
        </pc:spChg>
      </pc:sldChg>
      <pc:sldChg chg="del">
        <pc:chgData name="Dr fareesa firdouse" userId="02b4e526553002df" providerId="LiveId" clId="{BDBF16E7-395B-411F-8B92-5589C1AF6AA5}" dt="2025-11-19T14:19:01.597" v="418" actId="47"/>
        <pc:sldMkLst>
          <pc:docMk/>
          <pc:sldMk cId="4291991915" sldId="509"/>
        </pc:sldMkLst>
      </pc:sldChg>
      <pc:sldChg chg="del">
        <pc:chgData name="Dr fareesa firdouse" userId="02b4e526553002df" providerId="LiveId" clId="{BDBF16E7-395B-411F-8B92-5589C1AF6AA5}" dt="2025-11-19T14:19:04.106" v="419" actId="47"/>
        <pc:sldMkLst>
          <pc:docMk/>
          <pc:sldMk cId="93114739" sldId="510"/>
        </pc:sldMkLst>
      </pc:sldChg>
      <pc:sldChg chg="addSp modSp new mod">
        <pc:chgData name="Dr fareesa firdouse" userId="02b4e526553002df" providerId="LiveId" clId="{BDBF16E7-395B-411F-8B92-5589C1AF6AA5}" dt="2025-11-14T09:22:53.991" v="154" actId="1076"/>
        <pc:sldMkLst>
          <pc:docMk/>
          <pc:sldMk cId="3871611023" sldId="511"/>
        </pc:sldMkLst>
        <pc:spChg chg="add mod">
          <ac:chgData name="Dr fareesa firdouse" userId="02b4e526553002df" providerId="LiveId" clId="{BDBF16E7-395B-411F-8B92-5589C1AF6AA5}" dt="2025-11-14T09:22:12.503" v="150" actId="403"/>
          <ac:spMkLst>
            <pc:docMk/>
            <pc:sldMk cId="3871611023" sldId="511"/>
            <ac:spMk id="3" creationId="{C3DA187C-8E37-FA1D-B708-2F5C92700C87}"/>
          </ac:spMkLst>
        </pc:spChg>
        <pc:spChg chg="add mod">
          <ac:chgData name="Dr fareesa firdouse" userId="02b4e526553002df" providerId="LiveId" clId="{BDBF16E7-395B-411F-8B92-5589C1AF6AA5}" dt="2025-11-14T09:22:38.507" v="152" actId="1076"/>
          <ac:spMkLst>
            <pc:docMk/>
            <pc:sldMk cId="3871611023" sldId="511"/>
            <ac:spMk id="6" creationId="{A30FEE7C-BFBF-BEF8-91B2-D21C67C8A7E0}"/>
          </ac:spMkLst>
        </pc:spChg>
        <pc:graphicFrameChg chg="add mod">
          <ac:chgData name="Dr fareesa firdouse" userId="02b4e526553002df" providerId="LiveId" clId="{BDBF16E7-395B-411F-8B92-5589C1AF6AA5}" dt="2025-11-14T09:22:07.820" v="148" actId="1076"/>
          <ac:graphicFrameMkLst>
            <pc:docMk/>
            <pc:sldMk cId="3871611023" sldId="511"/>
            <ac:graphicFrameMk id="4" creationId="{C7FE2B4B-99C4-3576-84F1-68D81C1BAE2C}"/>
          </ac:graphicFrameMkLst>
        </pc:graphicFrameChg>
        <pc:picChg chg="add mod">
          <ac:chgData name="Dr fareesa firdouse" userId="02b4e526553002df" providerId="LiveId" clId="{BDBF16E7-395B-411F-8B92-5589C1AF6AA5}" dt="2025-11-14T09:22:53.991" v="154" actId="1076"/>
          <ac:picMkLst>
            <pc:docMk/>
            <pc:sldMk cId="3871611023" sldId="511"/>
            <ac:picMk id="7" creationId="{18B4366F-2F32-3E91-9E1D-70B8C6643C5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F5ACE-4E0F-0684-48A6-E88A7D619A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E5AFC3-9290-5847-BF63-92909A9A0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09F265-D7C2-C846-98CE-18D924C803FE}"/>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5" name="Footer Placeholder 4">
            <a:extLst>
              <a:ext uri="{FF2B5EF4-FFF2-40B4-BE49-F238E27FC236}">
                <a16:creationId xmlns:a16="http://schemas.microsoft.com/office/drawing/2014/main" id="{7848F2DF-26DE-606F-AB2F-DC6D738A85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5C63E6-0516-170D-9F1F-F0F4A05FCC50}"/>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4050443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E0086-B2A2-9DDC-487F-82909B60C7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B7E8DB-6434-C435-E790-38B00ABA33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2117E8-3056-AA57-1DDA-69E44D8F74BD}"/>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5" name="Footer Placeholder 4">
            <a:extLst>
              <a:ext uri="{FF2B5EF4-FFF2-40B4-BE49-F238E27FC236}">
                <a16:creationId xmlns:a16="http://schemas.microsoft.com/office/drawing/2014/main" id="{EE006441-3862-EEA8-9274-690C1F477D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F9C07D-B6E9-8FFC-100B-6CF38FA197D6}"/>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4072983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04242-6340-3C94-3817-07AA464857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BDD5B38-0204-52E4-35DA-3467BAD3C2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1DF6CC-BB55-9130-14CC-1A70B7BE82C5}"/>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5" name="Footer Placeholder 4">
            <a:extLst>
              <a:ext uri="{FF2B5EF4-FFF2-40B4-BE49-F238E27FC236}">
                <a16:creationId xmlns:a16="http://schemas.microsoft.com/office/drawing/2014/main" id="{F46E1475-ECCC-9AA4-F8A0-EC3A6B742F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5B4CBA-5321-13B2-DB82-87EDE9FDEE48}"/>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3701354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5013F-290F-D3F8-65BD-A7631E0F52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DAA98F-0BC7-3D42-9317-69807ACA8A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E2F3AD-648A-183B-AEA7-F7253E7110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0C7BB5-D1D8-3C33-03FF-E7058CF3663B}"/>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6" name="Footer Placeholder 5">
            <a:extLst>
              <a:ext uri="{FF2B5EF4-FFF2-40B4-BE49-F238E27FC236}">
                <a16:creationId xmlns:a16="http://schemas.microsoft.com/office/drawing/2014/main" id="{3B58E1A3-56F5-AC74-74AA-6152FBA519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6BA06F-0042-E271-1493-10BF9F761936}"/>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2072806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E627-F994-3781-3B9E-73029AC0B75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A3377D-EBAC-842B-6FE4-F6917634ED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6F5C27-FA8C-3B03-D46E-EADD58B2A8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4DC1E7-7B5F-455D-E02D-020FCDDE4F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922FEC-C5F6-92A2-49BF-536EEEC9A1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17F4EE-95DF-B41D-6A14-6370F755C30F}"/>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8" name="Footer Placeholder 7">
            <a:extLst>
              <a:ext uri="{FF2B5EF4-FFF2-40B4-BE49-F238E27FC236}">
                <a16:creationId xmlns:a16="http://schemas.microsoft.com/office/drawing/2014/main" id="{20ECB6C7-9E20-89FD-1556-8436A40641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78579B-F807-387E-2B18-F01EA4FB5068}"/>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984949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80E4-EEC3-0D53-6F92-501DE6297D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8DEEC8-36A1-2C94-3617-A50BC8931925}"/>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4" name="Footer Placeholder 3">
            <a:extLst>
              <a:ext uri="{FF2B5EF4-FFF2-40B4-BE49-F238E27FC236}">
                <a16:creationId xmlns:a16="http://schemas.microsoft.com/office/drawing/2014/main" id="{2AD36593-45F5-2E4C-2C3F-5C6348E8F9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87296B-DC3C-E56C-BD53-F32EAEFC8977}"/>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577365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8D0562-E486-DC32-FF46-14DD760F74F1}"/>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3" name="Footer Placeholder 2">
            <a:extLst>
              <a:ext uri="{FF2B5EF4-FFF2-40B4-BE49-F238E27FC236}">
                <a16:creationId xmlns:a16="http://schemas.microsoft.com/office/drawing/2014/main" id="{8642909F-806D-3590-25E7-3A2B7CA6A6D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8191471-D194-3A4B-3D9B-B8AFD11BC8E8}"/>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1237288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46502-B8AF-6AFB-E0EF-613AD3C54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C19B96-03A4-213A-94F1-1E5D1D1D0D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89D1CFA-8114-941F-FAD2-4BE11A3EC2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FCEAB-B774-4180-F4F2-179DCBDD46AA}"/>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6" name="Footer Placeholder 5">
            <a:extLst>
              <a:ext uri="{FF2B5EF4-FFF2-40B4-BE49-F238E27FC236}">
                <a16:creationId xmlns:a16="http://schemas.microsoft.com/office/drawing/2014/main" id="{51A1E0EF-D3C9-81F8-93F1-3E4705D696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4AA836-3F3D-A998-3259-5706124B5D5E}"/>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385531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13949-3936-E54F-22B7-A657802061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C1DE28-12FB-8F1F-0658-9EBAD643C3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1647F5-597A-F114-C72B-D24CB036C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157B5E-5992-DE0D-1CFF-C8CF04E8FA15}"/>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6" name="Footer Placeholder 5">
            <a:extLst>
              <a:ext uri="{FF2B5EF4-FFF2-40B4-BE49-F238E27FC236}">
                <a16:creationId xmlns:a16="http://schemas.microsoft.com/office/drawing/2014/main" id="{E05FD700-34ED-A9E3-775D-5E7D5D6910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57E1EA-1436-0AC7-A302-43A53A9A7DEB}"/>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2726849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2125-ADA0-873B-0229-E0BD2DF354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5F5CB7-773A-8B35-225D-F9DFDC04F9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F24AD1-0ED9-9229-5EC8-5581EA0C7396}"/>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5" name="Footer Placeholder 4">
            <a:extLst>
              <a:ext uri="{FF2B5EF4-FFF2-40B4-BE49-F238E27FC236}">
                <a16:creationId xmlns:a16="http://schemas.microsoft.com/office/drawing/2014/main" id="{AF0A14B6-5A15-B5AF-C584-F371C5E15B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8AD74B-5970-E1D8-C2E0-BDADCD892DBE}"/>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2929320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F7D04-C40F-9042-8269-8E0ACFAD3B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A4967E-3B13-4BDA-4F4F-D0D0B9C758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A89C9A-8DA3-BD9D-4337-1F88985B605D}"/>
              </a:ext>
            </a:extLst>
          </p:cNvPr>
          <p:cNvSpPr>
            <a:spLocks noGrp="1"/>
          </p:cNvSpPr>
          <p:nvPr>
            <p:ph type="dt" sz="half" idx="10"/>
          </p:nvPr>
        </p:nvSpPr>
        <p:spPr/>
        <p:txBody>
          <a:bodyPr/>
          <a:lstStyle/>
          <a:p>
            <a:fld id="{614EDD30-6526-4617-BD73-AB4773B4FD8F}" type="datetimeFigureOut">
              <a:rPr lang="en-IN" smtClean="0"/>
              <a:t>19-11-2025</a:t>
            </a:fld>
            <a:endParaRPr lang="en-IN"/>
          </a:p>
        </p:txBody>
      </p:sp>
      <p:sp>
        <p:nvSpPr>
          <p:cNvPr id="5" name="Footer Placeholder 4">
            <a:extLst>
              <a:ext uri="{FF2B5EF4-FFF2-40B4-BE49-F238E27FC236}">
                <a16:creationId xmlns:a16="http://schemas.microsoft.com/office/drawing/2014/main" id="{08738311-432C-AC12-59D7-6650D27DE4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6E9A9B-62CA-CB21-5AAB-83B7F0D10E66}"/>
              </a:ext>
            </a:extLst>
          </p:cNvPr>
          <p:cNvSpPr>
            <a:spLocks noGrp="1"/>
          </p:cNvSpPr>
          <p:nvPr>
            <p:ph type="sldNum" sz="quarter" idx="12"/>
          </p:nvPr>
        </p:nvSpPr>
        <p:spPr/>
        <p:txBody>
          <a:bodyPr/>
          <a:lstStyle/>
          <a:p>
            <a:fld id="{6E081DB2-969D-4DBB-9DA5-575285780D97}" type="slidenum">
              <a:rPr lang="en-IN" smtClean="0"/>
              <a:t>‹#›</a:t>
            </a:fld>
            <a:endParaRPr lang="en-IN"/>
          </a:p>
        </p:txBody>
      </p:sp>
    </p:spTree>
    <p:extLst>
      <p:ext uri="{BB962C8B-B14F-4D97-AF65-F5344CB8AC3E}">
        <p14:creationId xmlns:p14="http://schemas.microsoft.com/office/powerpoint/2010/main" val="1484027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09F924-F490-EE69-14D2-4621A9C228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761436-1173-89AD-8C11-7C9947854C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1633E3-D6AA-661C-A4F4-3F336DDF8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4EDD30-6526-4617-BD73-AB4773B4FD8F}" type="datetimeFigureOut">
              <a:rPr lang="en-IN" smtClean="0"/>
              <a:t>19-11-2025</a:t>
            </a:fld>
            <a:endParaRPr lang="en-IN"/>
          </a:p>
        </p:txBody>
      </p:sp>
      <p:sp>
        <p:nvSpPr>
          <p:cNvPr id="5" name="Footer Placeholder 4">
            <a:extLst>
              <a:ext uri="{FF2B5EF4-FFF2-40B4-BE49-F238E27FC236}">
                <a16:creationId xmlns:a16="http://schemas.microsoft.com/office/drawing/2014/main" id="{2E7B8674-8862-4361-E497-8198F0CC13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22FC11-2A47-EF4E-81D6-76B3C00667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081DB2-969D-4DBB-9DA5-575285780D97}" type="slidenum">
              <a:rPr lang="en-IN" smtClean="0"/>
              <a:t>‹#›</a:t>
            </a:fld>
            <a:endParaRPr lang="en-IN"/>
          </a:p>
        </p:txBody>
      </p:sp>
    </p:spTree>
    <p:extLst>
      <p:ext uri="{BB962C8B-B14F-4D97-AF65-F5344CB8AC3E}">
        <p14:creationId xmlns:p14="http://schemas.microsoft.com/office/powerpoint/2010/main" val="1121333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wmf"/><Relationship Id="rId4" Type="http://schemas.openxmlformats.org/officeDocument/2006/relationships/oleObject" Target="../embeddings/oleObject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 Id="rId4" Type="http://schemas.microsoft.com/office/2007/relationships/hdphoto" Target="../media/hdphoto4.wdp"/></Relationships>
</file>

<file path=ppt/slides/_rels/slide4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49.wmf"/><Relationship Id="rId4" Type="http://schemas.openxmlformats.org/officeDocument/2006/relationships/oleObject" Target="../embeddings/oleObject8.bin"/></Relationships>
</file>

<file path=ppt/slides/_rels/slide50.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54.GIF"/><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56.png"/><Relationship Id="rId4" Type="http://schemas.openxmlformats.org/officeDocument/2006/relationships/image" Target="../media/image55.wmf"/></Relationships>
</file>

<file path=ppt/slides/_rels/slide55.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10.bin"/><Relationship Id="rId1" Type="http://schemas.openxmlformats.org/officeDocument/2006/relationships/slideLayout" Target="../slideLayouts/slideLayout7.xml"/><Relationship Id="rId5" Type="http://schemas.microsoft.com/office/2007/relationships/hdphoto" Target="../media/hdphoto7.wdp"/><Relationship Id="rId4"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4.png"/><Relationship Id="rId4" Type="http://schemas.microsoft.com/office/2007/relationships/hdphoto" Target="../media/hdphoto8.wdp"/></Relationships>
</file>

<file path=ppt/slides/_rels/slide6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6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9AABD5-04F8-57A2-F765-E685AFF6B20F}"/>
              </a:ext>
            </a:extLst>
          </p:cNvPr>
          <p:cNvSpPr txBox="1"/>
          <p:nvPr/>
        </p:nvSpPr>
        <p:spPr>
          <a:xfrm>
            <a:off x="2761938" y="875963"/>
            <a:ext cx="6093500" cy="691471"/>
          </a:xfrm>
          <a:prstGeom prst="rect">
            <a:avLst/>
          </a:prstGeom>
          <a:no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sz="1600" b="0" i="0" u="none" strike="noStrike" kern="1200" cap="none" spc="0" normalizeH="0" baseline="0" noProof="0" dirty="0">
                <a:ln>
                  <a:noFill/>
                </a:ln>
                <a:effectLst/>
                <a:uLnTx/>
                <a:uFillTx/>
                <a:latin typeface="Arial Black" panose="020B0A04020102020204" pitchFamily="34" charset="0"/>
                <a:ea typeface="+mn-ea"/>
                <a:cs typeface="+mn-cs"/>
              </a:rPr>
              <a:t>UNIT -3</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en-US" sz="1800" b="1" dirty="0">
                <a:latin typeface="Arial Black" panose="020B0A04020102020204" pitchFamily="34" charset="0"/>
                <a:ea typeface="Arial" panose="020B0604020202020204"/>
                <a:cs typeface="Arial Black" panose="020B0A04020102020204" pitchFamily="34" charset="0"/>
                <a:sym typeface="Calibri" panose="020F0502020204030204" charset="0"/>
              </a:rPr>
              <a:t>COMBINATIONAL LOGIC</a:t>
            </a:r>
          </a:p>
        </p:txBody>
      </p:sp>
      <p:sp>
        <p:nvSpPr>
          <p:cNvPr id="5" name="TextBox 4">
            <a:extLst>
              <a:ext uri="{FF2B5EF4-FFF2-40B4-BE49-F238E27FC236}">
                <a16:creationId xmlns:a16="http://schemas.microsoft.com/office/drawing/2014/main" id="{9AE2B005-A02B-4F54-BAEC-D333F1CA221E}"/>
              </a:ext>
            </a:extLst>
          </p:cNvPr>
          <p:cNvSpPr txBox="1"/>
          <p:nvPr/>
        </p:nvSpPr>
        <p:spPr>
          <a:xfrm>
            <a:off x="2866869" y="2112398"/>
            <a:ext cx="6093500" cy="1096710"/>
          </a:xfrm>
          <a:prstGeom prst="rect">
            <a:avLst/>
          </a:prstGeom>
          <a:noFill/>
        </p:spPr>
        <p:txBody>
          <a:bodyPr wrap="square">
            <a:spAutoFit/>
          </a:bodyPr>
          <a:lstStyle/>
          <a:p>
            <a:pPr marL="0" marR="0" lvl="0" indent="0" algn="ctr" defTabSz="914400" rtl="0" eaLnBrk="1" fontAlgn="b" latinLnBrk="0" hangingPunct="1">
              <a:lnSpc>
                <a:spcPct val="90000"/>
              </a:lnSpc>
              <a:spcBef>
                <a:spcPts val="1000"/>
              </a:spcBef>
              <a:spcAft>
                <a:spcPts val="0"/>
              </a:spcAft>
              <a:buClrTx/>
              <a:buSzTx/>
              <a:buFont typeface="Arial" panose="020B0604020202020204" pitchFamily="34" charset="0"/>
              <a:buNone/>
              <a:defRPr/>
            </a:pPr>
            <a:r>
              <a:rPr lang="en-US" sz="1800" noProof="0" dirty="0">
                <a:ln>
                  <a:noFill/>
                </a:ln>
                <a:effectLst/>
                <a:uLnTx/>
                <a:uFillTx/>
                <a:latin typeface="Arial Black" panose="020B0A04020102020204" pitchFamily="34" charset="0"/>
                <a:cs typeface="Arial Black" panose="020B0A04020102020204" pitchFamily="34" charset="0"/>
                <a:sym typeface="+mn-ea"/>
              </a:rPr>
              <a:t>COMBINATIONAL CIRCUITS ANALYSIS</a:t>
            </a:r>
          </a:p>
          <a:p>
            <a:pPr marL="0" marR="0" lvl="0" indent="0" algn="ctr" defTabSz="914400" rtl="0" eaLnBrk="1" fontAlgn="b" latinLnBrk="0" hangingPunct="1">
              <a:lnSpc>
                <a:spcPct val="90000"/>
              </a:lnSpc>
              <a:spcBef>
                <a:spcPts val="1000"/>
              </a:spcBef>
              <a:spcAft>
                <a:spcPts val="0"/>
              </a:spcAft>
              <a:buClrTx/>
              <a:buSzTx/>
              <a:buFont typeface="Arial" panose="020B0604020202020204" pitchFamily="34" charset="0"/>
              <a:buNone/>
              <a:defRPr/>
            </a:pPr>
            <a:r>
              <a:rPr lang="en-US" sz="1800" noProof="0" dirty="0">
                <a:ln>
                  <a:noFill/>
                </a:ln>
                <a:effectLst/>
                <a:uLnTx/>
                <a:uFillTx/>
                <a:latin typeface="Arial Black" panose="020B0A04020102020204" pitchFamily="34" charset="0"/>
                <a:cs typeface="Arial Black" panose="020B0A04020102020204" pitchFamily="34" charset="0"/>
                <a:sym typeface="+mn-ea"/>
              </a:rPr>
              <a:t>&amp;</a:t>
            </a:r>
          </a:p>
          <a:p>
            <a:pPr marL="0" marR="0" lvl="0" indent="0" algn="ctr" defTabSz="914400" rtl="0" eaLnBrk="1" fontAlgn="b" latinLnBrk="0" hangingPunct="1">
              <a:lnSpc>
                <a:spcPct val="90000"/>
              </a:lnSpc>
              <a:spcBef>
                <a:spcPts val="1000"/>
              </a:spcBef>
              <a:spcAft>
                <a:spcPts val="0"/>
              </a:spcAft>
              <a:buClrTx/>
              <a:buSzTx/>
              <a:buFont typeface="Arial" panose="020B0604020202020204" pitchFamily="34" charset="0"/>
              <a:buNone/>
              <a:defRPr/>
            </a:pPr>
            <a:r>
              <a:rPr lang="en-US" sz="1800" noProof="0" dirty="0">
                <a:ln>
                  <a:noFill/>
                </a:ln>
                <a:effectLst/>
                <a:uLnTx/>
                <a:uFillTx/>
                <a:latin typeface="Arial Black" panose="020B0A04020102020204" pitchFamily="34" charset="0"/>
                <a:cs typeface="Arial Black" panose="020B0A04020102020204" pitchFamily="34" charset="0"/>
                <a:sym typeface="+mn-ea"/>
              </a:rPr>
              <a:t>DESIGN PROCEDURE</a:t>
            </a:r>
          </a:p>
        </p:txBody>
      </p:sp>
    </p:spTree>
    <p:extLst>
      <p:ext uri="{BB962C8B-B14F-4D97-AF65-F5344CB8AC3E}">
        <p14:creationId xmlns:p14="http://schemas.microsoft.com/office/powerpoint/2010/main" val="2438083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1373" y="494675"/>
            <a:ext cx="10972800" cy="635000"/>
          </a:xfrm>
        </p:spPr>
        <p:txBody>
          <a:bodyPr>
            <a:noAutofit/>
          </a:bodyPr>
          <a:lstStyle/>
          <a:p>
            <a:r>
              <a:rPr lang="en-US" sz="4400" dirty="0">
                <a:latin typeface="Times New Roman" panose="02020603050405020304" pitchFamily="18" charset="0"/>
                <a:cs typeface="Times New Roman" panose="02020603050405020304" pitchFamily="18" charset="0"/>
                <a:sym typeface="+mn-ea"/>
              </a:rPr>
              <a:t>Digital logic circuits</a:t>
            </a:r>
          </a:p>
        </p:txBody>
      </p:sp>
      <p:sp>
        <p:nvSpPr>
          <p:cNvPr id="3" name="Content Placeholder 2"/>
          <p:cNvSpPr>
            <a:spLocks noGrp="1"/>
          </p:cNvSpPr>
          <p:nvPr>
            <p:ph idx="1"/>
          </p:nvPr>
        </p:nvSpPr>
        <p:spPr>
          <a:xfrm>
            <a:off x="551086" y="1590040"/>
            <a:ext cx="11330940" cy="5267960"/>
          </a:xfrm>
        </p:spPr>
        <p:txBody>
          <a:bodyPr>
            <a:normAutofit/>
          </a:bodyPr>
          <a:lstStyle/>
          <a:p>
            <a:r>
              <a:rPr lang="en-US" sz="3200" dirty="0">
                <a:latin typeface="Times New Roman" panose="02020603050405020304" pitchFamily="18" charset="0"/>
                <a:cs typeface="Times New Roman" panose="02020603050405020304" pitchFamily="18" charset="0"/>
                <a:sym typeface="+mn-ea"/>
              </a:rPr>
              <a:t>There are two types of Digital circuits depending on their output and memory used:</a:t>
            </a:r>
            <a:endParaRPr lang="en-US" sz="3200" dirty="0">
              <a:latin typeface="Times New Roman" panose="02020603050405020304" pitchFamily="18" charset="0"/>
              <a:cs typeface="Times New Roman" panose="02020603050405020304" pitchFamily="18" charset="0"/>
            </a:endParaRPr>
          </a:p>
          <a:p>
            <a:pPr lvl="1" indent="457200">
              <a:buNone/>
            </a:pPr>
            <a:r>
              <a:rPr lang="en-US" sz="3200" dirty="0">
                <a:latin typeface="Times New Roman" panose="02020603050405020304" pitchFamily="18" charset="0"/>
                <a:cs typeface="Times New Roman" panose="02020603050405020304" pitchFamily="18" charset="0"/>
                <a:sym typeface="+mn-ea"/>
              </a:rPr>
              <a:t>(</a:t>
            </a:r>
            <a:r>
              <a:rPr lang="en-US" sz="3200" dirty="0" err="1">
                <a:latin typeface="Times New Roman" panose="02020603050405020304" pitchFamily="18" charset="0"/>
                <a:cs typeface="Times New Roman" panose="02020603050405020304" pitchFamily="18" charset="0"/>
                <a:sym typeface="+mn-ea"/>
              </a:rPr>
              <a:t>i</a:t>
            </a:r>
            <a:r>
              <a:rPr lang="en-US" sz="3200" dirty="0">
                <a:latin typeface="Times New Roman" panose="02020603050405020304" pitchFamily="18" charset="0"/>
                <a:cs typeface="Times New Roman" panose="02020603050405020304" pitchFamily="18" charset="0"/>
                <a:sym typeface="+mn-ea"/>
              </a:rPr>
              <a:t>) Combinational circuit, and</a:t>
            </a:r>
            <a:endParaRPr lang="en-US" sz="3200" dirty="0">
              <a:latin typeface="Times New Roman" panose="02020603050405020304" pitchFamily="18" charset="0"/>
              <a:cs typeface="Times New Roman" panose="02020603050405020304" pitchFamily="18" charset="0"/>
            </a:endParaRPr>
          </a:p>
          <a:p>
            <a:pPr lvl="1" indent="457200">
              <a:buNone/>
            </a:pPr>
            <a:r>
              <a:rPr lang="en-US" sz="3200" dirty="0">
                <a:latin typeface="Times New Roman" panose="02020603050405020304" pitchFamily="18" charset="0"/>
                <a:cs typeface="Times New Roman" panose="02020603050405020304" pitchFamily="18" charset="0"/>
                <a:sym typeface="+mn-ea"/>
              </a:rPr>
              <a:t>(ii) Sequential circuit </a:t>
            </a:r>
            <a:endParaRPr lang="en-IN" sz="3200" dirty="0">
              <a:latin typeface="Times New Roman" panose="02020603050405020304" pitchFamily="18" charset="0"/>
              <a:cs typeface="Times New Roman" panose="02020603050405020304" pitchFamily="18" charset="0"/>
            </a:endParaRPr>
          </a:p>
          <a:p>
            <a:pPr marL="0" indent="0">
              <a:buNone/>
            </a:pP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8340" y="-111125"/>
            <a:ext cx="11196320" cy="1143000"/>
          </a:xfrm>
        </p:spPr>
        <p:txBody>
          <a:bodyPr>
            <a:normAutofit/>
          </a:bodyPr>
          <a:lstStyle/>
          <a:p>
            <a:r>
              <a:rPr lang="en-US" sz="4400" b="1" u="sng" dirty="0">
                <a:latin typeface="Times New Roman" panose="02020603050405020304" pitchFamily="18" charset="0"/>
                <a:cs typeface="Times New Roman" panose="02020603050405020304" pitchFamily="18" charset="0"/>
                <a:sym typeface="+mn-ea"/>
              </a:rPr>
              <a:t>Combinational circuit</a:t>
            </a:r>
            <a:r>
              <a:rPr lang="en-US" sz="4000" dirty="0">
                <a:latin typeface="Times New Roman" panose="02020603050405020304" pitchFamily="18" charset="0"/>
                <a:cs typeface="Times New Roman" panose="02020603050405020304" pitchFamily="18" charset="0"/>
                <a:sym typeface="+mn-ea"/>
              </a:rPr>
              <a:t>		</a:t>
            </a:r>
            <a:endParaRPr lang="en-US" sz="4000" b="1" u="sng"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304800" y="929005"/>
            <a:ext cx="11582400" cy="5928995"/>
          </a:xfrm>
        </p:spPr>
        <p:txBody>
          <a:bodyPr>
            <a:normAutofit/>
          </a:bodyPr>
          <a:lstStyle/>
          <a:p>
            <a:endParaRPr lang="en-US" dirty="0">
              <a:solidFill>
                <a:srgbClr val="000000"/>
              </a:solidFill>
              <a:effectLst/>
              <a:latin typeface="Lato" panose="020F0502020204030203" pitchFamily="34" charset="0"/>
              <a:sym typeface="+mn-ea"/>
            </a:endParaRPr>
          </a:p>
          <a:p>
            <a:endParaRPr lang="en-US" dirty="0">
              <a:solidFill>
                <a:srgbClr val="000000"/>
              </a:solidFill>
              <a:effectLst/>
              <a:latin typeface="Lato" panose="020F0502020204030203" pitchFamily="34" charset="0"/>
              <a:sym typeface="+mn-ea"/>
            </a:endParaRPr>
          </a:p>
          <a:p>
            <a:endParaRPr lang="en-US" dirty="0">
              <a:solidFill>
                <a:srgbClr val="000000"/>
              </a:solidFill>
              <a:effectLst/>
              <a:latin typeface="Lato" panose="020F0502020204030203" pitchFamily="34" charset="0"/>
              <a:sym typeface="+mn-ea"/>
            </a:endParaRPr>
          </a:p>
          <a:p>
            <a:endParaRPr lang="en-US" dirty="0">
              <a:solidFill>
                <a:srgbClr val="000000"/>
              </a:solidFill>
              <a:effectLst/>
              <a:latin typeface="Lato" panose="020F0502020204030203" pitchFamily="34" charset="0"/>
              <a:sym typeface="+mn-ea"/>
            </a:endParaRPr>
          </a:p>
          <a:p>
            <a:endParaRPr lang="en-US" dirty="0">
              <a:solidFill>
                <a:srgbClr val="000000"/>
              </a:solidFill>
              <a:effectLst/>
              <a:latin typeface="Lato" panose="020F0502020204030203" pitchFamily="34" charset="0"/>
              <a:sym typeface="+mn-ea"/>
            </a:endParaRPr>
          </a:p>
          <a:p>
            <a:endParaRPr lang="en-US" dirty="0">
              <a:solidFill>
                <a:srgbClr val="000000"/>
              </a:solidFill>
              <a:effectLst/>
              <a:latin typeface="Lato" panose="020F0502020204030203" pitchFamily="34" charset="0"/>
              <a:sym typeface="+mn-ea"/>
            </a:endParaRPr>
          </a:p>
          <a:p>
            <a:pPr marL="0" indent="0">
              <a:buNone/>
            </a:pPr>
            <a:endParaRPr lang="en-US" dirty="0">
              <a:solidFill>
                <a:srgbClr val="000000"/>
              </a:solidFill>
              <a:effectLst/>
              <a:latin typeface="Lato" panose="020F0502020204030203" pitchFamily="34" charset="0"/>
              <a:sym typeface="+mn-ea"/>
            </a:endParaRPr>
          </a:p>
          <a:p>
            <a:r>
              <a:rPr lang="en-US" sz="2400" dirty="0">
                <a:solidFill>
                  <a:srgbClr val="000000"/>
                </a:solidFill>
                <a:effectLst/>
                <a:latin typeface="Times New Roman" panose="02020603050405020304" pitchFamily="18" charset="0"/>
                <a:cs typeface="Times New Roman" panose="02020603050405020304" pitchFamily="18" charset="0"/>
                <a:sym typeface="+mn-ea"/>
              </a:rPr>
              <a:t>Combinational Logic Circuits are memoryless digital logic  circuits whose output at any instant in time depends only on the combination of its inputs.</a:t>
            </a:r>
            <a:endParaRPr lang="en-US" sz="2400" b="0" i="0" dirty="0">
              <a:solidFill>
                <a:srgbClr val="000000"/>
              </a:solidFill>
              <a:effectLst/>
              <a:latin typeface="Times New Roman" panose="02020603050405020304" pitchFamily="18" charset="0"/>
              <a:cs typeface="Times New Roman" panose="02020603050405020304" pitchFamily="18" charset="0"/>
            </a:endParaRPr>
          </a:p>
          <a:p>
            <a:endParaRPr lang="en-US" sz="3200" b="0" i="0" dirty="0">
              <a:solidFill>
                <a:srgbClr val="000000"/>
              </a:solidFill>
              <a:effectLst/>
              <a:latin typeface="Times New Roman" panose="02020603050405020304" pitchFamily="18" charset="0"/>
              <a:cs typeface="Times New Roman" panose="02020603050405020304" pitchFamily="18" charset="0"/>
            </a:endParaRPr>
          </a:p>
        </p:txBody>
      </p:sp>
      <p:pic>
        <p:nvPicPr>
          <p:cNvPr id="419315008" name="Picture 1"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710055" y="1031875"/>
            <a:ext cx="4552950" cy="3228340"/>
          </a:xfrm>
          <a:prstGeom prst="rect">
            <a:avLst/>
          </a:prstGeom>
          <a:noFill/>
          <a:ln>
            <a:noFill/>
          </a:ln>
        </p:spPr>
      </p:pic>
      <p:sp>
        <p:nvSpPr>
          <p:cNvPr id="5" name="TextBox 4">
            <a:extLst>
              <a:ext uri="{FF2B5EF4-FFF2-40B4-BE49-F238E27FC236}">
                <a16:creationId xmlns:a16="http://schemas.microsoft.com/office/drawing/2014/main" id="{28305441-C367-E992-A999-5BC6EB62B44E}"/>
              </a:ext>
            </a:extLst>
          </p:cNvPr>
          <p:cNvSpPr txBox="1"/>
          <p:nvPr/>
        </p:nvSpPr>
        <p:spPr>
          <a:xfrm>
            <a:off x="304800" y="5364460"/>
            <a:ext cx="10972800" cy="461665"/>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sym typeface="+mn-ea"/>
              </a:rPr>
              <a:t>A combinational logic circuit is one whose output only depends on its current inputs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C3D7A4-94CD-1924-B416-AD3F99DEB33F}"/>
              </a:ext>
            </a:extLst>
          </p:cNvPr>
          <p:cNvSpPr txBox="1"/>
          <p:nvPr/>
        </p:nvSpPr>
        <p:spPr>
          <a:xfrm>
            <a:off x="558383" y="475220"/>
            <a:ext cx="11268855" cy="707886"/>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outputs of Combinational Logic Circuits are only determined by the logical function of their current   input state, logic “0” or logic “1”, at any given instant in time.</a:t>
            </a:r>
            <a:endParaRPr lang="en-IN" sz="2000" dirty="0"/>
          </a:p>
        </p:txBody>
      </p:sp>
      <p:sp>
        <p:nvSpPr>
          <p:cNvPr id="5" name="TextBox 4">
            <a:extLst>
              <a:ext uri="{FF2B5EF4-FFF2-40B4-BE49-F238E27FC236}">
                <a16:creationId xmlns:a16="http://schemas.microsoft.com/office/drawing/2014/main" id="{5BDA78C3-DFBE-4CB0-6D3F-58DE2D7FD131}"/>
              </a:ext>
            </a:extLst>
          </p:cNvPr>
          <p:cNvSpPr txBox="1"/>
          <p:nvPr/>
        </p:nvSpPr>
        <p:spPr>
          <a:xfrm>
            <a:off x="558383" y="1521223"/>
            <a:ext cx="11268855" cy="707886"/>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 is that combinational logic circuits have no feedback, and any changes to the signals being applied to their inputs will immediately have an effect at the output</a:t>
            </a:r>
            <a:endParaRPr lang="en-IN" sz="2000" dirty="0"/>
          </a:p>
        </p:txBody>
      </p:sp>
      <p:sp>
        <p:nvSpPr>
          <p:cNvPr id="7" name="TextBox 6">
            <a:extLst>
              <a:ext uri="{FF2B5EF4-FFF2-40B4-BE49-F238E27FC236}">
                <a16:creationId xmlns:a16="http://schemas.microsoft.com/office/drawing/2014/main" id="{41C3AE7A-488C-A682-5C21-444EBFB0F557}"/>
              </a:ext>
            </a:extLst>
          </p:cNvPr>
          <p:cNvSpPr txBox="1"/>
          <p:nvPr/>
        </p:nvSpPr>
        <p:spPr>
          <a:xfrm>
            <a:off x="558382" y="2567226"/>
            <a:ext cx="10819152" cy="707886"/>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other words, in a </a:t>
            </a:r>
            <a:r>
              <a:rPr lang="en-US" sz="2000" b="1" dirty="0">
                <a:latin typeface="Times New Roman" panose="02020603050405020304" pitchFamily="18" charset="0"/>
                <a:cs typeface="Times New Roman" panose="02020603050405020304" pitchFamily="18" charset="0"/>
              </a:rPr>
              <a:t>Combinational Logic Circuit</a:t>
            </a:r>
            <a:r>
              <a:rPr lang="en-US" sz="2000" dirty="0">
                <a:latin typeface="Times New Roman" panose="02020603050405020304" pitchFamily="18" charset="0"/>
                <a:cs typeface="Times New Roman" panose="02020603050405020304" pitchFamily="18" charset="0"/>
              </a:rPr>
              <a:t>, the output is dependent at all times on the combination of its inputs. Thus a combinational circuit is memoryless.</a:t>
            </a:r>
          </a:p>
        </p:txBody>
      </p:sp>
      <p:sp>
        <p:nvSpPr>
          <p:cNvPr id="9" name="TextBox 8">
            <a:extLst>
              <a:ext uri="{FF2B5EF4-FFF2-40B4-BE49-F238E27FC236}">
                <a16:creationId xmlns:a16="http://schemas.microsoft.com/office/drawing/2014/main" id="{16F41E1E-3D8E-4237-F302-43D42172CE7A}"/>
              </a:ext>
            </a:extLst>
          </p:cNvPr>
          <p:cNvSpPr txBox="1"/>
          <p:nvPr/>
        </p:nvSpPr>
        <p:spPr>
          <a:xfrm>
            <a:off x="558382" y="3774812"/>
            <a:ext cx="11029015" cy="1015663"/>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Combinational Logic Circuits are made up from  logic gates( NAND, NOR or NOT) </a:t>
            </a:r>
            <a:r>
              <a:rPr lang="en-US" sz="2000">
                <a:latin typeface="Times New Roman" panose="02020603050405020304" pitchFamily="18" charset="0"/>
                <a:cs typeface="Times New Roman" panose="02020603050405020304" pitchFamily="18" charset="0"/>
              </a:rPr>
              <a:t>gates that </a:t>
            </a:r>
            <a:r>
              <a:rPr lang="en-US" sz="2000" dirty="0">
                <a:latin typeface="Times New Roman" panose="02020603050405020304" pitchFamily="18" charset="0"/>
                <a:cs typeface="Times New Roman" panose="02020603050405020304" pitchFamily="18" charset="0"/>
              </a:rPr>
              <a:t>are “combined” or connected together to produce more complicated switching circuits. These logic gates are the building blocks of combinational logic circuits</a:t>
            </a:r>
            <a:endParaRPr lang="en-IN" sz="2000" dirty="0"/>
          </a:p>
        </p:txBody>
      </p:sp>
    </p:spTree>
    <p:extLst>
      <p:ext uri="{BB962C8B-B14F-4D97-AF65-F5344CB8AC3E}">
        <p14:creationId xmlns:p14="http://schemas.microsoft.com/office/powerpoint/2010/main" val="1264392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CC74B3-6D22-836C-2410-1992019732D2}"/>
              </a:ext>
            </a:extLst>
          </p:cNvPr>
          <p:cNvSpPr txBox="1"/>
          <p:nvPr/>
        </p:nvSpPr>
        <p:spPr>
          <a:xfrm>
            <a:off x="371631" y="763622"/>
            <a:ext cx="11448737"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sym typeface="+mn-ea"/>
              </a:rPr>
              <a:t>The three main ways of specifying the function of a combinational logic circuit are:</a:t>
            </a:r>
            <a:endParaRPr lang="en-IN" sz="2000" dirty="0"/>
          </a:p>
        </p:txBody>
      </p:sp>
      <p:sp>
        <p:nvSpPr>
          <p:cNvPr id="5" name="TextBox 4">
            <a:extLst>
              <a:ext uri="{FF2B5EF4-FFF2-40B4-BE49-F238E27FC236}">
                <a16:creationId xmlns:a16="http://schemas.microsoft.com/office/drawing/2014/main" id="{63671560-5FEE-2409-BEED-7DFD8B9E7A36}"/>
              </a:ext>
            </a:extLst>
          </p:cNvPr>
          <p:cNvSpPr txBox="1"/>
          <p:nvPr/>
        </p:nvSpPr>
        <p:spPr>
          <a:xfrm>
            <a:off x="243590" y="1607936"/>
            <a:ext cx="11088974" cy="2862322"/>
          </a:xfrm>
          <a:prstGeom prst="rect">
            <a:avLst/>
          </a:prstGeom>
          <a:noFill/>
        </p:spPr>
        <p:txBody>
          <a:bodyPr wrap="square">
            <a:spAutoFit/>
          </a:bodyPr>
          <a:lstStyle/>
          <a:p>
            <a:pPr marL="15240" indent="0">
              <a:buNone/>
            </a:pPr>
            <a:r>
              <a:rPr lang="en-US" sz="18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Boolean Algebra – This forms the algebraic expression showing the operation of the logic circuit for each  </a:t>
            </a:r>
          </a:p>
          <a:p>
            <a:pPr marL="15240" indent="0">
              <a:buNone/>
            </a:pPr>
            <a:r>
              <a:rPr lang="en-US" sz="2000" dirty="0">
                <a:latin typeface="Times New Roman" panose="02020603050405020304" pitchFamily="18" charset="0"/>
                <a:cs typeface="Times New Roman" panose="02020603050405020304" pitchFamily="18" charset="0"/>
              </a:rPr>
              <a:t>                                   input variable either True or False that results in a logical output.</a:t>
            </a:r>
          </a:p>
          <a:p>
            <a:pPr marL="15240" indent="0">
              <a:buNone/>
            </a:pPr>
            <a:endParaRPr lang="en-US" sz="2000" dirty="0">
              <a:latin typeface="Times New Roman" panose="02020603050405020304" pitchFamily="18" charset="0"/>
              <a:cs typeface="Times New Roman" panose="02020603050405020304" pitchFamily="18" charset="0"/>
            </a:endParaRPr>
          </a:p>
          <a:p>
            <a:pPr marL="15240" indent="0">
              <a:buNone/>
            </a:pPr>
            <a:r>
              <a:rPr lang="en-US" sz="2000" dirty="0">
                <a:latin typeface="Times New Roman" panose="02020603050405020304" pitchFamily="18" charset="0"/>
                <a:cs typeface="Times New Roman" panose="02020603050405020304" pitchFamily="18" charset="0"/>
              </a:rPr>
              <a:t>2.Truth Table – A truth table defines the function of a logic gate by providing a concise list that shows all  </a:t>
            </a:r>
          </a:p>
          <a:p>
            <a:pPr marL="15240" indent="0">
              <a:buNone/>
            </a:pPr>
            <a:r>
              <a:rPr lang="en-US" sz="2000" dirty="0">
                <a:latin typeface="Times New Roman" panose="02020603050405020304" pitchFamily="18" charset="0"/>
                <a:cs typeface="Times New Roman" panose="02020603050405020304" pitchFamily="18" charset="0"/>
              </a:rPr>
              <a:t>                         the output states in tabular form for each possible combination of input variable that the  </a:t>
            </a:r>
          </a:p>
          <a:p>
            <a:pPr marL="15240" indent="0">
              <a:buNone/>
            </a:pPr>
            <a:r>
              <a:rPr lang="en-US" sz="2000" dirty="0">
                <a:latin typeface="Times New Roman" panose="02020603050405020304" pitchFamily="18" charset="0"/>
                <a:cs typeface="Times New Roman" panose="02020603050405020304" pitchFamily="18" charset="0"/>
              </a:rPr>
              <a:t>                         gate could encounter.</a:t>
            </a:r>
          </a:p>
          <a:p>
            <a:pPr marL="15240" indent="0">
              <a:buNone/>
            </a:pPr>
            <a:endParaRPr lang="en-US" sz="2000" dirty="0">
              <a:latin typeface="Times New Roman" panose="02020603050405020304" pitchFamily="18" charset="0"/>
              <a:cs typeface="Times New Roman" panose="02020603050405020304" pitchFamily="18" charset="0"/>
            </a:endParaRPr>
          </a:p>
          <a:p>
            <a:pPr marL="15240" indent="0">
              <a:buNone/>
            </a:pPr>
            <a:r>
              <a:rPr lang="en-US" sz="2000" dirty="0">
                <a:latin typeface="Times New Roman" panose="02020603050405020304" pitchFamily="18" charset="0"/>
                <a:cs typeface="Times New Roman" panose="02020603050405020304" pitchFamily="18" charset="0"/>
              </a:rPr>
              <a:t>3.Logic Diagram – This is a graphical representation of a logic circuit that shows the wiring and  </a:t>
            </a:r>
          </a:p>
          <a:p>
            <a:pPr marL="15240" indent="0">
              <a:buNone/>
            </a:pPr>
            <a:r>
              <a:rPr lang="en-US" sz="2000" dirty="0">
                <a:latin typeface="Times New Roman" panose="02020603050405020304" pitchFamily="18" charset="0"/>
                <a:cs typeface="Times New Roman" panose="02020603050405020304" pitchFamily="18" charset="0"/>
              </a:rPr>
              <a:t>                                connections of each individual .</a:t>
            </a:r>
            <a:endParaRPr lang="en-IN" sz="2000" dirty="0"/>
          </a:p>
        </p:txBody>
      </p:sp>
    </p:spTree>
    <p:extLst>
      <p:ext uri="{BB962C8B-B14F-4D97-AF65-F5344CB8AC3E}">
        <p14:creationId xmlns:p14="http://schemas.microsoft.com/office/powerpoint/2010/main" val="589262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020" y="635"/>
            <a:ext cx="10533380" cy="622300"/>
          </a:xfrm>
        </p:spPr>
        <p:txBody>
          <a:bodyPr>
            <a:normAutofit fontScale="90000"/>
          </a:bodyPr>
          <a:lstStyle/>
          <a:p>
            <a:r>
              <a:rPr lang="en-US">
                <a:latin typeface="Times New Roman" panose="02020603050405020304" pitchFamily="18" charset="0"/>
                <a:cs typeface="Times New Roman" panose="02020603050405020304" pitchFamily="18" charset="0"/>
              </a:rPr>
              <a:t>Design Procedure</a:t>
            </a:r>
            <a:r>
              <a:rPr lang="en-US"/>
              <a:t>:</a:t>
            </a:r>
          </a:p>
        </p:txBody>
      </p:sp>
      <p:sp>
        <p:nvSpPr>
          <p:cNvPr id="3" name="Content Placeholder 2"/>
          <p:cNvSpPr>
            <a:spLocks noGrp="1"/>
          </p:cNvSpPr>
          <p:nvPr>
            <p:ph idx="1"/>
          </p:nvPr>
        </p:nvSpPr>
        <p:spPr>
          <a:xfrm>
            <a:off x="609600" y="622935"/>
            <a:ext cx="10972800" cy="5852160"/>
          </a:xfrm>
        </p:spPr>
        <p:txBody>
          <a:bodyPr>
            <a:noAutofit/>
          </a:bodyPr>
          <a:lstStyle/>
          <a:p>
            <a:endParaRPr lang="en-US" sz="3100" dirty="0">
              <a:latin typeface="Times New Roman" panose="02020603050405020304" pitchFamily="18" charset="0"/>
              <a:cs typeface="Times New Roman" panose="02020603050405020304" pitchFamily="18" charset="0"/>
            </a:endParaRPr>
          </a:p>
          <a:p>
            <a:endParaRPr lang="en-US" sz="3100" dirty="0">
              <a:latin typeface="Times New Roman" panose="02020603050405020304" pitchFamily="18" charset="0"/>
              <a:cs typeface="Times New Roman" panose="02020603050405020304" pitchFamily="18" charset="0"/>
            </a:endParaRPr>
          </a:p>
          <a:p>
            <a:endParaRPr lang="en-US" sz="3100" dirty="0">
              <a:latin typeface="Times New Roman" panose="02020603050405020304" pitchFamily="18" charset="0"/>
              <a:cs typeface="Times New Roman" panose="02020603050405020304" pitchFamily="18" charset="0"/>
            </a:endParaRPr>
          </a:p>
          <a:p>
            <a:r>
              <a:rPr lang="en-US" sz="3100" dirty="0">
                <a:latin typeface="Times New Roman" panose="02020603050405020304" pitchFamily="18" charset="0"/>
                <a:cs typeface="Times New Roman" panose="02020603050405020304" pitchFamily="18" charset="0"/>
              </a:rPr>
              <a:t>A block diagram of a combinational circuit with n input binary variables come from an external source; the m output variables are produced by the internal combinational logic circuit and go to external destination.</a:t>
            </a:r>
          </a:p>
          <a:p>
            <a:r>
              <a:rPr lang="en-US" sz="3100" dirty="0">
                <a:latin typeface="Times New Roman" panose="02020603050405020304" pitchFamily="18" charset="0"/>
                <a:cs typeface="Times New Roman" panose="02020603050405020304" pitchFamily="18" charset="0"/>
              </a:rPr>
              <a:t>For n input variables, there are 2</a:t>
            </a:r>
            <a:r>
              <a:rPr lang="en-US" sz="3100" baseline="30000" dirty="0">
                <a:latin typeface="Times New Roman" panose="02020603050405020304" pitchFamily="18" charset="0"/>
                <a:cs typeface="Times New Roman" panose="02020603050405020304" pitchFamily="18" charset="0"/>
              </a:rPr>
              <a:t>n</a:t>
            </a:r>
            <a:r>
              <a:rPr lang="en-US" sz="3100" dirty="0">
                <a:latin typeface="Times New Roman" panose="02020603050405020304" pitchFamily="18" charset="0"/>
                <a:cs typeface="Times New Roman" panose="02020603050405020304" pitchFamily="18" charset="0"/>
              </a:rPr>
              <a:t> possible binary input combinations.</a:t>
            </a:r>
          </a:p>
          <a:p>
            <a:r>
              <a:rPr lang="en-US" sz="3100" dirty="0">
                <a:latin typeface="Times New Roman" panose="02020603050405020304" pitchFamily="18" charset="0"/>
                <a:cs typeface="Times New Roman" panose="02020603050405020304" pitchFamily="18" charset="0"/>
              </a:rPr>
              <a:t>For each possible input combination, there is one possible output value.</a:t>
            </a:r>
          </a:p>
          <a:p>
            <a:endParaRPr lang="en-US" sz="2100" dirty="0">
              <a:latin typeface="Times New Roman" panose="02020603050405020304" pitchFamily="18" charset="0"/>
              <a:cs typeface="Times New Roman" panose="02020603050405020304" pitchFamily="18" charset="0"/>
            </a:endParaRPr>
          </a:p>
        </p:txBody>
      </p:sp>
      <p:graphicFrame>
        <p:nvGraphicFramePr>
          <p:cNvPr id="4" name="Object 3"/>
          <p:cNvGraphicFramePr/>
          <p:nvPr/>
        </p:nvGraphicFramePr>
        <p:xfrm>
          <a:off x="2935605" y="622935"/>
          <a:ext cx="5810885" cy="1701165"/>
        </p:xfrm>
        <a:graphic>
          <a:graphicData uri="http://schemas.openxmlformats.org/presentationml/2006/ole">
            <mc:AlternateContent xmlns:mc="http://schemas.openxmlformats.org/markup-compatibility/2006">
              <mc:Choice xmlns:v="urn:schemas-microsoft-com:vml" Requires="v">
                <p:oleObj r:id="rId2" imgW="3943350" imgH="1495425" progId="Paint.Picture">
                  <p:embed/>
                </p:oleObj>
              </mc:Choice>
              <mc:Fallback>
                <p:oleObj r:id="rId2" imgW="3943350" imgH="1495425" progId="Paint.Picture">
                  <p:embed/>
                  <p:pic>
                    <p:nvPicPr>
                      <p:cNvPr id="4" name="Object 3"/>
                      <p:cNvPicPr/>
                      <p:nvPr/>
                    </p:nvPicPr>
                    <p:blipFill>
                      <a:blip r:embed="rId3"/>
                      <a:stretch>
                        <a:fillRect/>
                      </a:stretch>
                    </p:blipFill>
                    <p:spPr>
                      <a:xfrm>
                        <a:off x="2935605" y="622935"/>
                        <a:ext cx="5810885" cy="1701165"/>
                      </a:xfrm>
                      <a:prstGeom prst="rect">
                        <a:avLst/>
                      </a:prstGeom>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noChangeAspect="1"/>
          </p:cNvGraphicFramePr>
          <p:nvPr>
            <p:ph idx="1"/>
          </p:nvPr>
        </p:nvGraphicFramePr>
        <p:xfrm>
          <a:off x="857885" y="626745"/>
          <a:ext cx="10475595" cy="5266055"/>
        </p:xfrm>
        <a:graphic>
          <a:graphicData uri="http://schemas.openxmlformats.org/presentationml/2006/ole">
            <mc:AlternateContent xmlns:mc="http://schemas.openxmlformats.org/markup-compatibility/2006">
              <mc:Choice xmlns:v="urn:schemas-microsoft-com:vml" Requires="v">
                <p:oleObj r:id="rId2" imgW="9001125" imgH="4524375" progId="Paint.Picture">
                  <p:embed/>
                </p:oleObj>
              </mc:Choice>
              <mc:Fallback>
                <p:oleObj r:id="rId2" imgW="9001125" imgH="4524375" progId="Paint.Picture">
                  <p:embed/>
                  <p:pic>
                    <p:nvPicPr>
                      <p:cNvPr id="2" name="Content Placeholder 1"/>
                      <p:cNvPicPr/>
                      <p:nvPr/>
                    </p:nvPicPr>
                    <p:blipFill>
                      <a:blip r:embed="rId3"/>
                      <a:stretch>
                        <a:fillRect/>
                      </a:stretch>
                    </p:blipFill>
                    <p:spPr>
                      <a:xfrm>
                        <a:off x="857885" y="626745"/>
                        <a:ext cx="10475595" cy="526605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9645" y="0"/>
            <a:ext cx="10941685" cy="814705"/>
          </a:xfrm>
        </p:spPr>
        <p:txBody>
          <a:bodyPr>
            <a:normAutofit/>
          </a:bodyPr>
          <a:lstStyle/>
          <a:p>
            <a:r>
              <a:rPr lang="en-US">
                <a:latin typeface="Times New Roman" panose="02020603050405020304" pitchFamily="18" charset="0"/>
                <a:cs typeface="Times New Roman" panose="02020603050405020304" pitchFamily="18" charset="0"/>
                <a:sym typeface="+mn-ea"/>
              </a:rPr>
              <a:t>Design Procedure</a:t>
            </a:r>
            <a:r>
              <a:rPr lang="en-US">
                <a:sym typeface="+mn-ea"/>
              </a:rPr>
              <a:t>:</a:t>
            </a:r>
            <a:endParaRPr lang="en-US"/>
          </a:p>
        </p:txBody>
      </p:sp>
      <p:sp>
        <p:nvSpPr>
          <p:cNvPr id="3" name="Content Placeholder 2"/>
          <p:cNvSpPr>
            <a:spLocks noGrp="1"/>
          </p:cNvSpPr>
          <p:nvPr>
            <p:ph idx="1"/>
          </p:nvPr>
        </p:nvSpPr>
        <p:spPr>
          <a:xfrm>
            <a:off x="280035" y="1007110"/>
            <a:ext cx="11631295" cy="5850255"/>
          </a:xfrm>
        </p:spPr>
        <p:txBody>
          <a:bodyPr>
            <a:noAutofit/>
          </a:bodyPr>
          <a:lstStyle/>
          <a:p>
            <a:pPr marL="15240" indent="0">
              <a:buNone/>
            </a:pPr>
            <a:r>
              <a:rPr lang="en-US" sz="3200">
                <a:latin typeface="Times New Roman" panose="02020603050405020304" pitchFamily="18" charset="0"/>
                <a:cs typeface="Times New Roman" panose="02020603050405020304" pitchFamily="18" charset="0"/>
              </a:rPr>
              <a:t>The procedure involves the following steps:</a:t>
            </a:r>
          </a:p>
          <a:p>
            <a:r>
              <a:rPr lang="en-US" sz="3200">
                <a:latin typeface="Times New Roman" panose="02020603050405020304" pitchFamily="18" charset="0"/>
                <a:cs typeface="Times New Roman" panose="02020603050405020304" pitchFamily="18" charset="0"/>
              </a:rPr>
              <a:t>Determine the required inputs and outputs and assign a symbol to each.</a:t>
            </a:r>
          </a:p>
          <a:p>
            <a:r>
              <a:rPr lang="en-US" sz="3200">
                <a:latin typeface="Times New Roman" panose="02020603050405020304" pitchFamily="18" charset="0"/>
                <a:cs typeface="Times New Roman" panose="02020603050405020304" pitchFamily="18" charset="0"/>
              </a:rPr>
              <a:t>Derive the truth table that defines the required relationship between inputs and outputs.</a:t>
            </a:r>
          </a:p>
          <a:p>
            <a:r>
              <a:rPr lang="en-US" sz="3200">
                <a:latin typeface="Times New Roman" panose="02020603050405020304" pitchFamily="18" charset="0"/>
                <a:cs typeface="Times New Roman" panose="02020603050405020304" pitchFamily="18" charset="0"/>
              </a:rPr>
              <a:t>Obtain the simplified Boolean functions for each output as a function of the input variables.</a:t>
            </a:r>
          </a:p>
          <a:p>
            <a:r>
              <a:rPr lang="en-US" sz="3200">
                <a:latin typeface="Times New Roman" panose="02020603050405020304" pitchFamily="18" charset="0"/>
                <a:cs typeface="Times New Roman" panose="02020603050405020304" pitchFamily="18" charset="0"/>
              </a:rPr>
              <a:t>Draw the logic diagram and verify the correctness of the design.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3DBB1-122C-115B-8576-7EE1954B5C25}"/>
              </a:ext>
            </a:extLst>
          </p:cNvPr>
          <p:cNvSpPr txBox="1"/>
          <p:nvPr/>
        </p:nvSpPr>
        <p:spPr>
          <a:xfrm>
            <a:off x="693294" y="385279"/>
            <a:ext cx="7551295" cy="2862322"/>
          </a:xfrm>
          <a:prstGeom prst="rect">
            <a:avLst/>
          </a:prstGeom>
          <a:noFill/>
        </p:spPr>
        <p:txBody>
          <a:bodyPr wrap="square">
            <a:spAutoFit/>
          </a:bodyPr>
          <a:lstStyle/>
          <a:p>
            <a:r>
              <a:rPr lang="pt-BR" dirty="0"/>
              <a:t>Given Function Y=(A’.B’)’ </a:t>
            </a:r>
          </a:p>
          <a:p>
            <a:r>
              <a:rPr lang="pt-BR" dirty="0"/>
              <a:t>                              = A’’ + B’’ </a:t>
            </a:r>
          </a:p>
          <a:p>
            <a:r>
              <a:rPr lang="pt-BR" dirty="0"/>
              <a:t>                              = A + B</a:t>
            </a:r>
            <a:endParaRPr lang="en-IN" dirty="0">
              <a:solidFill>
                <a:srgbClr val="000000"/>
              </a:solidFill>
              <a:latin typeface="Raleway" pitchFamily="2" charset="0"/>
            </a:endParaRPr>
          </a:p>
          <a:p>
            <a:r>
              <a:rPr lang="en-IN" b="0" i="0" dirty="0">
                <a:solidFill>
                  <a:srgbClr val="000000"/>
                </a:solidFill>
                <a:effectLst/>
                <a:latin typeface="Raleway" pitchFamily="2" charset="0"/>
              </a:rPr>
              <a:t>           </a:t>
            </a:r>
          </a:p>
          <a:p>
            <a:r>
              <a:rPr lang="en-IN" b="0" i="0" dirty="0">
                <a:solidFill>
                  <a:srgbClr val="000000"/>
                </a:solidFill>
                <a:effectLst/>
                <a:latin typeface="Raleway" pitchFamily="2" charset="0"/>
              </a:rPr>
              <a:t>  </a:t>
            </a:r>
            <a:r>
              <a:rPr lang="en-IN" b="0" i="0" dirty="0" err="1">
                <a:solidFill>
                  <a:srgbClr val="000000"/>
                </a:solidFill>
                <a:effectLst/>
                <a:latin typeface="Raleway" pitchFamily="2" charset="0"/>
              </a:rPr>
              <a:t>So,Y</a:t>
            </a:r>
            <a:r>
              <a:rPr lang="en-IN" b="0" i="0" dirty="0">
                <a:solidFill>
                  <a:srgbClr val="000000"/>
                </a:solidFill>
                <a:effectLst/>
                <a:latin typeface="Raleway" pitchFamily="2" charset="0"/>
              </a:rPr>
              <a:t>= A + B</a:t>
            </a:r>
          </a:p>
          <a:p>
            <a:endParaRPr lang="en-IN" dirty="0">
              <a:solidFill>
                <a:srgbClr val="000000"/>
              </a:solidFill>
              <a:latin typeface="Raleway" pitchFamily="2" charset="0"/>
            </a:endParaRPr>
          </a:p>
          <a:p>
            <a:r>
              <a:rPr lang="en-IN" dirty="0">
                <a:solidFill>
                  <a:srgbClr val="000000"/>
                </a:solidFill>
                <a:latin typeface="Raleway" pitchFamily="2" charset="0"/>
              </a:rPr>
              <a:t>Input variables are A,B and Y is taken as output variable</a:t>
            </a:r>
          </a:p>
          <a:p>
            <a:pPr marL="285750" indent="-285750">
              <a:buFont typeface="Arial" panose="020B0604020202020204" pitchFamily="34" charset="0"/>
              <a:buChar char="•"/>
            </a:pPr>
            <a:endParaRPr lang="en-IN" dirty="0">
              <a:solidFill>
                <a:srgbClr val="000000"/>
              </a:solidFill>
              <a:latin typeface="Raleway" pitchFamily="2" charset="0"/>
            </a:endParaRPr>
          </a:p>
          <a:p>
            <a:pPr marL="285750" indent="-285750">
              <a:buFont typeface="Arial" panose="020B0604020202020204" pitchFamily="34" charset="0"/>
              <a:buChar char="•"/>
            </a:pPr>
            <a:r>
              <a:rPr lang="en-IN" dirty="0">
                <a:solidFill>
                  <a:srgbClr val="000000"/>
                </a:solidFill>
                <a:latin typeface="Raleway" pitchFamily="2" charset="0"/>
              </a:rPr>
              <a:t>Truth Table for the given function</a:t>
            </a:r>
          </a:p>
          <a:p>
            <a:r>
              <a:rPr lang="en-IN" dirty="0">
                <a:solidFill>
                  <a:srgbClr val="000000"/>
                </a:solidFill>
                <a:latin typeface="Raleway" pitchFamily="2" charset="0"/>
              </a:rPr>
              <a:t> </a:t>
            </a:r>
            <a:endParaRPr lang="en-IN" dirty="0"/>
          </a:p>
        </p:txBody>
      </p:sp>
      <p:pic>
        <p:nvPicPr>
          <p:cNvPr id="5" name="Picture 4">
            <a:extLst>
              <a:ext uri="{FF2B5EF4-FFF2-40B4-BE49-F238E27FC236}">
                <a16:creationId xmlns:a16="http://schemas.microsoft.com/office/drawing/2014/main" id="{15AB595D-30AF-0303-67C9-698802722052}"/>
              </a:ext>
            </a:extLst>
          </p:cNvPr>
          <p:cNvPicPr>
            <a:picLocks noChangeAspect="1"/>
          </p:cNvPicPr>
          <p:nvPr/>
        </p:nvPicPr>
        <p:blipFill>
          <a:blip r:embed="rId2"/>
          <a:stretch>
            <a:fillRect/>
          </a:stretch>
        </p:blipFill>
        <p:spPr>
          <a:xfrm>
            <a:off x="3910480" y="2926270"/>
            <a:ext cx="3171825" cy="2162175"/>
          </a:xfrm>
          <a:prstGeom prst="rect">
            <a:avLst/>
          </a:prstGeom>
        </p:spPr>
      </p:pic>
      <p:pic>
        <p:nvPicPr>
          <p:cNvPr id="7" name="Picture 6">
            <a:extLst>
              <a:ext uri="{FF2B5EF4-FFF2-40B4-BE49-F238E27FC236}">
                <a16:creationId xmlns:a16="http://schemas.microsoft.com/office/drawing/2014/main" id="{D5EE240B-55AE-2E26-E354-09B786590581}"/>
              </a:ext>
            </a:extLst>
          </p:cNvPr>
          <p:cNvPicPr>
            <a:picLocks noChangeAspect="1"/>
          </p:cNvPicPr>
          <p:nvPr/>
        </p:nvPicPr>
        <p:blipFill>
          <a:blip r:embed="rId3"/>
          <a:stretch>
            <a:fillRect/>
          </a:stretch>
        </p:blipFill>
        <p:spPr>
          <a:xfrm>
            <a:off x="3507698" y="5363962"/>
            <a:ext cx="5066676" cy="1133475"/>
          </a:xfrm>
          <a:prstGeom prst="rect">
            <a:avLst/>
          </a:prstGeom>
        </p:spPr>
      </p:pic>
    </p:spTree>
    <p:extLst>
      <p:ext uri="{BB962C8B-B14F-4D97-AF65-F5344CB8AC3E}">
        <p14:creationId xmlns:p14="http://schemas.microsoft.com/office/powerpoint/2010/main" val="881499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E91A26-A097-8891-CFA8-BA8B57F4E3CC}"/>
              </a:ext>
            </a:extLst>
          </p:cNvPr>
          <p:cNvSpPr txBox="1"/>
          <p:nvPr/>
        </p:nvSpPr>
        <p:spPr>
          <a:xfrm>
            <a:off x="963118" y="628710"/>
            <a:ext cx="6093500" cy="1200329"/>
          </a:xfrm>
          <a:prstGeom prst="rect">
            <a:avLst/>
          </a:prstGeom>
          <a:noFill/>
        </p:spPr>
        <p:txBody>
          <a:bodyPr wrap="square">
            <a:spAutoFit/>
          </a:bodyPr>
          <a:lstStyle/>
          <a:p>
            <a:r>
              <a:rPr lang="es-ES" i="0" dirty="0">
                <a:solidFill>
                  <a:srgbClr val="000000"/>
                </a:solidFill>
                <a:effectLst/>
                <a:latin typeface="Raleway" pitchFamily="2" charset="0"/>
              </a:rPr>
              <a:t>2)</a:t>
            </a:r>
            <a:r>
              <a:rPr lang="es-ES" i="0" dirty="0" err="1">
                <a:solidFill>
                  <a:srgbClr val="000000"/>
                </a:solidFill>
                <a:effectLst/>
                <a:latin typeface="Raleway" pitchFamily="2" charset="0"/>
              </a:rPr>
              <a:t>Given</a:t>
            </a:r>
            <a:r>
              <a:rPr lang="es-ES" i="0" dirty="0">
                <a:solidFill>
                  <a:srgbClr val="000000"/>
                </a:solidFill>
                <a:effectLst/>
                <a:latin typeface="Raleway" pitchFamily="2" charset="0"/>
              </a:rPr>
              <a:t> </a:t>
            </a:r>
            <a:r>
              <a:rPr lang="es-ES" i="0" dirty="0" err="1">
                <a:solidFill>
                  <a:srgbClr val="000000"/>
                </a:solidFill>
                <a:effectLst/>
                <a:latin typeface="Raleway" pitchFamily="2" charset="0"/>
              </a:rPr>
              <a:t>Function</a:t>
            </a:r>
            <a:r>
              <a:rPr lang="es-ES" i="0" dirty="0">
                <a:solidFill>
                  <a:srgbClr val="000000"/>
                </a:solidFill>
                <a:effectLst/>
                <a:latin typeface="Raleway" pitchFamily="2" charset="0"/>
              </a:rPr>
              <a:t> Y = ((A.B)’)’</a:t>
            </a:r>
            <a:br>
              <a:rPr lang="es-ES" dirty="0"/>
            </a:br>
            <a:r>
              <a:rPr lang="es-ES" dirty="0"/>
              <a:t>                                </a:t>
            </a:r>
            <a:r>
              <a:rPr lang="es-ES" i="0" dirty="0">
                <a:solidFill>
                  <a:srgbClr val="000000"/>
                </a:solidFill>
                <a:effectLst/>
                <a:latin typeface="Raleway" pitchFamily="2" charset="0"/>
              </a:rPr>
              <a:t>Y = (A.B)</a:t>
            </a:r>
          </a:p>
          <a:p>
            <a:endParaRPr lang="es-ES" dirty="0">
              <a:solidFill>
                <a:srgbClr val="000000"/>
              </a:solidFill>
              <a:latin typeface="Raleway" pitchFamily="2" charset="0"/>
            </a:endParaRPr>
          </a:p>
          <a:p>
            <a:r>
              <a:rPr lang="es-ES" dirty="0" err="1">
                <a:solidFill>
                  <a:srgbClr val="000000"/>
                </a:solidFill>
                <a:latin typeface="Raleway" pitchFamily="2" charset="0"/>
              </a:rPr>
              <a:t>Truth</a:t>
            </a:r>
            <a:r>
              <a:rPr lang="es-ES" dirty="0">
                <a:solidFill>
                  <a:srgbClr val="000000"/>
                </a:solidFill>
                <a:latin typeface="Raleway" pitchFamily="2" charset="0"/>
              </a:rPr>
              <a:t> Table:</a:t>
            </a:r>
            <a:endParaRPr lang="en-IN" dirty="0"/>
          </a:p>
        </p:txBody>
      </p:sp>
      <p:pic>
        <p:nvPicPr>
          <p:cNvPr id="5" name="Picture 4">
            <a:extLst>
              <a:ext uri="{FF2B5EF4-FFF2-40B4-BE49-F238E27FC236}">
                <a16:creationId xmlns:a16="http://schemas.microsoft.com/office/drawing/2014/main" id="{B843E3EE-4D87-6CFE-9A9B-9589EB9D82C0}"/>
              </a:ext>
            </a:extLst>
          </p:cNvPr>
          <p:cNvPicPr>
            <a:picLocks noChangeAspect="1"/>
          </p:cNvPicPr>
          <p:nvPr/>
        </p:nvPicPr>
        <p:blipFill>
          <a:blip r:embed="rId2"/>
          <a:stretch>
            <a:fillRect/>
          </a:stretch>
        </p:blipFill>
        <p:spPr>
          <a:xfrm>
            <a:off x="2353457" y="1829039"/>
            <a:ext cx="4512039" cy="2257425"/>
          </a:xfrm>
          <a:prstGeom prst="rect">
            <a:avLst/>
          </a:prstGeom>
        </p:spPr>
      </p:pic>
      <p:pic>
        <p:nvPicPr>
          <p:cNvPr id="7" name="Picture 6">
            <a:extLst>
              <a:ext uri="{FF2B5EF4-FFF2-40B4-BE49-F238E27FC236}">
                <a16:creationId xmlns:a16="http://schemas.microsoft.com/office/drawing/2014/main" id="{60D87432-5582-3C69-69E0-934D266D3B86}"/>
              </a:ext>
            </a:extLst>
          </p:cNvPr>
          <p:cNvPicPr>
            <a:picLocks noChangeAspect="1"/>
          </p:cNvPicPr>
          <p:nvPr/>
        </p:nvPicPr>
        <p:blipFill>
          <a:blip r:embed="rId3"/>
          <a:stretch>
            <a:fillRect/>
          </a:stretch>
        </p:blipFill>
        <p:spPr>
          <a:xfrm>
            <a:off x="3099763" y="4591468"/>
            <a:ext cx="3765733" cy="1044834"/>
          </a:xfrm>
          <a:prstGeom prst="rect">
            <a:avLst/>
          </a:prstGeom>
        </p:spPr>
      </p:pic>
    </p:spTree>
    <p:extLst>
      <p:ext uri="{BB962C8B-B14F-4D97-AF65-F5344CB8AC3E}">
        <p14:creationId xmlns:p14="http://schemas.microsoft.com/office/powerpoint/2010/main" val="3871305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4553A2-9A4D-1342-C909-70EAA0D8FD69}"/>
              </a:ext>
            </a:extLst>
          </p:cNvPr>
          <p:cNvSpPr txBox="1"/>
          <p:nvPr/>
        </p:nvSpPr>
        <p:spPr>
          <a:xfrm>
            <a:off x="558383" y="557347"/>
            <a:ext cx="9380095" cy="1477328"/>
          </a:xfrm>
          <a:prstGeom prst="rect">
            <a:avLst/>
          </a:prstGeom>
          <a:noFill/>
        </p:spPr>
        <p:txBody>
          <a:bodyPr wrap="square">
            <a:spAutoFit/>
          </a:bodyPr>
          <a:lstStyle/>
          <a:p>
            <a:r>
              <a:rPr lang="en-US" dirty="0"/>
              <a:t>For the given circuit diagram shown in figure</a:t>
            </a:r>
          </a:p>
          <a:p>
            <a:pPr marL="342900" indent="-342900">
              <a:buAutoNum type="alphaLcParenBoth"/>
            </a:pPr>
            <a:r>
              <a:rPr lang="en-US" dirty="0"/>
              <a:t>Write the Boolean expression corresponding to the circuit (straight from the gates).</a:t>
            </a:r>
          </a:p>
          <a:p>
            <a:pPr marL="342900" indent="-342900">
              <a:buAutoNum type="alphaLcParenBoth"/>
            </a:pPr>
            <a:r>
              <a:rPr lang="en-US" dirty="0"/>
              <a:t>Simplify the expression to the shortest SOP form.</a:t>
            </a:r>
          </a:p>
          <a:p>
            <a:pPr marL="342900" indent="-342900">
              <a:buAutoNum type="alphaLcParenBoth"/>
            </a:pPr>
            <a:r>
              <a:rPr lang="en-US" dirty="0"/>
              <a:t>Draw an equivalent circuit using only basic gates for the SOP form obtained.</a:t>
            </a:r>
          </a:p>
          <a:p>
            <a:pPr marL="342900" indent="-342900">
              <a:buAutoNum type="alphaLcParenBoth"/>
            </a:pPr>
            <a:r>
              <a:rPr lang="en-US" dirty="0"/>
              <a:t>Write truth table for Q=(A.B)’(A+B)’C</a:t>
            </a:r>
            <a:endParaRPr lang="en-IN" dirty="0"/>
          </a:p>
        </p:txBody>
      </p:sp>
    </p:spTree>
    <p:extLst>
      <p:ext uri="{BB962C8B-B14F-4D97-AF65-F5344CB8AC3E}">
        <p14:creationId xmlns:p14="http://schemas.microsoft.com/office/powerpoint/2010/main" val="4286030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69" descr="A diagram of a computer&#10;&#10;Description automatically generated with medium confidence">
            <a:extLst>
              <a:ext uri="{FF2B5EF4-FFF2-40B4-BE49-F238E27FC236}">
                <a16:creationId xmlns:a16="http://schemas.microsoft.com/office/drawing/2014/main" id="{3C3BD856-763E-7AD4-085E-EA02EF89B6C6}"/>
              </a:ext>
            </a:extLst>
          </p:cNvPr>
          <p:cNvPicPr/>
          <p:nvPr/>
        </p:nvPicPr>
        <p:blipFill>
          <a:blip r:embed="rId2"/>
          <a:stretch>
            <a:fillRect/>
          </a:stretch>
        </p:blipFill>
        <p:spPr>
          <a:xfrm>
            <a:off x="263964" y="567347"/>
            <a:ext cx="10821035" cy="5511165"/>
          </a:xfrm>
          <a:prstGeom prst="rect">
            <a:avLst/>
          </a:prstGeom>
        </p:spPr>
      </p:pic>
      <p:sp>
        <p:nvSpPr>
          <p:cNvPr id="6" name="Rectangle 5">
            <a:extLst>
              <a:ext uri="{FF2B5EF4-FFF2-40B4-BE49-F238E27FC236}">
                <a16:creationId xmlns:a16="http://schemas.microsoft.com/office/drawing/2014/main" id="{D5DAD6CB-122C-7989-9730-E76395FBB652}"/>
              </a:ext>
            </a:extLst>
          </p:cNvPr>
          <p:cNvSpPr/>
          <p:nvPr/>
        </p:nvSpPr>
        <p:spPr>
          <a:xfrm>
            <a:off x="6685613" y="2638269"/>
            <a:ext cx="4167266" cy="34402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9002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78355B3-06CC-A60A-A2F5-4A67B4D50240}"/>
              </a:ext>
            </a:extLst>
          </p:cNvPr>
          <p:cNvGraphicFramePr>
            <a:graphicFrameLocks noGrp="1"/>
          </p:cNvGraphicFramePr>
          <p:nvPr>
            <p:extLst>
              <p:ext uri="{D42A27DB-BD31-4B8C-83A1-F6EECF244321}">
                <p14:modId xmlns:p14="http://schemas.microsoft.com/office/powerpoint/2010/main" val="4071660226"/>
              </p:ext>
            </p:extLst>
          </p:nvPr>
        </p:nvGraphicFramePr>
        <p:xfrm>
          <a:off x="-300763" y="341244"/>
          <a:ext cx="11888160" cy="5175139"/>
        </p:xfrm>
        <a:graphic>
          <a:graphicData uri="http://schemas.openxmlformats.org/drawingml/2006/table">
            <a:tbl>
              <a:tblPr/>
              <a:tblGrid>
                <a:gridCol w="1486020">
                  <a:extLst>
                    <a:ext uri="{9D8B030D-6E8A-4147-A177-3AD203B41FA5}">
                      <a16:colId xmlns:a16="http://schemas.microsoft.com/office/drawing/2014/main" val="309753858"/>
                    </a:ext>
                  </a:extLst>
                </a:gridCol>
                <a:gridCol w="1486020">
                  <a:extLst>
                    <a:ext uri="{9D8B030D-6E8A-4147-A177-3AD203B41FA5}">
                      <a16:colId xmlns:a16="http://schemas.microsoft.com/office/drawing/2014/main" val="2690598799"/>
                    </a:ext>
                  </a:extLst>
                </a:gridCol>
                <a:gridCol w="1486020">
                  <a:extLst>
                    <a:ext uri="{9D8B030D-6E8A-4147-A177-3AD203B41FA5}">
                      <a16:colId xmlns:a16="http://schemas.microsoft.com/office/drawing/2014/main" val="495061558"/>
                    </a:ext>
                  </a:extLst>
                </a:gridCol>
                <a:gridCol w="1486020">
                  <a:extLst>
                    <a:ext uri="{9D8B030D-6E8A-4147-A177-3AD203B41FA5}">
                      <a16:colId xmlns:a16="http://schemas.microsoft.com/office/drawing/2014/main" val="2020180913"/>
                    </a:ext>
                  </a:extLst>
                </a:gridCol>
                <a:gridCol w="1486020">
                  <a:extLst>
                    <a:ext uri="{9D8B030D-6E8A-4147-A177-3AD203B41FA5}">
                      <a16:colId xmlns:a16="http://schemas.microsoft.com/office/drawing/2014/main" val="1134712456"/>
                    </a:ext>
                  </a:extLst>
                </a:gridCol>
                <a:gridCol w="1486020">
                  <a:extLst>
                    <a:ext uri="{9D8B030D-6E8A-4147-A177-3AD203B41FA5}">
                      <a16:colId xmlns:a16="http://schemas.microsoft.com/office/drawing/2014/main" val="1720673299"/>
                    </a:ext>
                  </a:extLst>
                </a:gridCol>
                <a:gridCol w="1486020">
                  <a:extLst>
                    <a:ext uri="{9D8B030D-6E8A-4147-A177-3AD203B41FA5}">
                      <a16:colId xmlns:a16="http://schemas.microsoft.com/office/drawing/2014/main" val="855797509"/>
                    </a:ext>
                  </a:extLst>
                </a:gridCol>
                <a:gridCol w="1486020">
                  <a:extLst>
                    <a:ext uri="{9D8B030D-6E8A-4147-A177-3AD203B41FA5}">
                      <a16:colId xmlns:a16="http://schemas.microsoft.com/office/drawing/2014/main" val="2437098716"/>
                    </a:ext>
                  </a:extLst>
                </a:gridCol>
              </a:tblGrid>
              <a:tr h="1074075">
                <a:tc>
                  <a:txBody>
                    <a:bodyPr/>
                    <a:lstStyle/>
                    <a:p>
                      <a:pPr algn="r">
                        <a:buNone/>
                      </a:pPr>
                      <a:r>
                        <a:rPr lang="en-IN" sz="1800"/>
                        <a:t>A</a:t>
                      </a:r>
                    </a:p>
                  </a:txBody>
                  <a:tcPr marL="90653" marR="90653" marT="45326" marB="45326" anchor="ctr">
                    <a:lnL>
                      <a:noFill/>
                    </a:lnL>
                    <a:lnR>
                      <a:noFill/>
                    </a:lnR>
                    <a:lnT>
                      <a:noFill/>
                    </a:lnT>
                    <a:lnB>
                      <a:noFill/>
                    </a:lnB>
                    <a:noFill/>
                  </a:tcPr>
                </a:tc>
                <a:tc>
                  <a:txBody>
                    <a:bodyPr/>
                    <a:lstStyle/>
                    <a:p>
                      <a:pPr algn="r">
                        <a:buNone/>
                      </a:pPr>
                      <a:r>
                        <a:rPr lang="en-IN" sz="1800"/>
                        <a:t>B</a:t>
                      </a:r>
                    </a:p>
                  </a:txBody>
                  <a:tcPr marL="90653" marR="90653" marT="45326" marB="45326" anchor="ctr">
                    <a:lnL>
                      <a:noFill/>
                    </a:lnL>
                    <a:lnR>
                      <a:noFill/>
                    </a:lnR>
                    <a:lnT>
                      <a:noFill/>
                    </a:lnT>
                    <a:lnB>
                      <a:noFill/>
                    </a:lnB>
                    <a:noFill/>
                  </a:tcPr>
                </a:tc>
                <a:tc>
                  <a:txBody>
                    <a:bodyPr/>
                    <a:lstStyle/>
                    <a:p>
                      <a:pPr algn="r">
                        <a:buNone/>
                      </a:pPr>
                      <a:r>
                        <a:rPr lang="en-IN" sz="1800"/>
                        <a:t>C</a:t>
                      </a:r>
                    </a:p>
                  </a:txBody>
                  <a:tcPr marL="90653" marR="90653" marT="45326" marB="45326" anchor="ctr">
                    <a:lnL>
                      <a:noFill/>
                    </a:lnL>
                    <a:lnR>
                      <a:noFill/>
                    </a:lnR>
                    <a:lnT>
                      <a:noFill/>
                    </a:lnT>
                    <a:lnB>
                      <a:noFill/>
                    </a:lnB>
                    <a:noFill/>
                  </a:tcPr>
                </a:tc>
                <a:tc>
                  <a:txBody>
                    <a:bodyPr/>
                    <a:lstStyle/>
                    <a:p>
                      <a:pPr algn="ctr">
                        <a:buNone/>
                      </a:pPr>
                      <a:r>
                        <a:rPr lang="en-IN" sz="1800"/>
                        <a:t>A·B</a:t>
                      </a:r>
                    </a:p>
                  </a:txBody>
                  <a:tcPr marL="90653" marR="90653" marT="45326" marB="45326" anchor="ctr">
                    <a:lnL>
                      <a:noFill/>
                    </a:lnL>
                    <a:lnR>
                      <a:noFill/>
                    </a:lnR>
                    <a:lnT>
                      <a:noFill/>
                    </a:lnT>
                    <a:lnB>
                      <a:noFill/>
                    </a:lnB>
                    <a:noFill/>
                  </a:tcPr>
                </a:tc>
                <a:tc>
                  <a:txBody>
                    <a:bodyPr/>
                    <a:lstStyle/>
                    <a:p>
                      <a:pPr algn="ctr">
                        <a:buNone/>
                      </a:pPr>
                      <a:r>
                        <a:rPr lang="en-IN" sz="1800"/>
                        <a:t>(A·B)'</a:t>
                      </a:r>
                    </a:p>
                  </a:txBody>
                  <a:tcPr marL="90653" marR="90653" marT="45326" marB="45326" anchor="ctr">
                    <a:lnL>
                      <a:noFill/>
                    </a:lnL>
                    <a:lnR>
                      <a:noFill/>
                    </a:lnR>
                    <a:lnT>
                      <a:noFill/>
                    </a:lnT>
                    <a:lnB>
                      <a:noFill/>
                    </a:lnB>
                    <a:noFill/>
                  </a:tcPr>
                </a:tc>
                <a:tc>
                  <a:txBody>
                    <a:bodyPr/>
                    <a:lstStyle/>
                    <a:p>
                      <a:pPr algn="ctr">
                        <a:buNone/>
                      </a:pPr>
                      <a:r>
                        <a:rPr lang="en-IN" sz="1800"/>
                        <a:t>A + B</a:t>
                      </a:r>
                    </a:p>
                  </a:txBody>
                  <a:tcPr marL="90653" marR="90653" marT="45326" marB="45326" anchor="ctr">
                    <a:lnL>
                      <a:noFill/>
                    </a:lnL>
                    <a:lnR>
                      <a:noFill/>
                    </a:lnR>
                    <a:lnT>
                      <a:noFill/>
                    </a:lnT>
                    <a:lnB>
                      <a:noFill/>
                    </a:lnB>
                    <a:noFill/>
                  </a:tcPr>
                </a:tc>
                <a:tc>
                  <a:txBody>
                    <a:bodyPr/>
                    <a:lstStyle/>
                    <a:p>
                      <a:pPr algn="ctr">
                        <a:buNone/>
                      </a:pPr>
                      <a:r>
                        <a:rPr lang="en-IN" sz="1800"/>
                        <a:t>(A + B)'</a:t>
                      </a:r>
                    </a:p>
                  </a:txBody>
                  <a:tcPr marL="90653" marR="90653" marT="45326" marB="45326" anchor="ctr">
                    <a:lnL>
                      <a:noFill/>
                    </a:lnL>
                    <a:lnR>
                      <a:noFill/>
                    </a:lnR>
                    <a:lnT>
                      <a:noFill/>
                    </a:lnT>
                    <a:lnB>
                      <a:noFill/>
                    </a:lnB>
                    <a:noFill/>
                  </a:tcPr>
                </a:tc>
                <a:tc>
                  <a:txBody>
                    <a:bodyPr/>
                    <a:lstStyle/>
                    <a:p>
                      <a:pPr algn="ctr">
                        <a:buNone/>
                      </a:pPr>
                      <a:r>
                        <a:rPr lang="pt-BR" sz="1800"/>
                        <a:t>Q = (A·B)'·(A+B)'·C</a:t>
                      </a:r>
                    </a:p>
                  </a:txBody>
                  <a:tcPr marL="90653" marR="90653" marT="45326" marB="45326" anchor="ctr">
                    <a:lnL>
                      <a:noFill/>
                    </a:lnL>
                    <a:lnR>
                      <a:noFill/>
                    </a:lnR>
                    <a:lnT>
                      <a:noFill/>
                    </a:lnT>
                    <a:lnB>
                      <a:noFill/>
                    </a:lnB>
                    <a:noFill/>
                  </a:tcPr>
                </a:tc>
                <a:extLst>
                  <a:ext uri="{0D108BD9-81ED-4DB2-BD59-A6C34878D82A}">
                    <a16:rowId xmlns:a16="http://schemas.microsoft.com/office/drawing/2014/main" val="2390407348"/>
                  </a:ext>
                </a:extLst>
              </a:tr>
              <a:tr h="432427">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1·1·0 = </a:t>
                      </a:r>
                      <a:r>
                        <a:rPr lang="en-IN" sz="1800" b="1"/>
                        <a:t>0</a:t>
                      </a:r>
                      <a:endParaRPr lang="en-IN" sz="1800"/>
                    </a:p>
                  </a:txBody>
                  <a:tcPr marL="90653" marR="90653" marT="45326" marB="45326" anchor="ctr">
                    <a:lnL>
                      <a:noFill/>
                    </a:lnL>
                    <a:lnR>
                      <a:noFill/>
                    </a:lnR>
                    <a:lnT>
                      <a:noFill/>
                    </a:lnT>
                    <a:lnB>
                      <a:noFill/>
                    </a:lnB>
                    <a:noFill/>
                  </a:tcPr>
                </a:tc>
                <a:extLst>
                  <a:ext uri="{0D108BD9-81ED-4DB2-BD59-A6C34878D82A}">
                    <a16:rowId xmlns:a16="http://schemas.microsoft.com/office/drawing/2014/main" val="169272284"/>
                  </a:ext>
                </a:extLst>
              </a:tr>
              <a:tr h="1074075">
                <a:tc>
                  <a:txBody>
                    <a:bodyPr/>
                    <a:lstStyle/>
                    <a:p>
                      <a:pPr algn="r">
                        <a:buNone/>
                      </a:pPr>
                      <a:r>
                        <a:rPr lang="en-IN" sz="1800" dirty="0">
                          <a:solidFill>
                            <a:srgbClr val="FF0000"/>
                          </a:solidFill>
                        </a:rPr>
                        <a:t>0</a:t>
                      </a:r>
                    </a:p>
                  </a:txBody>
                  <a:tcPr marL="90653" marR="90653" marT="45326" marB="45326" anchor="ctr">
                    <a:lnL>
                      <a:noFill/>
                    </a:lnL>
                    <a:lnR>
                      <a:noFill/>
                    </a:lnR>
                    <a:lnT>
                      <a:noFill/>
                    </a:lnT>
                    <a:lnB>
                      <a:noFill/>
                    </a:lnB>
                    <a:noFill/>
                  </a:tcPr>
                </a:tc>
                <a:tc>
                  <a:txBody>
                    <a:bodyPr/>
                    <a:lstStyle/>
                    <a:p>
                      <a:pPr algn="r">
                        <a:buNone/>
                      </a:pPr>
                      <a:r>
                        <a:rPr lang="en-IN" sz="1800" dirty="0">
                          <a:solidFill>
                            <a:srgbClr val="FF0000"/>
                          </a:solidFill>
                        </a:rPr>
                        <a:t>0</a:t>
                      </a:r>
                    </a:p>
                  </a:txBody>
                  <a:tcPr marL="90653" marR="90653" marT="45326" marB="45326" anchor="ctr">
                    <a:lnL>
                      <a:noFill/>
                    </a:lnL>
                    <a:lnR>
                      <a:noFill/>
                    </a:lnR>
                    <a:lnT>
                      <a:noFill/>
                    </a:lnT>
                    <a:lnB>
                      <a:noFill/>
                    </a:lnB>
                    <a:noFill/>
                  </a:tcPr>
                </a:tc>
                <a:tc>
                  <a:txBody>
                    <a:bodyPr/>
                    <a:lstStyle/>
                    <a:p>
                      <a:pPr algn="r">
                        <a:buNone/>
                      </a:pPr>
                      <a:r>
                        <a:rPr lang="en-IN" sz="1800" dirty="0">
                          <a:solidFill>
                            <a:srgbClr val="FF0000"/>
                          </a:solidFill>
                        </a:rPr>
                        <a:t>1</a:t>
                      </a:r>
                    </a:p>
                  </a:txBody>
                  <a:tcPr marL="90653" marR="90653" marT="45326" marB="45326" anchor="ctr">
                    <a:lnL>
                      <a:noFill/>
                    </a:lnL>
                    <a:lnR>
                      <a:noFill/>
                    </a:lnR>
                    <a:lnT>
                      <a:noFill/>
                    </a:lnT>
                    <a:lnB>
                      <a:noFill/>
                    </a:lnB>
                    <a:noFill/>
                  </a:tcPr>
                </a:tc>
                <a:tc>
                  <a:txBody>
                    <a:bodyPr/>
                    <a:lstStyle/>
                    <a:p>
                      <a:pPr algn="ctr">
                        <a:buNone/>
                      </a:pPr>
                      <a:r>
                        <a:rPr lang="en-IN" sz="1800" dirty="0">
                          <a:solidFill>
                            <a:srgbClr val="FF0000"/>
                          </a:solidFill>
                        </a:rPr>
                        <a:t>0</a:t>
                      </a:r>
                    </a:p>
                  </a:txBody>
                  <a:tcPr marL="90653" marR="90653" marT="45326" marB="45326" anchor="ctr">
                    <a:lnL>
                      <a:noFill/>
                    </a:lnL>
                    <a:lnR>
                      <a:noFill/>
                    </a:lnR>
                    <a:lnT>
                      <a:noFill/>
                    </a:lnT>
                    <a:lnB>
                      <a:noFill/>
                    </a:lnB>
                    <a:noFill/>
                  </a:tcPr>
                </a:tc>
                <a:tc>
                  <a:txBody>
                    <a:bodyPr/>
                    <a:lstStyle/>
                    <a:p>
                      <a:pPr algn="ctr">
                        <a:buNone/>
                      </a:pPr>
                      <a:r>
                        <a:rPr lang="en-IN" sz="1800" dirty="0">
                          <a:solidFill>
                            <a:srgbClr val="FF0000"/>
                          </a:solidFill>
                        </a:rPr>
                        <a:t>1</a:t>
                      </a:r>
                    </a:p>
                  </a:txBody>
                  <a:tcPr marL="90653" marR="90653" marT="45326" marB="45326" anchor="ctr">
                    <a:lnL>
                      <a:noFill/>
                    </a:lnL>
                    <a:lnR>
                      <a:noFill/>
                    </a:lnR>
                    <a:lnT>
                      <a:noFill/>
                    </a:lnT>
                    <a:lnB>
                      <a:noFill/>
                    </a:lnB>
                    <a:noFill/>
                  </a:tcPr>
                </a:tc>
                <a:tc>
                  <a:txBody>
                    <a:bodyPr/>
                    <a:lstStyle/>
                    <a:p>
                      <a:pPr algn="ctr">
                        <a:buNone/>
                      </a:pPr>
                      <a:r>
                        <a:rPr lang="en-IN" sz="1800" dirty="0">
                          <a:solidFill>
                            <a:srgbClr val="FF0000"/>
                          </a:solidFill>
                        </a:rPr>
                        <a:t>0</a:t>
                      </a:r>
                    </a:p>
                  </a:txBody>
                  <a:tcPr marL="90653" marR="90653" marT="45326" marB="45326" anchor="ctr">
                    <a:lnL>
                      <a:noFill/>
                    </a:lnL>
                    <a:lnR>
                      <a:noFill/>
                    </a:lnR>
                    <a:lnT>
                      <a:noFill/>
                    </a:lnT>
                    <a:lnB>
                      <a:noFill/>
                    </a:lnB>
                    <a:noFill/>
                  </a:tcPr>
                </a:tc>
                <a:tc>
                  <a:txBody>
                    <a:bodyPr/>
                    <a:lstStyle/>
                    <a:p>
                      <a:pPr algn="ctr">
                        <a:buNone/>
                      </a:pPr>
                      <a:r>
                        <a:rPr lang="en-IN" sz="1800" dirty="0">
                          <a:solidFill>
                            <a:srgbClr val="FF0000"/>
                          </a:solidFill>
                        </a:rPr>
                        <a:t>1</a:t>
                      </a:r>
                    </a:p>
                  </a:txBody>
                  <a:tcPr marL="90653" marR="90653" marT="45326" marB="45326" anchor="ctr">
                    <a:lnL>
                      <a:noFill/>
                    </a:lnL>
                    <a:lnR>
                      <a:noFill/>
                    </a:lnR>
                    <a:lnT>
                      <a:noFill/>
                    </a:lnT>
                    <a:lnB>
                      <a:noFill/>
                    </a:lnB>
                    <a:noFill/>
                  </a:tcPr>
                </a:tc>
                <a:tc>
                  <a:txBody>
                    <a:bodyPr/>
                    <a:lstStyle/>
                    <a:p>
                      <a:pPr algn="ctr">
                        <a:buNone/>
                      </a:pPr>
                      <a:r>
                        <a:rPr lang="en-US" sz="1800" dirty="0">
                          <a:solidFill>
                            <a:srgbClr val="FF0000"/>
                          </a:solidFill>
                        </a:rPr>
                        <a:t>1·1·1 = </a:t>
                      </a:r>
                      <a:r>
                        <a:rPr lang="en-US" sz="1800" b="1" dirty="0">
                          <a:solidFill>
                            <a:srgbClr val="FF0000"/>
                          </a:solidFill>
                        </a:rPr>
                        <a:t>1</a:t>
                      </a:r>
                      <a:r>
                        <a:rPr lang="en-US" sz="1800" dirty="0">
                          <a:solidFill>
                            <a:srgbClr val="FF0000"/>
                          </a:solidFill>
                        </a:rPr>
                        <a:t> ← </a:t>
                      </a:r>
                      <a:r>
                        <a:rPr lang="en-US" sz="1800" i="1" dirty="0">
                          <a:solidFill>
                            <a:srgbClr val="FF0000"/>
                          </a:solidFill>
                        </a:rPr>
                        <a:t>only case Q=1</a:t>
                      </a:r>
                      <a:endParaRPr lang="en-US" sz="1800" dirty="0">
                        <a:solidFill>
                          <a:srgbClr val="FF0000"/>
                        </a:solidFill>
                      </a:endParaRPr>
                    </a:p>
                  </a:txBody>
                  <a:tcPr marL="90653" marR="90653" marT="45326" marB="45326" anchor="ctr">
                    <a:lnL>
                      <a:noFill/>
                    </a:lnL>
                    <a:lnR>
                      <a:noFill/>
                    </a:lnR>
                    <a:lnT>
                      <a:noFill/>
                    </a:lnT>
                    <a:lnB>
                      <a:noFill/>
                    </a:lnB>
                    <a:noFill/>
                  </a:tcPr>
                </a:tc>
                <a:extLst>
                  <a:ext uri="{0D108BD9-81ED-4DB2-BD59-A6C34878D82A}">
                    <a16:rowId xmlns:a16="http://schemas.microsoft.com/office/drawing/2014/main" val="1025396482"/>
                  </a:ext>
                </a:extLst>
              </a:tr>
              <a:tr h="432427">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1·0·0 = </a:t>
                      </a:r>
                      <a:r>
                        <a:rPr lang="en-IN" sz="1800" b="1"/>
                        <a:t>0</a:t>
                      </a:r>
                      <a:endParaRPr lang="en-IN" sz="1800"/>
                    </a:p>
                  </a:txBody>
                  <a:tcPr marL="90653" marR="90653" marT="45326" marB="45326" anchor="ctr">
                    <a:lnL>
                      <a:noFill/>
                    </a:lnL>
                    <a:lnR>
                      <a:noFill/>
                    </a:lnR>
                    <a:lnT>
                      <a:noFill/>
                    </a:lnT>
                    <a:lnB>
                      <a:noFill/>
                    </a:lnB>
                    <a:noFill/>
                  </a:tcPr>
                </a:tc>
                <a:extLst>
                  <a:ext uri="{0D108BD9-81ED-4DB2-BD59-A6C34878D82A}">
                    <a16:rowId xmlns:a16="http://schemas.microsoft.com/office/drawing/2014/main" val="2369890991"/>
                  </a:ext>
                </a:extLst>
              </a:tr>
              <a:tr h="432427">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1·0·1 = </a:t>
                      </a:r>
                      <a:r>
                        <a:rPr lang="en-IN" sz="1800" b="1"/>
                        <a:t>0</a:t>
                      </a:r>
                      <a:endParaRPr lang="en-IN" sz="1800"/>
                    </a:p>
                  </a:txBody>
                  <a:tcPr marL="90653" marR="90653" marT="45326" marB="45326" anchor="ctr">
                    <a:lnL>
                      <a:noFill/>
                    </a:lnL>
                    <a:lnR>
                      <a:noFill/>
                    </a:lnR>
                    <a:lnT>
                      <a:noFill/>
                    </a:lnT>
                    <a:lnB>
                      <a:noFill/>
                    </a:lnB>
                    <a:noFill/>
                  </a:tcPr>
                </a:tc>
                <a:extLst>
                  <a:ext uri="{0D108BD9-81ED-4DB2-BD59-A6C34878D82A}">
                    <a16:rowId xmlns:a16="http://schemas.microsoft.com/office/drawing/2014/main" val="281093094"/>
                  </a:ext>
                </a:extLst>
              </a:tr>
              <a:tr h="432427">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1·0·0 = </a:t>
                      </a:r>
                      <a:r>
                        <a:rPr lang="en-IN" sz="1800" b="1"/>
                        <a:t>0</a:t>
                      </a:r>
                      <a:endParaRPr lang="en-IN" sz="1800"/>
                    </a:p>
                  </a:txBody>
                  <a:tcPr marL="90653" marR="90653" marT="45326" marB="45326" anchor="ctr">
                    <a:lnL>
                      <a:noFill/>
                    </a:lnL>
                    <a:lnR>
                      <a:noFill/>
                    </a:lnR>
                    <a:lnT>
                      <a:noFill/>
                    </a:lnT>
                    <a:lnB>
                      <a:noFill/>
                    </a:lnB>
                    <a:noFill/>
                  </a:tcPr>
                </a:tc>
                <a:extLst>
                  <a:ext uri="{0D108BD9-81ED-4DB2-BD59-A6C34878D82A}">
                    <a16:rowId xmlns:a16="http://schemas.microsoft.com/office/drawing/2014/main" val="1989916776"/>
                  </a:ext>
                </a:extLst>
              </a:tr>
              <a:tr h="432427">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1·0·1 = </a:t>
                      </a:r>
                      <a:r>
                        <a:rPr lang="en-IN" sz="1800" b="1"/>
                        <a:t>0</a:t>
                      </a:r>
                      <a:endParaRPr lang="en-IN" sz="1800"/>
                    </a:p>
                  </a:txBody>
                  <a:tcPr marL="90653" marR="90653" marT="45326" marB="45326" anchor="ctr">
                    <a:lnL>
                      <a:noFill/>
                    </a:lnL>
                    <a:lnR>
                      <a:noFill/>
                    </a:lnR>
                    <a:lnT>
                      <a:noFill/>
                    </a:lnT>
                    <a:lnB>
                      <a:noFill/>
                    </a:lnB>
                    <a:noFill/>
                  </a:tcPr>
                </a:tc>
                <a:extLst>
                  <a:ext uri="{0D108BD9-81ED-4DB2-BD59-A6C34878D82A}">
                    <a16:rowId xmlns:a16="http://schemas.microsoft.com/office/drawing/2014/main" val="4151898967"/>
                  </a:ext>
                </a:extLst>
              </a:tr>
              <a:tr h="432427">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0·0·0 = </a:t>
                      </a:r>
                      <a:r>
                        <a:rPr lang="en-IN" sz="1800" b="1"/>
                        <a:t>0</a:t>
                      </a:r>
                      <a:endParaRPr lang="en-IN" sz="1800"/>
                    </a:p>
                  </a:txBody>
                  <a:tcPr marL="90653" marR="90653" marT="45326" marB="45326" anchor="ctr">
                    <a:lnL>
                      <a:noFill/>
                    </a:lnL>
                    <a:lnR>
                      <a:noFill/>
                    </a:lnR>
                    <a:lnT>
                      <a:noFill/>
                    </a:lnT>
                    <a:lnB>
                      <a:noFill/>
                    </a:lnB>
                    <a:noFill/>
                  </a:tcPr>
                </a:tc>
                <a:extLst>
                  <a:ext uri="{0D108BD9-81ED-4DB2-BD59-A6C34878D82A}">
                    <a16:rowId xmlns:a16="http://schemas.microsoft.com/office/drawing/2014/main" val="753208639"/>
                  </a:ext>
                </a:extLst>
              </a:tr>
              <a:tr h="432427">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a:t>1</a:t>
                      </a:r>
                    </a:p>
                  </a:txBody>
                  <a:tcPr marL="90653" marR="90653" marT="45326" marB="45326" anchor="ctr">
                    <a:lnL>
                      <a:noFill/>
                    </a:lnL>
                    <a:lnR>
                      <a:noFill/>
                    </a:lnR>
                    <a:lnT>
                      <a:noFill/>
                    </a:lnT>
                    <a:lnB>
                      <a:noFill/>
                    </a:lnB>
                    <a:noFill/>
                  </a:tcPr>
                </a:tc>
                <a:tc>
                  <a:txBody>
                    <a:bodyPr/>
                    <a:lstStyle/>
                    <a:p>
                      <a:pPr algn="ctr">
                        <a:buNone/>
                      </a:pPr>
                      <a:r>
                        <a:rPr lang="en-IN" sz="1800"/>
                        <a:t>0</a:t>
                      </a:r>
                    </a:p>
                  </a:txBody>
                  <a:tcPr marL="90653" marR="90653" marT="45326" marB="45326" anchor="ctr">
                    <a:lnL>
                      <a:noFill/>
                    </a:lnL>
                    <a:lnR>
                      <a:noFill/>
                    </a:lnR>
                    <a:lnT>
                      <a:noFill/>
                    </a:lnT>
                    <a:lnB>
                      <a:noFill/>
                    </a:lnB>
                    <a:noFill/>
                  </a:tcPr>
                </a:tc>
                <a:tc>
                  <a:txBody>
                    <a:bodyPr/>
                    <a:lstStyle/>
                    <a:p>
                      <a:pPr algn="ctr">
                        <a:buNone/>
                      </a:pPr>
                      <a:r>
                        <a:rPr lang="en-IN" sz="1800" dirty="0"/>
                        <a:t>0·0·1 = </a:t>
                      </a:r>
                      <a:r>
                        <a:rPr lang="en-IN" sz="1800" b="1" dirty="0"/>
                        <a:t>0</a:t>
                      </a:r>
                      <a:endParaRPr lang="en-IN" sz="1800" dirty="0"/>
                    </a:p>
                  </a:txBody>
                  <a:tcPr marL="90653" marR="90653" marT="45326" marB="45326" anchor="ctr">
                    <a:lnL>
                      <a:noFill/>
                    </a:lnL>
                    <a:lnR>
                      <a:noFill/>
                    </a:lnR>
                    <a:lnT>
                      <a:noFill/>
                    </a:lnT>
                    <a:lnB>
                      <a:noFill/>
                    </a:lnB>
                    <a:noFill/>
                  </a:tcPr>
                </a:tc>
                <a:extLst>
                  <a:ext uri="{0D108BD9-81ED-4DB2-BD59-A6C34878D82A}">
                    <a16:rowId xmlns:a16="http://schemas.microsoft.com/office/drawing/2014/main" val="1444863823"/>
                  </a:ext>
                </a:extLst>
              </a:tr>
            </a:tbl>
          </a:graphicData>
        </a:graphic>
      </p:graphicFrame>
    </p:spTree>
    <p:extLst>
      <p:ext uri="{BB962C8B-B14F-4D97-AF65-F5344CB8AC3E}">
        <p14:creationId xmlns:p14="http://schemas.microsoft.com/office/powerpoint/2010/main" val="167546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5A9486-E0E3-FF28-8EA2-634F1504FB64}"/>
              </a:ext>
            </a:extLst>
          </p:cNvPr>
          <p:cNvSpPr txBox="1"/>
          <p:nvPr/>
        </p:nvSpPr>
        <p:spPr>
          <a:xfrm>
            <a:off x="948128" y="632298"/>
            <a:ext cx="6093500" cy="369332"/>
          </a:xfrm>
          <a:prstGeom prst="rect">
            <a:avLst/>
          </a:prstGeom>
          <a:noFill/>
        </p:spPr>
        <p:txBody>
          <a:bodyPr wrap="square">
            <a:spAutoFit/>
          </a:bodyPr>
          <a:lstStyle/>
          <a:p>
            <a:r>
              <a:rPr lang="en-IN" i="0" dirty="0">
                <a:solidFill>
                  <a:srgbClr val="000000"/>
                </a:solidFill>
                <a:effectLst/>
                <a:latin typeface="Raleway" pitchFamily="2" charset="0"/>
              </a:rPr>
              <a:t>3)F=((C'.B.A)'(D'.C.A)'(C.B'.A)')'</a:t>
            </a:r>
            <a:endParaRPr lang="en-IN" dirty="0"/>
          </a:p>
        </p:txBody>
      </p:sp>
      <p:pic>
        <p:nvPicPr>
          <p:cNvPr id="5" name="Picture 4">
            <a:extLst>
              <a:ext uri="{FF2B5EF4-FFF2-40B4-BE49-F238E27FC236}">
                <a16:creationId xmlns:a16="http://schemas.microsoft.com/office/drawing/2014/main" id="{5BA3C12B-1FDA-EC9F-C873-454C477F185E}"/>
              </a:ext>
            </a:extLst>
          </p:cNvPr>
          <p:cNvPicPr>
            <a:picLocks noChangeAspect="1"/>
          </p:cNvPicPr>
          <p:nvPr/>
        </p:nvPicPr>
        <p:blipFill>
          <a:blip r:embed="rId2"/>
          <a:stretch>
            <a:fillRect/>
          </a:stretch>
        </p:blipFill>
        <p:spPr>
          <a:xfrm>
            <a:off x="1304144" y="1486525"/>
            <a:ext cx="8829207" cy="4104806"/>
          </a:xfrm>
          <a:prstGeom prst="rect">
            <a:avLst/>
          </a:prstGeom>
        </p:spPr>
      </p:pic>
    </p:spTree>
    <p:extLst>
      <p:ext uri="{BB962C8B-B14F-4D97-AF65-F5344CB8AC3E}">
        <p14:creationId xmlns:p14="http://schemas.microsoft.com/office/powerpoint/2010/main" val="2292264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7740" y="223520"/>
            <a:ext cx="10972800" cy="635000"/>
          </a:xfrm>
        </p:spPr>
        <p:txBody>
          <a:bodyPr>
            <a:noAutofit/>
          </a:bodyPr>
          <a:lstStyle/>
          <a:p>
            <a:r>
              <a:rPr lang="en-US" sz="4400" dirty="0">
                <a:latin typeface="Times New Roman" panose="02020603050405020304" pitchFamily="18" charset="0"/>
                <a:cs typeface="Times New Roman" panose="02020603050405020304" pitchFamily="18" charset="0"/>
                <a:sym typeface="+mn-ea"/>
              </a:rPr>
              <a:t>Half Adder:</a:t>
            </a:r>
          </a:p>
        </p:txBody>
      </p:sp>
      <p:sp>
        <p:nvSpPr>
          <p:cNvPr id="3" name="Content Placeholder 2"/>
          <p:cNvSpPr>
            <a:spLocks noGrp="1"/>
          </p:cNvSpPr>
          <p:nvPr>
            <p:ph idx="1"/>
          </p:nvPr>
        </p:nvSpPr>
        <p:spPr>
          <a:xfrm>
            <a:off x="431165" y="858520"/>
            <a:ext cx="11330940" cy="5729605"/>
          </a:xfrm>
        </p:spPr>
        <p:txBody>
          <a:bodyPr>
            <a:noAutofit/>
          </a:bodyPr>
          <a:lstStyle/>
          <a:p>
            <a:r>
              <a:rPr lang="en-US" sz="3100" dirty="0">
                <a:latin typeface="Times New Roman" panose="02020603050405020304" pitchFamily="18" charset="0"/>
                <a:cs typeface="Times New Roman" panose="02020603050405020304" pitchFamily="18" charset="0"/>
                <a:sym typeface="+mn-ea"/>
              </a:rPr>
              <a:t>It is the basic building block for addition of two single bit numbers.</a:t>
            </a:r>
          </a:p>
          <a:p>
            <a:r>
              <a:rPr lang="en-US" sz="3100" dirty="0">
                <a:latin typeface="Times New Roman" panose="02020603050405020304" pitchFamily="18" charset="0"/>
                <a:cs typeface="Times New Roman" panose="02020603050405020304" pitchFamily="18" charset="0"/>
                <a:sym typeface="+mn-ea"/>
              </a:rPr>
              <a:t>Half adder is a combinational logic circuit with two inputs and two outputs.</a:t>
            </a:r>
          </a:p>
          <a:p>
            <a:r>
              <a:rPr lang="en-US" sz="3100" dirty="0">
                <a:latin typeface="Times New Roman" panose="02020603050405020304" pitchFamily="18" charset="0"/>
                <a:cs typeface="Times New Roman" panose="02020603050405020304" pitchFamily="18" charset="0"/>
                <a:sym typeface="+mn-ea"/>
              </a:rPr>
              <a:t>The half adder circuit is designed to add two single bit binary number A and B and two outputs carry and sum .</a:t>
            </a:r>
          </a:p>
          <a:p>
            <a:pPr marL="15240" indent="0">
              <a:buNone/>
            </a:pPr>
            <a:r>
              <a:rPr lang="en-US" sz="3100" dirty="0">
                <a:latin typeface="Times New Roman" panose="02020603050405020304" pitchFamily="18" charset="0"/>
                <a:cs typeface="Times New Roman" panose="02020603050405020304" pitchFamily="18" charset="0"/>
                <a:sym typeface="+mn-ea"/>
              </a:rPr>
              <a:t>      </a:t>
            </a:r>
            <a:r>
              <a:rPr lang="en-US" sz="3100" b="1" dirty="0">
                <a:latin typeface="Times New Roman" panose="02020603050405020304" pitchFamily="18" charset="0"/>
                <a:cs typeface="Times New Roman" panose="02020603050405020304" pitchFamily="18" charset="0"/>
                <a:sym typeface="+mn-ea"/>
              </a:rPr>
              <a:t>Block diagram</a:t>
            </a:r>
            <a:r>
              <a:rPr lang="en-US" sz="3100" dirty="0">
                <a:latin typeface="Times New Roman" panose="02020603050405020304" pitchFamily="18" charset="0"/>
                <a:cs typeface="Times New Roman" panose="02020603050405020304" pitchFamily="18" charset="0"/>
                <a:sym typeface="+mn-ea"/>
              </a:rPr>
              <a:t>                     </a:t>
            </a:r>
            <a:r>
              <a:rPr lang="en-US" sz="3100" b="1" dirty="0">
                <a:latin typeface="Times New Roman" panose="02020603050405020304" pitchFamily="18" charset="0"/>
                <a:cs typeface="Times New Roman" panose="02020603050405020304" pitchFamily="18" charset="0"/>
                <a:sym typeface="+mn-ea"/>
              </a:rPr>
              <a:t>Truth Table</a:t>
            </a:r>
            <a:r>
              <a:rPr lang="en-US" sz="3100" dirty="0">
                <a:latin typeface="Times New Roman" panose="02020603050405020304" pitchFamily="18" charset="0"/>
                <a:cs typeface="Times New Roman" panose="02020603050405020304" pitchFamily="18" charset="0"/>
                <a:sym typeface="+mn-ea"/>
              </a:rPr>
              <a:t>             </a:t>
            </a:r>
            <a:r>
              <a:rPr lang="en-US" sz="3100" b="1" dirty="0">
                <a:latin typeface="Times New Roman" panose="02020603050405020304" pitchFamily="18" charset="0"/>
                <a:cs typeface="Times New Roman" panose="02020603050405020304" pitchFamily="18" charset="0"/>
                <a:sym typeface="+mn-ea"/>
              </a:rPr>
              <a:t>Logic Diagram</a:t>
            </a:r>
            <a:endParaRPr lang="en-US" sz="3100" dirty="0">
              <a:latin typeface="Times New Roman" panose="02020603050405020304" pitchFamily="18" charset="0"/>
              <a:cs typeface="Times New Roman" panose="02020603050405020304" pitchFamily="18" charset="0"/>
              <a:sym typeface="+mn-ea"/>
            </a:endParaRPr>
          </a:p>
          <a:p>
            <a:endParaRPr lang="en-US" sz="3100" dirty="0">
              <a:latin typeface="Times New Roman" panose="02020603050405020304" pitchFamily="18" charset="0"/>
              <a:cs typeface="Times New Roman" panose="02020603050405020304" pitchFamily="18" charset="0"/>
              <a:sym typeface="+mn-ea"/>
            </a:endParaRPr>
          </a:p>
          <a:p>
            <a:endParaRPr lang="en-US" sz="3100" dirty="0">
              <a:latin typeface="Times New Roman" panose="02020603050405020304" pitchFamily="18" charset="0"/>
              <a:cs typeface="Times New Roman" panose="02020603050405020304" pitchFamily="18" charset="0"/>
              <a:sym typeface="+mn-ea"/>
            </a:endParaRPr>
          </a:p>
          <a:p>
            <a:endParaRPr lang="en-US" sz="3100" dirty="0">
              <a:latin typeface="Times New Roman" panose="02020603050405020304" pitchFamily="18" charset="0"/>
              <a:cs typeface="Times New Roman" panose="02020603050405020304" pitchFamily="18" charset="0"/>
              <a:sym typeface="+mn-ea"/>
            </a:endParaRPr>
          </a:p>
          <a:p>
            <a:pPr marL="15240" indent="0">
              <a:buNone/>
            </a:pPr>
            <a:endParaRPr lang="en-US" sz="3100" dirty="0">
              <a:latin typeface="Times New Roman" panose="02020603050405020304" pitchFamily="18" charset="0"/>
              <a:cs typeface="Times New Roman" panose="02020603050405020304" pitchFamily="18" charset="0"/>
              <a:sym typeface="+mn-ea"/>
            </a:endParaRPr>
          </a:p>
        </p:txBody>
      </p:sp>
      <p:grpSp>
        <p:nvGrpSpPr>
          <p:cNvPr id="5791" name="Group 5791"/>
          <p:cNvGrpSpPr/>
          <p:nvPr/>
        </p:nvGrpSpPr>
        <p:grpSpPr>
          <a:xfrm>
            <a:off x="814070" y="4162425"/>
            <a:ext cx="11296015" cy="1993900"/>
            <a:chOff x="0" y="0"/>
            <a:chExt cx="10663428" cy="2592324"/>
          </a:xfrm>
        </p:grpSpPr>
        <p:pic>
          <p:nvPicPr>
            <p:cNvPr id="343" name="Picture 343"/>
            <p:cNvPicPr/>
            <p:nvPr/>
          </p:nvPicPr>
          <p:blipFill>
            <a:blip r:embed="rId2"/>
            <a:stretch>
              <a:fillRect/>
            </a:stretch>
          </p:blipFill>
          <p:spPr>
            <a:xfrm>
              <a:off x="0" y="224790"/>
              <a:ext cx="3628644" cy="2367534"/>
            </a:xfrm>
            <a:prstGeom prst="rect">
              <a:avLst/>
            </a:prstGeom>
          </p:spPr>
        </p:pic>
        <p:pic>
          <p:nvPicPr>
            <p:cNvPr id="345" name="Picture 345"/>
            <p:cNvPicPr/>
            <p:nvPr/>
          </p:nvPicPr>
          <p:blipFill>
            <a:blip r:embed="rId3"/>
            <a:stretch>
              <a:fillRect/>
            </a:stretch>
          </p:blipFill>
          <p:spPr>
            <a:xfrm>
              <a:off x="3697986" y="0"/>
              <a:ext cx="3291078" cy="2494026"/>
            </a:xfrm>
            <a:prstGeom prst="rect">
              <a:avLst/>
            </a:prstGeom>
          </p:spPr>
        </p:pic>
        <p:pic>
          <p:nvPicPr>
            <p:cNvPr id="347" name="Picture 347"/>
            <p:cNvPicPr/>
            <p:nvPr/>
          </p:nvPicPr>
          <p:blipFill>
            <a:blip r:embed="rId4"/>
            <a:stretch>
              <a:fillRect/>
            </a:stretch>
          </p:blipFill>
          <p:spPr>
            <a:xfrm>
              <a:off x="7371588" y="0"/>
              <a:ext cx="3291840" cy="2237994"/>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sym typeface="+mn-ea"/>
              </a:rPr>
              <a:t>Half adder sum and carry equation is</a:t>
            </a:r>
            <a:endParaRPr lang="en-US"/>
          </a:p>
        </p:txBody>
      </p:sp>
      <p:sp>
        <p:nvSpPr>
          <p:cNvPr id="3" name="Content Placeholder 2"/>
          <p:cNvSpPr>
            <a:spLocks noGrp="1"/>
          </p:cNvSpPr>
          <p:nvPr>
            <p:ph idx="1"/>
          </p:nvPr>
        </p:nvSpPr>
        <p:spPr>
          <a:xfrm>
            <a:off x="609600" y="1268095"/>
            <a:ext cx="10972800" cy="4858385"/>
          </a:xfrm>
        </p:spPr>
        <p:txBody>
          <a:bodyPr/>
          <a:lstStyle/>
          <a:p>
            <a:r>
              <a:rPr lang="en-US" sz="2800" dirty="0">
                <a:latin typeface="Times New Roman" panose="02020603050405020304" pitchFamily="18" charset="0"/>
                <a:cs typeface="Times New Roman" panose="02020603050405020304" pitchFamily="18" charset="0"/>
              </a:rPr>
              <a:t>     Sum( S )   =</a:t>
            </a:r>
            <a:r>
              <a:rPr lang="en-US" sz="2800" dirty="0">
                <a:latin typeface="Times New Roman" panose="02020603050405020304" pitchFamily="18" charset="0"/>
                <a:cs typeface="Times New Roman" panose="02020603050405020304" pitchFamily="18" charset="0"/>
                <a:sym typeface="+mn-ea"/>
              </a:rPr>
              <a:t>Σ m (1,2) =</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 ⊕ B</a:t>
            </a:r>
            <a:r>
              <a:rPr lang="en-US" sz="2800" dirty="0">
                <a:latin typeface="Times New Roman" panose="02020603050405020304" pitchFamily="18" charset="0"/>
                <a:cs typeface="Times New Roman" panose="02020603050405020304" pitchFamily="18" charset="0"/>
              </a:rPr>
              <a:t> =A’B+AB’	</a:t>
            </a:r>
          </a:p>
          <a:p>
            <a:r>
              <a:rPr lang="en-US" sz="2800" dirty="0">
                <a:latin typeface="Times New Roman" panose="02020603050405020304" pitchFamily="18" charset="0"/>
                <a:cs typeface="Times New Roman" panose="02020603050405020304" pitchFamily="18" charset="0"/>
              </a:rPr>
              <a:t>    Carry( C ) = </a:t>
            </a:r>
            <a:r>
              <a:rPr lang="en-US" sz="2800" dirty="0">
                <a:latin typeface="Times New Roman" panose="02020603050405020304" pitchFamily="18" charset="0"/>
                <a:cs typeface="Times New Roman" panose="02020603050405020304" pitchFamily="18" charset="0"/>
                <a:sym typeface="+mn-ea"/>
              </a:rPr>
              <a:t>Σ m (3)  =</a:t>
            </a:r>
            <a:r>
              <a:rPr lang="en-US" sz="2800" b="1" dirty="0">
                <a:latin typeface="Times New Roman" panose="02020603050405020304" pitchFamily="18" charset="0"/>
                <a:cs typeface="Times New Roman" panose="02020603050405020304" pitchFamily="18" charset="0"/>
              </a:rPr>
              <a:t>A.B</a:t>
            </a:r>
            <a:endParaRPr lang="en-US" sz="2800" dirty="0">
              <a:latin typeface="Times New Roman" panose="02020603050405020304" pitchFamily="18" charset="0"/>
              <a:cs typeface="Times New Roman" panose="02020603050405020304" pitchFamily="18" charset="0"/>
            </a:endParaRPr>
          </a:p>
          <a:p>
            <a:pPr marL="15240" indent="0">
              <a:buNone/>
            </a:pPr>
            <a:endParaRPr lang="en-US" sz="2800" dirty="0">
              <a:latin typeface="Times New Roman" panose="02020603050405020304" pitchFamily="18" charset="0"/>
              <a:cs typeface="Times New Roman" panose="02020603050405020304" pitchFamily="18" charset="0"/>
            </a:endParaRPr>
          </a:p>
        </p:txBody>
      </p:sp>
      <p:graphicFrame>
        <p:nvGraphicFramePr>
          <p:cNvPr id="4" name="Object 3"/>
          <p:cNvGraphicFramePr/>
          <p:nvPr/>
        </p:nvGraphicFramePr>
        <p:xfrm>
          <a:off x="2286000" y="2746375"/>
          <a:ext cx="6048375" cy="2967355"/>
        </p:xfrm>
        <a:graphic>
          <a:graphicData uri="http://schemas.openxmlformats.org/presentationml/2006/ole">
            <mc:AlternateContent xmlns:mc="http://schemas.openxmlformats.org/markup-compatibility/2006">
              <mc:Choice xmlns:v="urn:schemas-microsoft-com:vml" Requires="v">
                <p:oleObj r:id="rId2" imgW="3209925" imgH="2009775" progId="Paint.Picture">
                  <p:embed/>
                </p:oleObj>
              </mc:Choice>
              <mc:Fallback>
                <p:oleObj r:id="rId2" imgW="3209925" imgH="2009775" progId="Paint.Picture">
                  <p:embed/>
                  <p:pic>
                    <p:nvPicPr>
                      <p:cNvPr id="4" name="Object 3"/>
                      <p:cNvPicPr/>
                      <p:nvPr/>
                    </p:nvPicPr>
                    <p:blipFill>
                      <a:blip r:embed="rId3"/>
                      <a:stretch>
                        <a:fillRect/>
                      </a:stretch>
                    </p:blipFill>
                    <p:spPr>
                      <a:xfrm>
                        <a:off x="2286000" y="2746375"/>
                        <a:ext cx="6048375" cy="2967355"/>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2640" y="-99060"/>
            <a:ext cx="11003280" cy="1143000"/>
          </a:xfrm>
        </p:spPr>
        <p:txBody>
          <a:bodyPr/>
          <a:lstStyle/>
          <a:p>
            <a:r>
              <a:rPr lang="en-US">
                <a:latin typeface="Times New Roman" panose="02020603050405020304" pitchFamily="18" charset="0"/>
                <a:cs typeface="Times New Roman" panose="02020603050405020304" pitchFamily="18" charset="0"/>
                <a:sym typeface="+mn-ea"/>
              </a:rPr>
              <a:t>Full Adder:</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868045"/>
            <a:ext cx="11196320" cy="5750560"/>
          </a:xfrm>
        </p:spPr>
        <p:txBody>
          <a:bodyPr/>
          <a:lstStyle/>
          <a:p>
            <a:r>
              <a:rPr lang="en-US" sz="3200">
                <a:latin typeface="Times New Roman" panose="02020603050405020304" pitchFamily="18" charset="0"/>
                <a:cs typeface="Times New Roman" panose="02020603050405020304" pitchFamily="18" charset="0"/>
              </a:rPr>
              <a:t>Full adder is developed to overcome the drawback of Half Adder circuit. It can add two one-bit numbers A and B, and carry C</a:t>
            </a:r>
            <a:r>
              <a:rPr lang="en-US" sz="3200" baseline="-25000">
                <a:latin typeface="Times New Roman" panose="02020603050405020304" pitchFamily="18" charset="0"/>
                <a:cs typeface="Times New Roman" panose="02020603050405020304" pitchFamily="18" charset="0"/>
              </a:rPr>
              <a:t>IN</a:t>
            </a:r>
            <a:r>
              <a:rPr lang="en-US" sz="3200">
                <a:latin typeface="Times New Roman" panose="02020603050405020304" pitchFamily="18" charset="0"/>
                <a:cs typeface="Times New Roman" panose="02020603050405020304" pitchFamily="18" charset="0"/>
              </a:rPr>
              <a:t>. </a:t>
            </a:r>
          </a:p>
          <a:p>
            <a:r>
              <a:rPr lang="en-US" sz="3200">
                <a:latin typeface="Times New Roman" panose="02020603050405020304" pitchFamily="18" charset="0"/>
                <a:cs typeface="Times New Roman" panose="02020603050405020304" pitchFamily="18" charset="0"/>
              </a:rPr>
              <a:t>The full adder is a three input and two output combinational circuit.			</a:t>
            </a:r>
          </a:p>
          <a:p>
            <a:pPr marL="3215640" lvl="7" indent="457200">
              <a:buNone/>
            </a:pPr>
            <a:r>
              <a:rPr lang="en-US" sz="3200" b="1">
                <a:latin typeface="Times New Roman" panose="02020603050405020304" pitchFamily="18" charset="0"/>
                <a:cs typeface="Times New Roman" panose="02020603050405020304" pitchFamily="18" charset="0"/>
              </a:rPr>
              <a:t>Block diagram</a:t>
            </a:r>
          </a:p>
        </p:txBody>
      </p:sp>
      <p:pic>
        <p:nvPicPr>
          <p:cNvPr id="396" name="Picture 396" descr="A diagram of a full adder&#10;&#10;Description automatically generated"/>
          <p:cNvPicPr/>
          <p:nvPr/>
        </p:nvPicPr>
        <p:blipFill>
          <a:blip r:embed="rId2"/>
          <a:stretch>
            <a:fillRect/>
          </a:stretch>
        </p:blipFill>
        <p:spPr>
          <a:xfrm>
            <a:off x="4070985" y="3970020"/>
            <a:ext cx="3864610" cy="23241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89CA906-CE08-D89B-15D3-ED93A2D00D37}"/>
              </a:ext>
            </a:extLst>
          </p:cNvPr>
          <p:cNvPicPr>
            <a:picLocks noChangeAspect="1"/>
          </p:cNvPicPr>
          <p:nvPr/>
        </p:nvPicPr>
        <p:blipFill>
          <a:blip r:embed="rId2"/>
          <a:stretch>
            <a:fillRect/>
          </a:stretch>
        </p:blipFill>
        <p:spPr>
          <a:xfrm>
            <a:off x="2293495" y="1060638"/>
            <a:ext cx="7150309" cy="5205251"/>
          </a:xfrm>
          <a:prstGeom prst="rect">
            <a:avLst/>
          </a:prstGeom>
        </p:spPr>
      </p:pic>
      <p:sp>
        <p:nvSpPr>
          <p:cNvPr id="4" name="TextBox 3">
            <a:extLst>
              <a:ext uri="{FF2B5EF4-FFF2-40B4-BE49-F238E27FC236}">
                <a16:creationId xmlns:a16="http://schemas.microsoft.com/office/drawing/2014/main" id="{3B12B2DC-DBE4-5390-9110-E7799256A770}"/>
              </a:ext>
            </a:extLst>
          </p:cNvPr>
          <p:cNvSpPr txBox="1"/>
          <p:nvPr/>
        </p:nvSpPr>
        <p:spPr>
          <a:xfrm>
            <a:off x="498424" y="407445"/>
            <a:ext cx="60935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sym typeface="+mn-ea"/>
              </a:rPr>
              <a:t>Truth Table  of Full-Adder:</a:t>
            </a:r>
            <a:endParaRPr lang="en-IN" dirty="0"/>
          </a:p>
        </p:txBody>
      </p:sp>
    </p:spTree>
    <p:extLst>
      <p:ext uri="{BB962C8B-B14F-4D97-AF65-F5344CB8AC3E}">
        <p14:creationId xmlns:p14="http://schemas.microsoft.com/office/powerpoint/2010/main" val="3576789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577" y="354549"/>
            <a:ext cx="11840845" cy="5918835"/>
          </a:xfrm>
        </p:spPr>
        <p:txBody>
          <a:bodyPr>
            <a:normAutofit/>
          </a:bodyPr>
          <a:lstStyle/>
          <a:p>
            <a:pPr marL="15240" indent="0">
              <a:buNone/>
            </a:pPr>
            <a:r>
              <a:rPr lang="en-US" sz="3200" dirty="0">
                <a:latin typeface="Times New Roman" panose="02020603050405020304" pitchFamily="18" charset="0"/>
                <a:cs typeface="Times New Roman" panose="02020603050405020304" pitchFamily="18" charset="0"/>
                <a:sym typeface="+mn-ea"/>
              </a:rPr>
              <a:t>1.'A' and' B' are the input variables. These variables represent the two significant bits which are going to be added.</a:t>
            </a:r>
            <a:endParaRPr lang="en-US" sz="3200" dirty="0">
              <a:latin typeface="Times New Roman" panose="02020603050405020304" pitchFamily="18" charset="0"/>
              <a:cs typeface="Times New Roman" panose="02020603050405020304" pitchFamily="18" charset="0"/>
            </a:endParaRPr>
          </a:p>
          <a:p>
            <a:pPr marL="15240" indent="0">
              <a:buNone/>
            </a:pPr>
            <a:r>
              <a:rPr lang="en-US" sz="3200" dirty="0">
                <a:latin typeface="Times New Roman" panose="02020603050405020304" pitchFamily="18" charset="0"/>
                <a:cs typeface="Times New Roman" panose="02020603050405020304" pitchFamily="18" charset="0"/>
                <a:sym typeface="+mn-ea"/>
              </a:rPr>
              <a:t>2.'Cin' is the third input which represents the carry. </a:t>
            </a:r>
          </a:p>
          <a:p>
            <a:pPr marL="15240" indent="0">
              <a:buNone/>
            </a:pPr>
            <a:r>
              <a:rPr lang="en-US" sz="3200" dirty="0">
                <a:latin typeface="Times New Roman" panose="02020603050405020304" pitchFamily="18" charset="0"/>
                <a:cs typeface="Times New Roman" panose="02020603050405020304" pitchFamily="18" charset="0"/>
                <a:sym typeface="+mn-ea"/>
              </a:rPr>
              <a:t>From the previous lower significant position, the</a:t>
            </a:r>
          </a:p>
          <a:p>
            <a:pPr marL="15240" indent="0">
              <a:buNone/>
            </a:pPr>
            <a:r>
              <a:rPr lang="en-US" sz="3200" dirty="0">
                <a:latin typeface="Times New Roman" panose="02020603050405020304" pitchFamily="18" charset="0"/>
                <a:cs typeface="Times New Roman" panose="02020603050405020304" pitchFamily="18" charset="0"/>
                <a:sym typeface="+mn-ea"/>
              </a:rPr>
              <a:t>carry bit is fetched.</a:t>
            </a:r>
            <a:endParaRPr lang="en-US" sz="3200" dirty="0">
              <a:latin typeface="Times New Roman" panose="02020603050405020304" pitchFamily="18" charset="0"/>
              <a:cs typeface="Times New Roman" panose="02020603050405020304" pitchFamily="18" charset="0"/>
            </a:endParaRPr>
          </a:p>
          <a:p>
            <a:pPr marL="15240" indent="0">
              <a:buNone/>
            </a:pPr>
            <a:r>
              <a:rPr lang="en-US" sz="3200" dirty="0">
                <a:latin typeface="Times New Roman" panose="02020603050405020304" pitchFamily="18" charset="0"/>
                <a:cs typeface="Times New Roman" panose="02020603050405020304" pitchFamily="18" charset="0"/>
                <a:sym typeface="+mn-ea"/>
              </a:rPr>
              <a:t>3.The 'Sum' and 'Carry' are the output variables </a:t>
            </a:r>
          </a:p>
          <a:p>
            <a:pPr marL="15240" indent="0">
              <a:buNone/>
            </a:pPr>
            <a:r>
              <a:rPr lang="en-US" sz="3200" dirty="0">
                <a:latin typeface="Times New Roman" panose="02020603050405020304" pitchFamily="18" charset="0"/>
                <a:cs typeface="Times New Roman" panose="02020603050405020304" pitchFamily="18" charset="0"/>
                <a:sym typeface="+mn-ea"/>
              </a:rPr>
              <a:t>that define the output values.</a:t>
            </a:r>
          </a:p>
          <a:p>
            <a:pPr marL="15240" indent="0">
              <a:buNone/>
            </a:pPr>
            <a:r>
              <a:rPr lang="en-US" sz="3200" dirty="0">
                <a:latin typeface="Times New Roman" panose="02020603050405020304" pitchFamily="18" charset="0"/>
                <a:cs typeface="Times New Roman" panose="02020603050405020304" pitchFamily="18" charset="0"/>
                <a:sym typeface="+mn-ea"/>
              </a:rPr>
              <a:t>4.The eight rows under the input variable designate</a:t>
            </a:r>
          </a:p>
          <a:p>
            <a:pPr marL="15240" indent="0">
              <a:buNone/>
            </a:pPr>
            <a:r>
              <a:rPr lang="en-US" sz="3200" dirty="0">
                <a:latin typeface="Times New Roman" panose="02020603050405020304" pitchFamily="18" charset="0"/>
                <a:cs typeface="Times New Roman" panose="02020603050405020304" pitchFamily="18" charset="0"/>
                <a:sym typeface="+mn-ea"/>
              </a:rPr>
              <a:t>all possible combinations of 0 and 1 that can </a:t>
            </a:r>
          </a:p>
          <a:p>
            <a:pPr marL="15240" indent="0">
              <a:buNone/>
            </a:pPr>
            <a:r>
              <a:rPr lang="en-US" sz="3200" dirty="0">
                <a:latin typeface="Times New Roman" panose="02020603050405020304" pitchFamily="18" charset="0"/>
                <a:cs typeface="Times New Roman" panose="02020603050405020304" pitchFamily="18" charset="0"/>
                <a:sym typeface="+mn-ea"/>
              </a:rPr>
              <a:t>occur in these variables.</a:t>
            </a: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5D37CC-9EE7-3330-5FB1-B051774FB686}"/>
              </a:ext>
            </a:extLst>
          </p:cNvPr>
          <p:cNvSpPr txBox="1"/>
          <p:nvPr/>
        </p:nvSpPr>
        <p:spPr>
          <a:xfrm>
            <a:off x="558383" y="658690"/>
            <a:ext cx="4943008" cy="923330"/>
          </a:xfrm>
          <a:prstGeom prst="rect">
            <a:avLst/>
          </a:prstGeom>
          <a:noFill/>
        </p:spPr>
        <p:txBody>
          <a:bodyPr wrap="square">
            <a:spAutoFit/>
          </a:bodyPr>
          <a:lstStyle/>
          <a:p>
            <a:pPr marL="15240" indent="0">
              <a:buNone/>
            </a:pPr>
            <a:r>
              <a:rPr lang="en-US" dirty="0">
                <a:latin typeface="Times New Roman" panose="02020603050405020304" pitchFamily="18" charset="0"/>
                <a:cs typeface="Times New Roman" panose="02020603050405020304" pitchFamily="18" charset="0"/>
              </a:rPr>
              <a:t>Logical Expression for SUM: =Σ m (1,2,4,7) </a:t>
            </a:r>
          </a:p>
          <a:p>
            <a:pPr marL="15240" indent="0">
              <a:buNone/>
            </a:pPr>
            <a:endParaRPr lang="en-US" dirty="0">
              <a:latin typeface="Times New Roman" panose="02020603050405020304" pitchFamily="18" charset="0"/>
              <a:cs typeface="Times New Roman" panose="02020603050405020304" pitchFamily="18" charset="0"/>
            </a:endParaRPr>
          </a:p>
          <a:p>
            <a:pPr marL="15240" indent="0">
              <a:buNone/>
            </a:pPr>
            <a:r>
              <a:rPr lang="en-US" dirty="0">
                <a:latin typeface="Times New Roman" panose="02020603050405020304" pitchFamily="18" charset="0"/>
                <a:cs typeface="Times New Roman" panose="02020603050405020304" pitchFamily="18" charset="0"/>
              </a:rPr>
              <a:t>= A’ B’ C</a:t>
            </a:r>
            <a:r>
              <a:rPr lang="en-US" baseline="-25000" dirty="0">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 A’ B C’</a:t>
            </a:r>
            <a:r>
              <a:rPr lang="en-US" baseline="-25000" dirty="0">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 A B’ C’</a:t>
            </a:r>
            <a:r>
              <a:rPr lang="en-US" baseline="-25000" dirty="0">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 A B C</a:t>
            </a:r>
            <a:r>
              <a:rPr lang="en-US" baseline="-25000" dirty="0">
                <a:latin typeface="Times New Roman" panose="02020603050405020304" pitchFamily="18" charset="0"/>
                <a:cs typeface="Times New Roman" panose="02020603050405020304" pitchFamily="18" charset="0"/>
              </a:rPr>
              <a:t>IN </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A634E11-8823-B684-8A21-18981BE57C19}"/>
              </a:ext>
            </a:extLst>
          </p:cNvPr>
          <p:cNvPicPr>
            <a:picLocks noChangeAspect="1"/>
          </p:cNvPicPr>
          <p:nvPr/>
        </p:nvPicPr>
        <p:blipFill>
          <a:blip r:embed="rId2"/>
          <a:stretch>
            <a:fillRect/>
          </a:stretch>
        </p:blipFill>
        <p:spPr>
          <a:xfrm>
            <a:off x="1275340" y="1555750"/>
            <a:ext cx="9817381" cy="1873250"/>
          </a:xfrm>
          <a:prstGeom prst="rect">
            <a:avLst/>
          </a:prstGeom>
        </p:spPr>
      </p:pic>
      <p:sp>
        <p:nvSpPr>
          <p:cNvPr id="6" name="TextBox 5">
            <a:extLst>
              <a:ext uri="{FF2B5EF4-FFF2-40B4-BE49-F238E27FC236}">
                <a16:creationId xmlns:a16="http://schemas.microsoft.com/office/drawing/2014/main" id="{D8F48276-AB5D-17A5-E331-E579F589ED79}"/>
              </a:ext>
            </a:extLst>
          </p:cNvPr>
          <p:cNvSpPr txBox="1"/>
          <p:nvPr/>
        </p:nvSpPr>
        <p:spPr>
          <a:xfrm>
            <a:off x="1099279" y="3429000"/>
            <a:ext cx="6093500" cy="646331"/>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 From check board configuration</a:t>
            </a:r>
          </a:p>
          <a:p>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S=A⊕ B⊕ C</a:t>
            </a:r>
            <a:r>
              <a:rPr lang="en-US" sz="1800" baseline="-25000" dirty="0">
                <a:latin typeface="Times New Roman" panose="02020603050405020304" pitchFamily="18" charset="0"/>
                <a:cs typeface="Times New Roman" panose="02020603050405020304" pitchFamily="18" charset="0"/>
              </a:rPr>
              <a:t>IN</a:t>
            </a:r>
            <a:endParaRPr lang="en-IN" dirty="0"/>
          </a:p>
        </p:txBody>
      </p:sp>
      <p:sp>
        <p:nvSpPr>
          <p:cNvPr id="8" name="TextBox 7">
            <a:extLst>
              <a:ext uri="{FF2B5EF4-FFF2-40B4-BE49-F238E27FC236}">
                <a16:creationId xmlns:a16="http://schemas.microsoft.com/office/drawing/2014/main" id="{2B1DAD9E-2472-BF89-2B3E-6D48EC860BFA}"/>
              </a:ext>
            </a:extLst>
          </p:cNvPr>
          <p:cNvSpPr txBox="1"/>
          <p:nvPr/>
        </p:nvSpPr>
        <p:spPr>
          <a:xfrm>
            <a:off x="6862995" y="624962"/>
            <a:ext cx="60935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Logical Expression for C-OUT: = Σ m (3,5,6,7) </a:t>
            </a:r>
            <a:endParaRPr lang="en-IN" dirty="0"/>
          </a:p>
        </p:txBody>
      </p:sp>
      <p:sp>
        <p:nvSpPr>
          <p:cNvPr id="10" name="TextBox 9">
            <a:extLst>
              <a:ext uri="{FF2B5EF4-FFF2-40B4-BE49-F238E27FC236}">
                <a16:creationId xmlns:a16="http://schemas.microsoft.com/office/drawing/2014/main" id="{F327CC21-7E6D-7E2D-14EF-3585029ADE09}"/>
              </a:ext>
            </a:extLst>
          </p:cNvPr>
          <p:cNvSpPr txBox="1"/>
          <p:nvPr/>
        </p:nvSpPr>
        <p:spPr>
          <a:xfrm>
            <a:off x="8214610" y="1090356"/>
            <a:ext cx="2878111"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B + B C</a:t>
            </a:r>
            <a:r>
              <a:rPr lang="en-US" baseline="-25000" dirty="0">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 A C</a:t>
            </a:r>
            <a:r>
              <a:rPr lang="en-US" baseline="-25000" dirty="0">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a:t>
            </a:r>
            <a:endParaRPr lang="en-IN" dirty="0"/>
          </a:p>
        </p:txBody>
      </p:sp>
    </p:spTree>
    <p:extLst>
      <p:ext uri="{BB962C8B-B14F-4D97-AF65-F5344CB8AC3E}">
        <p14:creationId xmlns:p14="http://schemas.microsoft.com/office/powerpoint/2010/main" val="3757448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22D49F-EA2D-8A37-0FF3-15A9393425AE}"/>
              </a:ext>
            </a:extLst>
          </p:cNvPr>
          <p:cNvSpPr txBox="1"/>
          <p:nvPr/>
        </p:nvSpPr>
        <p:spPr>
          <a:xfrm>
            <a:off x="963118" y="782200"/>
            <a:ext cx="6093500" cy="400110"/>
          </a:xfrm>
          <a:prstGeom prst="rect">
            <a:avLst/>
          </a:prstGeom>
          <a:noFill/>
        </p:spPr>
        <p:txBody>
          <a:bodyPr wrap="square">
            <a:spAutoFit/>
          </a:bodyPr>
          <a:lstStyle/>
          <a:p>
            <a:r>
              <a:rPr lang="en-IN" sz="2000" dirty="0"/>
              <a:t>F=</a:t>
            </a:r>
            <a:r>
              <a:rPr lang="en-IN" sz="2000" dirty="0" err="1"/>
              <a:t>AB+Cin</a:t>
            </a:r>
            <a:r>
              <a:rPr lang="en-IN" sz="2000" dirty="0"/>
              <a:t>​(A⊕B)</a:t>
            </a:r>
          </a:p>
        </p:txBody>
      </p:sp>
      <p:pic>
        <p:nvPicPr>
          <p:cNvPr id="5" name="Picture 4">
            <a:extLst>
              <a:ext uri="{FF2B5EF4-FFF2-40B4-BE49-F238E27FC236}">
                <a16:creationId xmlns:a16="http://schemas.microsoft.com/office/drawing/2014/main" id="{77356A08-503D-3DCF-A9A3-5707659D3119}"/>
              </a:ext>
            </a:extLst>
          </p:cNvPr>
          <p:cNvPicPr>
            <a:picLocks noChangeAspect="1"/>
          </p:cNvPicPr>
          <p:nvPr/>
        </p:nvPicPr>
        <p:blipFill>
          <a:blip r:embed="rId2"/>
          <a:stretch>
            <a:fillRect/>
          </a:stretch>
        </p:blipFill>
        <p:spPr>
          <a:xfrm>
            <a:off x="1358795" y="1411886"/>
            <a:ext cx="6615971" cy="353486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510505C-831D-F89D-65E7-580DB032A5E4}"/>
                  </a:ext>
                </a:extLst>
              </p:cNvPr>
              <p:cNvSpPr txBox="1"/>
              <p:nvPr/>
            </p:nvSpPr>
            <p:spPr>
              <a:xfrm>
                <a:off x="558384" y="4946754"/>
                <a:ext cx="6093500" cy="646331"/>
              </a:xfrm>
              <a:prstGeom prst="rect">
                <a:avLst/>
              </a:prstGeom>
              <a:noFill/>
            </p:spPr>
            <p:txBody>
              <a:bodyPr wrap="square">
                <a:spAutoFit/>
              </a:bodyPr>
              <a:lstStyle/>
              <a:p>
                <a:pPr>
                  <a:buNone/>
                </a:pPr>
                <a:r>
                  <a:rPr lang="en-IN" b="1" dirty="0"/>
                  <a:t>Law Used:</a:t>
                </a:r>
              </a:p>
              <a:p>
                <a:pPr>
                  <a:buFont typeface="Arial" panose="020B0604020202020204" pitchFamily="34" charset="0"/>
                  <a:buChar char="•"/>
                </a:pPr>
                <a:r>
                  <a:rPr lang="en-IN" b="1" dirty="0"/>
                  <a:t>Redundant Law:</a:t>
                </a:r>
                <a:r>
                  <a:rPr lang="en-IN" dirty="0"/>
                  <a:t> </a:t>
                </a:r>
                <a14:m>
                  <m:oMath xmlns:m="http://schemas.openxmlformats.org/officeDocument/2006/math">
                    <m:r>
                      <a:rPr lang="en-IN" i="1">
                        <a:latin typeface="Cambria Math" panose="02040503050406030204" pitchFamily="18" charset="0"/>
                      </a:rPr>
                      <m:t>𝑥</m:t>
                    </m:r>
                    <m:r>
                      <a:rPr lang="en-IN" i="0">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i="0">
                            <a:latin typeface="Cambria Math" panose="02040503050406030204" pitchFamily="18" charset="0"/>
                          </a:rPr>
                          <m:t>′</m:t>
                        </m:r>
                      </m:sup>
                    </m:sSup>
                    <m:r>
                      <a:rPr lang="ar-AE" i="1">
                        <a:latin typeface="Cambria Math" panose="02040503050406030204" pitchFamily="18" charset="0"/>
                      </a:rPr>
                      <m:t>𝑦</m:t>
                    </m:r>
                    <m:r>
                      <a:rPr lang="ar-AE" i="0">
                        <a:latin typeface="Cambria Math" panose="02040503050406030204" pitchFamily="18" charset="0"/>
                      </a:rPr>
                      <m:t>=</m:t>
                    </m:r>
                    <m:r>
                      <a:rPr lang="ar-AE" i="1">
                        <a:latin typeface="Cambria Math" panose="02040503050406030204" pitchFamily="18" charset="0"/>
                      </a:rPr>
                      <m:t>𝑥</m:t>
                    </m:r>
                    <m:r>
                      <a:rPr lang="ar-AE" i="0">
                        <a:latin typeface="Cambria Math" panose="02040503050406030204" pitchFamily="18" charset="0"/>
                      </a:rPr>
                      <m:t>+</m:t>
                    </m:r>
                    <m:r>
                      <a:rPr lang="ar-AE" i="1">
                        <a:latin typeface="Cambria Math" panose="02040503050406030204" pitchFamily="18" charset="0"/>
                      </a:rPr>
                      <m:t>𝑦</m:t>
                    </m:r>
                  </m:oMath>
                </a14:m>
                <a:endParaRPr lang="ar-AE" dirty="0"/>
              </a:p>
            </p:txBody>
          </p:sp>
        </mc:Choice>
        <mc:Fallback xmlns="">
          <p:sp>
            <p:nvSpPr>
              <p:cNvPr id="7" name="TextBox 6">
                <a:extLst>
                  <a:ext uri="{FF2B5EF4-FFF2-40B4-BE49-F238E27FC236}">
                    <a16:creationId xmlns:a16="http://schemas.microsoft.com/office/drawing/2014/main" id="{6510505C-831D-F89D-65E7-580DB032A5E4}"/>
                  </a:ext>
                </a:extLst>
              </p:cNvPr>
              <p:cNvSpPr txBox="1">
                <a:spLocks noRot="1" noChangeAspect="1" noMove="1" noResize="1" noEditPoints="1" noAdjustHandles="1" noChangeArrowheads="1" noChangeShapeType="1" noTextEdit="1"/>
              </p:cNvSpPr>
              <p:nvPr/>
            </p:nvSpPr>
            <p:spPr>
              <a:xfrm>
                <a:off x="558384" y="4946754"/>
                <a:ext cx="6093500" cy="646331"/>
              </a:xfrm>
              <a:prstGeom prst="rect">
                <a:avLst/>
              </a:prstGeom>
              <a:blipFill>
                <a:blip r:embed="rId3"/>
                <a:stretch>
                  <a:fillRect l="-901" t="-4673" b="-13084"/>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FD074F4E-4991-0AE7-B5F8-5330561326D6}"/>
              </a:ext>
            </a:extLst>
          </p:cNvPr>
          <p:cNvSpPr txBox="1"/>
          <p:nvPr/>
        </p:nvSpPr>
        <p:spPr>
          <a:xfrm>
            <a:off x="243590" y="298080"/>
            <a:ext cx="60935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Logical Expression for C-OUT</a:t>
            </a:r>
            <a:endParaRPr lang="en-IN" dirty="0"/>
          </a:p>
        </p:txBody>
      </p:sp>
    </p:spTree>
    <p:extLst>
      <p:ext uri="{BB962C8B-B14F-4D97-AF65-F5344CB8AC3E}">
        <p14:creationId xmlns:p14="http://schemas.microsoft.com/office/powerpoint/2010/main" val="2645910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81EEB-C0C7-2D19-0A72-F44BB586656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31763069-2038-4F5B-F587-D3642627A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781175" y="704539"/>
            <a:ext cx="8270240" cy="4977442"/>
          </a:xfrm>
          <a:prstGeom prst="rect">
            <a:avLst/>
          </a:prstGeom>
          <a:noFill/>
          <a:ln>
            <a:noFill/>
          </a:ln>
        </p:spPr>
      </p:pic>
      <p:sp>
        <p:nvSpPr>
          <p:cNvPr id="4" name="TextBox 3">
            <a:extLst>
              <a:ext uri="{FF2B5EF4-FFF2-40B4-BE49-F238E27FC236}">
                <a16:creationId xmlns:a16="http://schemas.microsoft.com/office/drawing/2014/main" id="{E909493A-9FEA-6806-A650-A09058CA9B2F}"/>
              </a:ext>
            </a:extLst>
          </p:cNvPr>
          <p:cNvSpPr txBox="1"/>
          <p:nvPr/>
        </p:nvSpPr>
        <p:spPr>
          <a:xfrm>
            <a:off x="588364" y="335207"/>
            <a:ext cx="6093500" cy="369332"/>
          </a:xfrm>
          <a:prstGeom prst="rect">
            <a:avLst/>
          </a:prstGeom>
          <a:noFill/>
        </p:spPr>
        <p:txBody>
          <a:bodyPr wrap="square">
            <a:spAutoFit/>
          </a:bodyPr>
          <a:lstStyle/>
          <a:p>
            <a:r>
              <a:rPr lang="en-IN" b="1" dirty="0"/>
              <a:t>AOI Logic Diagram</a:t>
            </a:r>
            <a:r>
              <a:rPr lang="en-IN" dirty="0"/>
              <a:t> (</a:t>
            </a:r>
            <a:r>
              <a:rPr lang="en-IN" b="1" dirty="0"/>
              <a:t>AND-OR-Invert</a:t>
            </a:r>
            <a:r>
              <a:rPr lang="en-IN" dirty="0"/>
              <a:t> )</a:t>
            </a:r>
          </a:p>
        </p:txBody>
      </p:sp>
    </p:spTree>
    <p:extLst>
      <p:ext uri="{BB962C8B-B14F-4D97-AF65-F5344CB8AC3E}">
        <p14:creationId xmlns:p14="http://schemas.microsoft.com/office/powerpoint/2010/main" val="152650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EB44C-6A2D-2F94-6481-FA34B821F9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5436DE-89E3-96E2-7B8A-80D80D7F885A}"/>
              </a:ext>
            </a:extLst>
          </p:cNvPr>
          <p:cNvSpPr txBox="1"/>
          <p:nvPr/>
        </p:nvSpPr>
        <p:spPr>
          <a:xfrm>
            <a:off x="693295" y="287523"/>
            <a:ext cx="60935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sym typeface="+mn-ea"/>
              </a:rPr>
              <a:t>Implementation of Full Adder using Half Adders:</a:t>
            </a:r>
            <a:endParaRPr lang="en-IN" sz="2000" dirty="0"/>
          </a:p>
        </p:txBody>
      </p:sp>
      <p:pic>
        <p:nvPicPr>
          <p:cNvPr id="4" name="Picture 4" descr="A diagram of a diagram&#10;&#10;Description automatically generated">
            <a:extLst>
              <a:ext uri="{FF2B5EF4-FFF2-40B4-BE49-F238E27FC236}">
                <a16:creationId xmlns:a16="http://schemas.microsoft.com/office/drawing/2014/main" id="{A4B10C87-26F5-6E81-B270-27F7889B0C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55039" y="817245"/>
            <a:ext cx="7514403" cy="2470150"/>
          </a:xfrm>
          <a:prstGeom prst="rect">
            <a:avLst/>
          </a:prstGeom>
          <a:noFill/>
          <a:ln>
            <a:noFill/>
          </a:ln>
        </p:spPr>
      </p:pic>
      <p:pic>
        <p:nvPicPr>
          <p:cNvPr id="5" name="Picture 5" descr="A diagram of a circuit&#10;&#10;Description automatically generated">
            <a:extLst>
              <a:ext uri="{FF2B5EF4-FFF2-40B4-BE49-F238E27FC236}">
                <a16:creationId xmlns:a16="http://schemas.microsoft.com/office/drawing/2014/main" id="{70889615-3C85-029A-BFCB-81A75E7BC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93295" y="3585596"/>
            <a:ext cx="9994900" cy="3081655"/>
          </a:xfrm>
          <a:prstGeom prst="rect">
            <a:avLst/>
          </a:prstGeom>
          <a:noFill/>
          <a:ln>
            <a:noFill/>
          </a:ln>
        </p:spPr>
      </p:pic>
      <p:sp>
        <p:nvSpPr>
          <p:cNvPr id="6" name="TextBox 5">
            <a:extLst>
              <a:ext uri="{FF2B5EF4-FFF2-40B4-BE49-F238E27FC236}">
                <a16:creationId xmlns:a16="http://schemas.microsoft.com/office/drawing/2014/main" id="{62992027-D029-7E14-26EA-5A1DADB2B249}"/>
              </a:ext>
            </a:extLst>
          </p:cNvPr>
          <p:cNvSpPr txBox="1"/>
          <p:nvPr/>
        </p:nvSpPr>
        <p:spPr>
          <a:xfrm>
            <a:off x="6786795" y="979890"/>
            <a:ext cx="60935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 S=A⊕ B⊕ C</a:t>
            </a:r>
            <a:r>
              <a:rPr lang="en-US" baseline="-25000" dirty="0">
                <a:latin typeface="Times New Roman" panose="02020603050405020304" pitchFamily="18" charset="0"/>
                <a:cs typeface="Times New Roman" panose="02020603050405020304" pitchFamily="18" charset="0"/>
              </a:rPr>
              <a:t>IN</a:t>
            </a:r>
            <a:endParaRPr lang="en-IN" dirty="0"/>
          </a:p>
        </p:txBody>
      </p:sp>
      <p:sp>
        <p:nvSpPr>
          <p:cNvPr id="8" name="TextBox 7">
            <a:extLst>
              <a:ext uri="{FF2B5EF4-FFF2-40B4-BE49-F238E27FC236}">
                <a16:creationId xmlns:a16="http://schemas.microsoft.com/office/drawing/2014/main" id="{D97900F5-1D25-04C5-DEDC-78D587F36484}"/>
              </a:ext>
            </a:extLst>
          </p:cNvPr>
          <p:cNvSpPr txBox="1"/>
          <p:nvPr/>
        </p:nvSpPr>
        <p:spPr>
          <a:xfrm>
            <a:off x="3601387" y="1682988"/>
            <a:ext cx="6093500" cy="36933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A.B</a:t>
            </a:r>
            <a:endParaRPr lang="en-IN" dirty="0"/>
          </a:p>
        </p:txBody>
      </p:sp>
      <p:sp>
        <p:nvSpPr>
          <p:cNvPr id="10" name="TextBox 9">
            <a:extLst>
              <a:ext uri="{FF2B5EF4-FFF2-40B4-BE49-F238E27FC236}">
                <a16:creationId xmlns:a16="http://schemas.microsoft.com/office/drawing/2014/main" id="{DDB7B77D-7098-F655-C267-0C74AE604F5F}"/>
              </a:ext>
            </a:extLst>
          </p:cNvPr>
          <p:cNvSpPr txBox="1"/>
          <p:nvPr/>
        </p:nvSpPr>
        <p:spPr>
          <a:xfrm>
            <a:off x="7626246" y="2485191"/>
            <a:ext cx="6438274" cy="369332"/>
          </a:xfrm>
          <a:prstGeom prst="rect">
            <a:avLst/>
          </a:prstGeom>
          <a:noFill/>
        </p:spPr>
        <p:txBody>
          <a:bodyPr wrap="square">
            <a:spAutoFit/>
          </a:bodyPr>
          <a:lstStyle/>
          <a:p>
            <a:r>
              <a:rPr lang="en-IN" sz="1800" dirty="0" err="1"/>
              <a:t>AB+Cin</a:t>
            </a:r>
            <a:r>
              <a:rPr lang="en-IN" sz="1800" dirty="0"/>
              <a:t>​(A⊕B)</a:t>
            </a:r>
            <a:endParaRPr lang="en-IN" dirty="0"/>
          </a:p>
        </p:txBody>
      </p:sp>
      <p:pic>
        <p:nvPicPr>
          <p:cNvPr id="11" name="Picture 5" descr="A diagram of a circuit&#10;&#10;Description automatically generated">
            <a:extLst>
              <a:ext uri="{FF2B5EF4-FFF2-40B4-BE49-F238E27FC236}">
                <a16:creationId xmlns:a16="http://schemas.microsoft.com/office/drawing/2014/main" id="{DA481E74-6F29-46FA-676B-6CFE9D551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45695" y="3737996"/>
            <a:ext cx="9994900" cy="3081655"/>
          </a:xfrm>
          <a:prstGeom prst="rect">
            <a:avLst/>
          </a:prstGeom>
          <a:noFill/>
          <a:ln>
            <a:noFill/>
          </a:ln>
        </p:spPr>
      </p:pic>
      <p:sp>
        <p:nvSpPr>
          <p:cNvPr id="13" name="TextBox 12">
            <a:extLst>
              <a:ext uri="{FF2B5EF4-FFF2-40B4-BE49-F238E27FC236}">
                <a16:creationId xmlns:a16="http://schemas.microsoft.com/office/drawing/2014/main" id="{C93C2439-C151-A610-2C65-2A3F6E0AFBAB}"/>
              </a:ext>
            </a:extLst>
          </p:cNvPr>
          <p:cNvSpPr txBox="1"/>
          <p:nvPr/>
        </p:nvSpPr>
        <p:spPr>
          <a:xfrm>
            <a:off x="3603177" y="1083903"/>
            <a:ext cx="703038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S=A⊕ B</a:t>
            </a:r>
            <a:endParaRPr lang="en-IN" dirty="0"/>
          </a:p>
        </p:txBody>
      </p:sp>
    </p:spTree>
    <p:extLst>
      <p:ext uri="{BB962C8B-B14F-4D97-AF65-F5344CB8AC3E}">
        <p14:creationId xmlns:p14="http://schemas.microsoft.com/office/powerpoint/2010/main" val="155925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970" y="937895"/>
            <a:ext cx="12050395" cy="5920740"/>
          </a:xfrm>
        </p:spPr>
        <p:txBody>
          <a:bodyPr>
            <a:noAutofit/>
          </a:bodyPr>
          <a:lstStyle/>
          <a:p>
            <a:r>
              <a:rPr lang="en-US" sz="2800">
                <a:latin typeface="Times New Roman" panose="02020603050405020304" pitchFamily="18" charset="0"/>
                <a:cs typeface="Times New Roman" panose="02020603050405020304" pitchFamily="18" charset="0"/>
              </a:rPr>
              <a:t>The first half adder has two single-bit binary inputs A and B. As we know that, the half adder produces two outputs, i.e., Sum and Carry. </a:t>
            </a:r>
          </a:p>
          <a:p>
            <a:r>
              <a:rPr lang="en-US" sz="2800">
                <a:latin typeface="Times New Roman" panose="02020603050405020304" pitchFamily="18" charset="0"/>
                <a:cs typeface="Times New Roman" panose="02020603050405020304" pitchFamily="18" charset="0"/>
              </a:rPr>
              <a:t>The 'Sum' output of the first adder will be the first input of the second half adder, and the 'Carry' input will be the second input of the second half adder. </a:t>
            </a:r>
          </a:p>
          <a:p>
            <a:r>
              <a:rPr lang="en-US" sz="2800">
                <a:latin typeface="Times New Roman" panose="02020603050405020304" pitchFamily="18" charset="0"/>
                <a:cs typeface="Times New Roman" panose="02020603050405020304" pitchFamily="18" charset="0"/>
              </a:rPr>
              <a:t>The second half adder will again provide 'Sum' and 'Carry'. The final outcome of the Full adder circuit is the 'Sum' bit. </a:t>
            </a:r>
          </a:p>
          <a:p>
            <a:r>
              <a:rPr lang="en-US" sz="2800">
                <a:latin typeface="Times New Roman" panose="02020603050405020304" pitchFamily="18" charset="0"/>
                <a:cs typeface="Times New Roman" panose="02020603050405020304" pitchFamily="18" charset="0"/>
              </a:rPr>
              <a:t>In order to find the final output of the 'Carry', we provide the 'Carry' output of the first and the second adder into the OR gate. </a:t>
            </a:r>
          </a:p>
          <a:p>
            <a:r>
              <a:rPr lang="en-US" sz="2800">
                <a:latin typeface="Times New Roman" panose="02020603050405020304" pitchFamily="18" charset="0"/>
                <a:cs typeface="Times New Roman" panose="02020603050405020304" pitchFamily="18" charset="0"/>
              </a:rPr>
              <a:t>The output of the OR gate will be the final carry out of the full adder circuit.</a:t>
            </a:r>
          </a:p>
          <a:p>
            <a:r>
              <a:rPr lang="en-US" sz="2800">
                <a:latin typeface="Times New Roman" panose="02020603050405020304" pitchFamily="18" charset="0"/>
                <a:cs typeface="Times New Roman" panose="02020603050405020304" pitchFamily="18" charset="0"/>
              </a:rPr>
              <a:t>The full adder logic circuit can be constructed using two 'AND' gates and two 'XOR' gates with an OR gate.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280" y="-635"/>
            <a:ext cx="10612120" cy="1090295"/>
          </a:xfrm>
        </p:spPr>
        <p:txBody>
          <a:bodyPr>
            <a:normAutofit fontScale="90000"/>
          </a:bodyPr>
          <a:lstStyle/>
          <a:p>
            <a:r>
              <a:rPr lang="en-US" sz="4900">
                <a:latin typeface="Times New Roman" panose="02020603050405020304" pitchFamily="18" charset="0"/>
                <a:cs typeface="Times New Roman" panose="02020603050405020304" pitchFamily="18" charset="0"/>
              </a:rPr>
              <a:t>N-Bit Parallel Adder:</a:t>
            </a:r>
            <a:br>
              <a:rPr lang="en-US"/>
            </a:br>
            <a:endParaRPr lang="en-US"/>
          </a:p>
        </p:txBody>
      </p:sp>
      <p:sp>
        <p:nvSpPr>
          <p:cNvPr id="3" name="Content Placeholder 2"/>
          <p:cNvSpPr>
            <a:spLocks noGrp="1"/>
          </p:cNvSpPr>
          <p:nvPr>
            <p:ph idx="1"/>
          </p:nvPr>
        </p:nvSpPr>
        <p:spPr>
          <a:xfrm>
            <a:off x="609600" y="676275"/>
            <a:ext cx="10972800" cy="5450205"/>
          </a:xfrm>
        </p:spPr>
        <p:txBody>
          <a:bodyPr/>
          <a:lstStyle/>
          <a:p>
            <a:r>
              <a:rPr lang="en-US" sz="2800" dirty="0">
                <a:latin typeface="Times New Roman" panose="02020603050405020304" pitchFamily="18" charset="0"/>
                <a:cs typeface="Times New Roman" panose="02020603050405020304" pitchFamily="18" charset="0"/>
                <a:sym typeface="+mn-ea"/>
              </a:rPr>
              <a:t>To add two n-bit binary numbers we need to use the n-bit parallel adder. It uses a number of full adders in cascade.</a:t>
            </a:r>
          </a:p>
          <a:p>
            <a:r>
              <a:rPr lang="en-US" sz="2800" dirty="0">
                <a:latin typeface="Times New Roman" panose="02020603050405020304" pitchFamily="18" charset="0"/>
                <a:cs typeface="Times New Roman" panose="02020603050405020304" pitchFamily="18" charset="0"/>
                <a:sym typeface="+mn-ea"/>
              </a:rPr>
              <a:t>The carry output of the previous full adder is connected to carry input of the next full adder.</a:t>
            </a: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p:txBody>
      </p:sp>
      <p:pic>
        <p:nvPicPr>
          <p:cNvPr id="197972216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75137" y="2918425"/>
            <a:ext cx="8027035" cy="279844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095" y="-107950"/>
            <a:ext cx="10441305" cy="1025525"/>
          </a:xfrm>
        </p:spPr>
        <p:txBody>
          <a:bodyPr/>
          <a:lstStyle/>
          <a:p>
            <a:r>
              <a:rPr lang="en-US">
                <a:latin typeface="Times New Roman" panose="02020603050405020304" pitchFamily="18" charset="0"/>
                <a:cs typeface="Times New Roman" panose="02020603050405020304" pitchFamily="18" charset="0"/>
              </a:rPr>
              <a:t>4-Bit Parallel Adder:</a:t>
            </a:r>
          </a:p>
        </p:txBody>
      </p:sp>
      <p:sp>
        <p:nvSpPr>
          <p:cNvPr id="3" name="Content Placeholder 2"/>
          <p:cNvSpPr>
            <a:spLocks noGrp="1"/>
          </p:cNvSpPr>
          <p:nvPr>
            <p:ph idx="1"/>
          </p:nvPr>
        </p:nvSpPr>
        <p:spPr>
          <a:xfrm>
            <a:off x="609600" y="741045"/>
            <a:ext cx="10972800" cy="5785485"/>
          </a:xfrm>
        </p:spPr>
        <p:txBody>
          <a:bodyPr/>
          <a:lstStyle/>
          <a:p>
            <a:r>
              <a:rPr lang="en-US" sz="2800" dirty="0">
                <a:latin typeface="Times New Roman" panose="02020603050405020304" pitchFamily="18" charset="0"/>
                <a:cs typeface="Times New Roman" panose="02020603050405020304" pitchFamily="18" charset="0"/>
                <a:sym typeface="+mn-ea"/>
              </a:rPr>
              <a:t>Parallel Adder is a digital circuit that efficiently adds more than 1-bit binary numbers. Parallel Adders are implemented using Full Adders.</a:t>
            </a:r>
          </a:p>
          <a:p>
            <a:r>
              <a:rPr lang="en-US" sz="2800" dirty="0">
                <a:latin typeface="Times New Roman" panose="02020603050405020304" pitchFamily="18" charset="0"/>
                <a:cs typeface="Times New Roman" panose="02020603050405020304" pitchFamily="18" charset="0"/>
                <a:sym typeface="+mn-ea"/>
              </a:rPr>
              <a:t>The four-bit parallel adder is a very common logic circuit.</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In the block diagram, A1 and B1 represent the .Here C0 has been permanently made 0. The rest of the connections are exactly same as that of n-bit parallel adder .</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259330" y="4033520"/>
            <a:ext cx="7670800" cy="249301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495" y="-224155"/>
            <a:ext cx="10558145" cy="1418590"/>
          </a:xfrm>
        </p:spPr>
        <p:txBody>
          <a:bodyPr/>
          <a:lstStyle/>
          <a:p>
            <a:r>
              <a:rPr lang="en-US">
                <a:latin typeface="Times New Roman" panose="02020603050405020304" pitchFamily="18" charset="0"/>
                <a:cs typeface="Times New Roman" panose="02020603050405020304" pitchFamily="18" charset="0"/>
              </a:rPr>
              <a:t>How does Parallel Adder Work:</a:t>
            </a:r>
          </a:p>
        </p:txBody>
      </p:sp>
      <p:sp>
        <p:nvSpPr>
          <p:cNvPr id="3" name="Content Placeholder 2"/>
          <p:cNvSpPr>
            <a:spLocks noGrp="1"/>
          </p:cNvSpPr>
          <p:nvPr>
            <p:ph idx="1"/>
          </p:nvPr>
        </p:nvSpPr>
        <p:spPr>
          <a:xfrm>
            <a:off x="156210" y="771525"/>
            <a:ext cx="11426190" cy="5934075"/>
          </a:xfrm>
        </p:spPr>
        <p:txBody>
          <a:bodyPr>
            <a:noAutofit/>
          </a:bodyPr>
          <a:lstStyle/>
          <a:p>
            <a:r>
              <a:rPr lang="en-US" sz="3200">
                <a:latin typeface="Times New Roman" panose="02020603050405020304" pitchFamily="18" charset="0"/>
                <a:cs typeface="Times New Roman" panose="02020603050405020304" pitchFamily="18" charset="0"/>
              </a:rPr>
              <a:t>To understand the working principle of Parallel Adder, Let us understand the construction of Parallel Adder as shown in the   Figure.</a:t>
            </a:r>
          </a:p>
          <a:p>
            <a:r>
              <a:rPr lang="en-US" sz="3200">
                <a:latin typeface="Times New Roman" panose="02020603050405020304" pitchFamily="18" charset="0"/>
                <a:cs typeface="Times New Roman" panose="02020603050405020304" pitchFamily="18" charset="0"/>
              </a:rPr>
              <a:t>4- bit Parallel Adder is designed using 4 Full Adders FA1, FA2, FA3, FA4 . Full Adder FA1 adds A1, B1 along with carry C0 to generate Sum S1 and Carry bit C1 and this Carry bit is connected to FA2.</a:t>
            </a:r>
          </a:p>
          <a:p>
            <a:r>
              <a:rPr lang="en-US" sz="3200">
                <a:latin typeface="Times New Roman" panose="02020603050405020304" pitchFamily="18" charset="0"/>
                <a:cs typeface="Times New Roman" panose="02020603050405020304" pitchFamily="18" charset="0"/>
              </a:rPr>
              <a:t>FA2 accepts this Carry C1 and adds with its inputs A2 and B2 to generate Sum S2 and Carry C2. This bit C2 is connected to FA3. </a:t>
            </a:r>
          </a:p>
          <a:p>
            <a:r>
              <a:rPr lang="en-US" sz="3200">
                <a:latin typeface="Times New Roman" panose="02020603050405020304" pitchFamily="18" charset="0"/>
                <a:cs typeface="Times New Roman" panose="02020603050405020304" pitchFamily="18" charset="0"/>
                <a:sym typeface="+mn-ea"/>
              </a:rPr>
              <a:t>FA3 accepts this Carry C2 and adds with its inputs A3 and B3 to generate Sum S3 and Carry C3. This bit C3 is connected to FA4. </a:t>
            </a:r>
            <a:endParaRPr 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800" y="178435"/>
            <a:ext cx="10722610" cy="7776845"/>
          </a:xfrm>
        </p:spPr>
        <p:txBody>
          <a:bodyPr/>
          <a:lstStyle/>
          <a:p>
            <a:r>
              <a:rPr sz="3200">
                <a:latin typeface="Times New Roman" panose="02020603050405020304"/>
                <a:ea typeface="Times New Roman" panose="02020603050405020304"/>
                <a:sym typeface="+mn-ea"/>
              </a:rPr>
              <a:t>This process continues till the last Full Adder. FA</a:t>
            </a:r>
            <a:r>
              <a:rPr sz="3200" baseline="-25000">
                <a:latin typeface="Times New Roman" panose="02020603050405020304"/>
                <a:ea typeface="Times New Roman" panose="02020603050405020304"/>
                <a:sym typeface="+mn-ea"/>
              </a:rPr>
              <a:t>4</a:t>
            </a:r>
            <a:r>
              <a:rPr sz="3200">
                <a:latin typeface="Times New Roman" panose="02020603050405020304"/>
                <a:ea typeface="Times New Roman" panose="02020603050405020304"/>
                <a:sym typeface="+mn-ea"/>
              </a:rPr>
              <a:t> accepts the carry bit C</a:t>
            </a:r>
            <a:r>
              <a:rPr sz="3200" baseline="-25000">
                <a:latin typeface="Times New Roman" panose="02020603050405020304"/>
                <a:ea typeface="Times New Roman" panose="02020603050405020304"/>
                <a:sym typeface="+mn-ea"/>
              </a:rPr>
              <a:t>3</a:t>
            </a:r>
            <a:r>
              <a:rPr sz="3200">
                <a:latin typeface="Times New Roman" panose="02020603050405020304"/>
                <a:ea typeface="Times New Roman" panose="02020603050405020304"/>
                <a:sym typeface="+mn-ea"/>
              </a:rPr>
              <a:t> and adds with its input A</a:t>
            </a:r>
            <a:r>
              <a:rPr sz="3200" baseline="-25000">
                <a:latin typeface="Times New Roman" panose="02020603050405020304"/>
                <a:ea typeface="Times New Roman" panose="02020603050405020304"/>
                <a:sym typeface="+mn-ea"/>
              </a:rPr>
              <a:t>4</a:t>
            </a:r>
            <a:r>
              <a:rPr sz="3200">
                <a:latin typeface="Times New Roman" panose="02020603050405020304"/>
                <a:ea typeface="Times New Roman" panose="02020603050405020304"/>
                <a:sym typeface="+mn-ea"/>
              </a:rPr>
              <a:t> and B</a:t>
            </a:r>
            <a:r>
              <a:rPr sz="3200" baseline="-25000">
                <a:latin typeface="Times New Roman" panose="02020603050405020304"/>
                <a:ea typeface="Times New Roman" panose="02020603050405020304"/>
                <a:sym typeface="+mn-ea"/>
              </a:rPr>
              <a:t>4</a:t>
            </a:r>
            <a:r>
              <a:rPr sz="3200">
                <a:latin typeface="Times New Roman" panose="02020603050405020304"/>
                <a:ea typeface="Times New Roman" panose="02020603050405020304"/>
                <a:sym typeface="+mn-ea"/>
              </a:rPr>
              <a:t> to generate the final output S</a:t>
            </a:r>
            <a:r>
              <a:rPr sz="3200" baseline="-25000">
                <a:latin typeface="Times New Roman" panose="02020603050405020304"/>
                <a:ea typeface="Times New Roman" panose="02020603050405020304"/>
                <a:sym typeface="+mn-ea"/>
              </a:rPr>
              <a:t>4</a:t>
            </a:r>
            <a:r>
              <a:rPr sz="3200">
                <a:latin typeface="Times New Roman" panose="02020603050405020304"/>
                <a:ea typeface="Times New Roman" panose="02020603050405020304"/>
                <a:sym typeface="+mn-ea"/>
              </a:rPr>
              <a:t> along with the last carry bit C</a:t>
            </a:r>
            <a:r>
              <a:rPr sz="3200" baseline="-25000">
                <a:latin typeface="Times New Roman" panose="02020603050405020304"/>
                <a:ea typeface="Times New Roman" panose="02020603050405020304"/>
                <a:sym typeface="+mn-ea"/>
              </a:rPr>
              <a:t>4</a:t>
            </a:r>
            <a:r>
              <a:rPr sz="3200">
                <a:latin typeface="Times New Roman" panose="02020603050405020304"/>
                <a:ea typeface="Times New Roman" panose="02020603050405020304"/>
                <a:sym typeface="+mn-ea"/>
              </a:rPr>
              <a:t>.</a:t>
            </a:r>
            <a:endParaRPr sz="3200">
              <a:latin typeface="Times New Roman" panose="02020603050405020304"/>
              <a:ea typeface="Times New Roman" panose="02020603050405020304"/>
            </a:endParaRPr>
          </a:p>
          <a:p>
            <a:r>
              <a:rPr sz="3200">
                <a:latin typeface="Times New Roman" panose="02020603050405020304"/>
                <a:sym typeface="+mn-ea"/>
              </a:rPr>
              <a:t>Let us examine the justification of the above circuit by taking an example of addition of two 4-bit binary numbers.</a:t>
            </a:r>
          </a:p>
          <a:p>
            <a:r>
              <a:rPr sz="3200">
                <a:latin typeface="Times New Roman" panose="02020603050405020304"/>
                <a:ea typeface="Times New Roman" panose="02020603050405020304"/>
                <a:sym typeface="+mn-ea"/>
              </a:rPr>
              <a:t>Let us add 1011</a:t>
            </a:r>
            <a:r>
              <a:rPr lang="en-US" sz="3200">
                <a:latin typeface="Times New Roman" panose="02020603050405020304"/>
                <a:ea typeface="Times New Roman" panose="02020603050405020304"/>
                <a:sym typeface="+mn-ea"/>
              </a:rPr>
              <a:t> </a:t>
            </a:r>
            <a:r>
              <a:rPr sz="3200">
                <a:latin typeface="Times New Roman" panose="02020603050405020304"/>
                <a:ea typeface="Times New Roman" panose="02020603050405020304"/>
                <a:sym typeface="+mn-ea"/>
              </a:rPr>
              <a:t>with</a:t>
            </a:r>
            <a:r>
              <a:rPr lang="en-US" sz="3200">
                <a:latin typeface="Times New Roman" panose="02020603050405020304"/>
                <a:ea typeface="Times New Roman" panose="02020603050405020304"/>
                <a:sym typeface="+mn-ea"/>
              </a:rPr>
              <a:t> </a:t>
            </a:r>
            <a:r>
              <a:rPr sz="3200">
                <a:latin typeface="Times New Roman" panose="02020603050405020304"/>
                <a:ea typeface="Times New Roman" panose="02020603050405020304"/>
                <a:sym typeface="+mn-ea"/>
              </a:rPr>
              <a:t>1101.</a:t>
            </a:r>
          </a:p>
          <a:p>
            <a:endParaRPr lang="en-US" sz="3200"/>
          </a:p>
        </p:txBody>
      </p:sp>
      <p:graphicFrame>
        <p:nvGraphicFramePr>
          <p:cNvPr id="5" name="Table 4"/>
          <p:cNvGraphicFramePr/>
          <p:nvPr/>
        </p:nvGraphicFramePr>
        <p:xfrm>
          <a:off x="3556000" y="4147503"/>
          <a:ext cx="3094355" cy="731520"/>
        </p:xfrm>
        <a:graphic>
          <a:graphicData uri="http://schemas.openxmlformats.org/drawingml/2006/table">
            <a:tbl>
              <a:tblPr/>
              <a:tblGrid>
                <a:gridCol w="2886075">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endParaRPr sz="1100"/>
                    </a:p>
                  </a:txBody>
                  <a:tcPr anchor="ctr">
                    <a:lnL>
                      <a:noFill/>
                    </a:lnL>
                    <a:lnR>
                      <a:noFill/>
                    </a:lnR>
                    <a:lnT>
                      <a:noFill/>
                    </a:lnT>
                    <a:lnB>
                      <a:noFill/>
                    </a:lnB>
                    <a:noFill/>
                  </a:tcPr>
                </a:tc>
                <a:tc>
                  <a:txBody>
                    <a:bodyPr/>
                    <a:lstStyle/>
                    <a:p>
                      <a:pPr>
                        <a:buNone/>
                      </a:pPr>
                      <a:endParaRPr lang="en-US"/>
                    </a:p>
                  </a:txBody>
                  <a:tcPr>
                    <a:lnL>
                      <a:noFill/>
                    </a:lnL>
                    <a:lnB>
                      <a:noFill/>
                    </a:lnB>
                  </a:tcPr>
                </a:tc>
                <a:extLst>
                  <a:ext uri="{0D108BD9-81ED-4DB2-BD59-A6C34878D82A}">
                    <a16:rowId xmlns:a16="http://schemas.microsoft.com/office/drawing/2014/main" val="10000"/>
                  </a:ext>
                </a:extLst>
              </a:tr>
              <a:tr h="0">
                <a:tc>
                  <a:txBody>
                    <a:bodyPr/>
                    <a:lstStyle/>
                    <a:p>
                      <a:endParaRPr sz="1100"/>
                    </a:p>
                  </a:txBody>
                  <a:tcPr anchor="ctr">
                    <a:lnL>
                      <a:noFill/>
                    </a:lnL>
                    <a:lnR>
                      <a:noFill/>
                    </a:lnR>
                    <a:lnT>
                      <a:noFill/>
                    </a:lnT>
                    <a:lnB>
                      <a:noFill/>
                    </a:lnB>
                    <a:noFill/>
                  </a:tcPr>
                </a:tc>
                <a:tc>
                  <a:txBody>
                    <a:bodyPr/>
                    <a:lstStyle/>
                    <a:p>
                      <a:endParaRPr/>
                    </a:p>
                  </a:txBody>
                  <a:tcPr anchor="ctr">
                    <a:lnL>
                      <a:noFill/>
                    </a:lnL>
                    <a:lnR>
                      <a:noFill/>
                    </a:lnR>
                    <a:lnT>
                      <a:noFill/>
                    </a:lnT>
                    <a:lnB>
                      <a:noFill/>
                    </a:lnB>
                    <a:noFill/>
                  </a:tcPr>
                </a:tc>
                <a:extLst>
                  <a:ext uri="{0D108BD9-81ED-4DB2-BD59-A6C34878D82A}">
                    <a16:rowId xmlns:a16="http://schemas.microsoft.com/office/drawing/2014/main" val="10001"/>
                  </a:ext>
                </a:extLst>
              </a:tr>
            </a:tbl>
          </a:graphicData>
        </a:graphic>
      </p:graphicFrame>
      <p:pic>
        <p:nvPicPr>
          <p:cNvPr id="6" name="Picture 5"/>
          <p:cNvPicPr/>
          <p:nvPr/>
        </p:nvPicPr>
        <p:blipFill>
          <a:blip r:embed="rId2"/>
          <a:stretch>
            <a:fillRect/>
          </a:stretch>
        </p:blipFill>
        <p:spPr>
          <a:xfrm>
            <a:off x="8636000" y="3671570"/>
            <a:ext cx="2658110" cy="1842135"/>
          </a:xfrm>
          <a:prstGeom prst="rect">
            <a:avLst/>
          </a:prstGeom>
        </p:spPr>
      </p:pic>
      <p:sp>
        <p:nvSpPr>
          <p:cNvPr id="7" name="Text Box 6"/>
          <p:cNvSpPr txBox="1"/>
          <p:nvPr/>
        </p:nvSpPr>
        <p:spPr>
          <a:xfrm>
            <a:off x="3556000" y="4757103"/>
            <a:ext cx="5080000" cy="660400"/>
          </a:xfrm>
          <a:prstGeom prst="rect">
            <a:avLst/>
          </a:prstGeom>
        </p:spPr>
        <p:txBody>
          <a:bodyPr>
            <a:spAutoFit/>
          </a:bodyPr>
          <a:lstStyle/>
          <a:p>
            <a:endParaRPr sz="2100"/>
          </a:p>
          <a:p>
            <a:pPr defTabSz="266700">
              <a:spcBef>
                <a:spcPct val="0"/>
              </a:spcBef>
              <a:spcAft>
                <a:spcPct val="0"/>
              </a:spcAft>
            </a:pPr>
            <a:r>
              <a:rPr sz="1600">
                <a:latin typeface="Times New Roman" panose="02020603050405020304"/>
                <a:ea typeface="Times New Roman" panose="02020603050405020304"/>
              </a:rPr>
              <a:t>  </a:t>
            </a:r>
          </a:p>
        </p:txBody>
      </p:sp>
      <p:pic>
        <p:nvPicPr>
          <p:cNvPr id="9" name="image3.png" descr="https://www.electrical4u.com/images/february16/1458222771.GIF"/>
          <p:cNvPicPr>
            <a:picLocks noChangeAspect="1"/>
          </p:cNvPicPr>
          <p:nvPr/>
        </p:nvPicPr>
        <p:blipFill>
          <a:blip r:embed="rId3" cstate="print">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1454785" y="3475355"/>
            <a:ext cx="6252845" cy="223456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6CB65-E613-8B12-5555-E77CFECD1A96}"/>
            </a:ext>
          </a:extLst>
        </p:cNvPr>
        <p:cNvGrpSpPr/>
        <p:nvPr/>
      </p:nvGrpSpPr>
      <p:grpSpPr>
        <a:xfrm>
          <a:off x="0" y="0"/>
          <a:ext cx="0" cy="0"/>
          <a:chOff x="0" y="0"/>
          <a:chExt cx="0" cy="0"/>
        </a:xfrm>
      </p:grpSpPr>
      <p:pic>
        <p:nvPicPr>
          <p:cNvPr id="2" name="Picture 574034299" descr="https://www.electrical4u.com/images/february16/1458223432.GIF">
            <a:extLst>
              <a:ext uri="{FF2B5EF4-FFF2-40B4-BE49-F238E27FC236}">
                <a16:creationId xmlns:a16="http://schemas.microsoft.com/office/drawing/2014/main" id="{1344018B-D46C-59A1-6070-C95D720A04C9}"/>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Lst>
          </a:blip>
          <a:srcRect l="1" r="59909"/>
          <a:stretch>
            <a:fillRect/>
          </a:stretch>
        </p:blipFill>
        <p:spPr>
          <a:xfrm>
            <a:off x="123461" y="1248035"/>
            <a:ext cx="4838283" cy="2410460"/>
          </a:xfrm>
          <a:prstGeom prst="rect">
            <a:avLst/>
          </a:prstGeom>
        </p:spPr>
      </p:pic>
      <p:sp>
        <p:nvSpPr>
          <p:cNvPr id="4" name="TextBox 3">
            <a:extLst>
              <a:ext uri="{FF2B5EF4-FFF2-40B4-BE49-F238E27FC236}">
                <a16:creationId xmlns:a16="http://schemas.microsoft.com/office/drawing/2014/main" id="{83050BB3-56FE-7CC8-0370-4CA3134EECCB}"/>
              </a:ext>
            </a:extLst>
          </p:cNvPr>
          <p:cNvSpPr txBox="1"/>
          <p:nvPr/>
        </p:nvSpPr>
        <p:spPr>
          <a:xfrm>
            <a:off x="558384" y="347484"/>
            <a:ext cx="6093500"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As there is no previous carry C0  = 0.</a:t>
            </a:r>
          </a:p>
        </p:txBody>
      </p:sp>
      <p:pic>
        <p:nvPicPr>
          <p:cNvPr id="5" name="Picture 574034299" descr="https://www.electrical4u.com/images/february16/1458223432.GIF">
            <a:extLst>
              <a:ext uri="{FF2B5EF4-FFF2-40B4-BE49-F238E27FC236}">
                <a16:creationId xmlns:a16="http://schemas.microsoft.com/office/drawing/2014/main" id="{103B57F3-5A97-E0C1-D05B-4A582E8B4F46}"/>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Lst>
          </a:blip>
          <a:srcRect l="63195"/>
          <a:stretch>
            <a:fillRect/>
          </a:stretch>
        </p:blipFill>
        <p:spPr>
          <a:xfrm>
            <a:off x="5229295" y="1248035"/>
            <a:ext cx="4239491" cy="2410460"/>
          </a:xfrm>
          <a:prstGeom prst="rect">
            <a:avLst/>
          </a:prstGeom>
        </p:spPr>
      </p:pic>
      <p:sp>
        <p:nvSpPr>
          <p:cNvPr id="7" name="Rectangle 6">
            <a:extLst>
              <a:ext uri="{FF2B5EF4-FFF2-40B4-BE49-F238E27FC236}">
                <a16:creationId xmlns:a16="http://schemas.microsoft.com/office/drawing/2014/main" id="{63F6CA86-DC34-2F09-9804-099E3427223E}"/>
              </a:ext>
            </a:extLst>
          </p:cNvPr>
          <p:cNvSpPr/>
          <p:nvPr/>
        </p:nvSpPr>
        <p:spPr>
          <a:xfrm>
            <a:off x="5531370" y="3222885"/>
            <a:ext cx="239843" cy="3297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5467C53-3CEC-709B-AEAE-2168F819C350}"/>
              </a:ext>
            </a:extLst>
          </p:cNvPr>
          <p:cNvSpPr txBox="1"/>
          <p:nvPr/>
        </p:nvSpPr>
        <p:spPr>
          <a:xfrm>
            <a:off x="5411450" y="3073720"/>
            <a:ext cx="359764" cy="646331"/>
          </a:xfrm>
          <a:prstGeom prst="rect">
            <a:avLst/>
          </a:prstGeom>
          <a:noFill/>
        </p:spPr>
        <p:txBody>
          <a:bodyPr wrap="square" rtlCol="0">
            <a:spAutoFit/>
          </a:bodyPr>
          <a:lstStyle/>
          <a:p>
            <a:r>
              <a:rPr lang="en-US" sz="3600" b="1" dirty="0"/>
              <a:t>1</a:t>
            </a:r>
            <a:endParaRPr lang="en-IN" sz="3600" b="1" dirty="0"/>
          </a:p>
        </p:txBody>
      </p:sp>
      <p:pic>
        <p:nvPicPr>
          <p:cNvPr id="9" name="Picture 1141952443" descr="https://www.electrical4u.com/images/february16/1458223568.GIF">
            <a:extLst>
              <a:ext uri="{FF2B5EF4-FFF2-40B4-BE49-F238E27FC236}">
                <a16:creationId xmlns:a16="http://schemas.microsoft.com/office/drawing/2014/main" id="{0BA380C1-C877-E8FA-065E-7447DDA1BC35}"/>
              </a:ext>
            </a:extLst>
          </p:cNvPr>
          <p:cNvPicPr>
            <a:picLocks noChangeAspect="1"/>
          </p:cNvPicPr>
          <p:nvPr/>
        </p:nvPicPr>
        <p:blipFill>
          <a:blip r:embed="rId4" cstate="print">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1503513" y="4840290"/>
            <a:ext cx="7154545" cy="643890"/>
          </a:xfrm>
          <a:prstGeom prst="rect">
            <a:avLst/>
          </a:prstGeom>
        </p:spPr>
      </p:pic>
      <p:sp>
        <p:nvSpPr>
          <p:cNvPr id="13" name="TextBox 12">
            <a:extLst>
              <a:ext uri="{FF2B5EF4-FFF2-40B4-BE49-F238E27FC236}">
                <a16:creationId xmlns:a16="http://schemas.microsoft.com/office/drawing/2014/main" id="{64F1AC8D-4B5A-C09F-A328-8B0E24D7B7AA}"/>
              </a:ext>
            </a:extLst>
          </p:cNvPr>
          <p:cNvSpPr txBox="1"/>
          <p:nvPr/>
        </p:nvSpPr>
        <p:spPr>
          <a:xfrm>
            <a:off x="648325" y="4080514"/>
            <a:ext cx="60935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Therefore, final result of the addition would be</a:t>
            </a:r>
          </a:p>
        </p:txBody>
      </p:sp>
    </p:spTree>
    <p:extLst>
      <p:ext uri="{BB962C8B-B14F-4D97-AF65-F5344CB8AC3E}">
        <p14:creationId xmlns:p14="http://schemas.microsoft.com/office/powerpoint/2010/main" val="28984817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335" y="635"/>
            <a:ext cx="10911205" cy="857885"/>
          </a:xfrm>
        </p:spPr>
        <p:txBody>
          <a:bodyPr>
            <a:noAutofit/>
          </a:bodyPr>
          <a:lstStyle/>
          <a:p>
            <a:r>
              <a:rPr lang="en-US" sz="4400" b="1" dirty="0">
                <a:latin typeface="Times New Roman" panose="02020603050405020304" pitchFamily="18" charset="0"/>
                <a:cs typeface="Times New Roman" panose="02020603050405020304" pitchFamily="18" charset="0"/>
                <a:sym typeface="+mn-ea"/>
              </a:rPr>
              <a:t>HALF SUBTRACTOR:</a:t>
            </a:r>
          </a:p>
        </p:txBody>
      </p:sp>
      <p:sp>
        <p:nvSpPr>
          <p:cNvPr id="3" name="Content Placeholder 2"/>
          <p:cNvSpPr>
            <a:spLocks noGrp="1"/>
          </p:cNvSpPr>
          <p:nvPr>
            <p:ph idx="1"/>
          </p:nvPr>
        </p:nvSpPr>
        <p:spPr>
          <a:xfrm>
            <a:off x="431165" y="858520"/>
            <a:ext cx="11419840" cy="5729605"/>
          </a:xfrm>
        </p:spPr>
        <p:txBody>
          <a:bodyPr>
            <a:noAutofit/>
          </a:bodyPr>
          <a:lstStyle/>
          <a:p>
            <a:r>
              <a:rPr lang="en-US" sz="2800" dirty="0">
                <a:latin typeface="Times New Roman" panose="02020603050405020304" pitchFamily="18" charset="0"/>
                <a:cs typeface="Times New Roman" panose="02020603050405020304" pitchFamily="18" charset="0"/>
                <a:sym typeface="+mn-ea"/>
              </a:rPr>
              <a:t>Half subtractor is a combinational circuit with two inputs and two outputs (difference and borrow). </a:t>
            </a:r>
          </a:p>
          <a:p>
            <a:r>
              <a:rPr lang="en-US" sz="2800" dirty="0">
                <a:latin typeface="Times New Roman" panose="02020603050405020304" pitchFamily="18" charset="0"/>
                <a:cs typeface="Times New Roman" panose="02020603050405020304" pitchFamily="18" charset="0"/>
                <a:sym typeface="+mn-ea"/>
              </a:rPr>
              <a:t>It produces the difference between the two binary bits at the input and also produces an output (Borrow) to indicate if a 1 has been borrowed. </a:t>
            </a:r>
          </a:p>
          <a:p>
            <a:r>
              <a:rPr lang="en-US" sz="2800" dirty="0">
                <a:latin typeface="Times New Roman" panose="02020603050405020304" pitchFamily="18" charset="0"/>
                <a:cs typeface="Times New Roman" panose="02020603050405020304" pitchFamily="18" charset="0"/>
                <a:sym typeface="+mn-ea"/>
              </a:rPr>
              <a:t>In the subtraction (A-B), A is called as Minuend bit and B is called as Subtrahend </a:t>
            </a:r>
            <a:r>
              <a:rPr lang="en-US" sz="2800" dirty="0" err="1">
                <a:latin typeface="Times New Roman" panose="02020603050405020304" pitchFamily="18" charset="0"/>
                <a:cs typeface="Times New Roman" panose="02020603050405020304" pitchFamily="18" charset="0"/>
                <a:sym typeface="+mn-ea"/>
              </a:rPr>
              <a:t>bit.Difference</a:t>
            </a:r>
            <a:r>
              <a:rPr lang="en-US" sz="2800" dirty="0">
                <a:latin typeface="Times New Roman" panose="02020603050405020304" pitchFamily="18" charset="0"/>
                <a:cs typeface="Times New Roman" panose="02020603050405020304" pitchFamily="18" charset="0"/>
                <a:sym typeface="+mn-ea"/>
              </a:rPr>
              <a:t>(d)=Σ m (1,2)= A′B+AB′  = A⊕B	       			      		Borrow (b)=Σ m (1)A′B</a:t>
            </a:r>
          </a:p>
          <a:p>
            <a:pPr marL="15240" indent="0">
              <a:buNone/>
            </a:pPr>
            <a:r>
              <a:rPr lang="en-US" sz="31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Block diagram</a:t>
            </a: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Truth Table</a:t>
            </a:r>
            <a:r>
              <a:rPr lang="en-US" sz="2800" dirty="0">
                <a:latin typeface="Times New Roman" panose="02020603050405020304" pitchFamily="18" charset="0"/>
                <a:cs typeface="Times New Roman" panose="02020603050405020304" pitchFamily="18" charset="0"/>
                <a:sym typeface="+mn-ea"/>
              </a:rPr>
              <a:t>                  </a:t>
            </a:r>
            <a:r>
              <a:rPr lang="en-US" sz="2800" b="1" dirty="0">
                <a:latin typeface="Times New Roman" panose="02020603050405020304" pitchFamily="18" charset="0"/>
                <a:cs typeface="Times New Roman" panose="02020603050405020304" pitchFamily="18" charset="0"/>
                <a:sym typeface="+mn-ea"/>
              </a:rPr>
              <a:t>Logic Diagram</a:t>
            </a:r>
            <a:endParaRPr lang="en-US" sz="2800" dirty="0">
              <a:latin typeface="Times New Roman" panose="02020603050405020304" pitchFamily="18" charset="0"/>
              <a:cs typeface="Times New Roman" panose="02020603050405020304" pitchFamily="18" charset="0"/>
              <a:sym typeface="+mn-ea"/>
            </a:endParaRPr>
          </a:p>
          <a:p>
            <a:pPr marL="15240" indent="0">
              <a:buNone/>
            </a:pPr>
            <a:endParaRPr lang="en-US" sz="2800" dirty="0">
              <a:latin typeface="Times New Roman" panose="02020603050405020304" pitchFamily="18" charset="0"/>
              <a:cs typeface="Times New Roman" panose="02020603050405020304" pitchFamily="18" charset="0"/>
              <a:sym typeface="+mn-ea"/>
            </a:endParaRPr>
          </a:p>
          <a:p>
            <a:endParaRPr lang="en-US" sz="3100" dirty="0">
              <a:latin typeface="Times New Roman" panose="02020603050405020304" pitchFamily="18" charset="0"/>
              <a:cs typeface="Times New Roman" panose="02020603050405020304" pitchFamily="18" charset="0"/>
              <a:sym typeface="+mn-ea"/>
            </a:endParaRPr>
          </a:p>
          <a:p>
            <a:endParaRPr lang="en-US" sz="3100" dirty="0">
              <a:latin typeface="Times New Roman" panose="02020603050405020304" pitchFamily="18" charset="0"/>
              <a:cs typeface="Times New Roman" panose="02020603050405020304" pitchFamily="18" charset="0"/>
              <a:sym typeface="+mn-ea"/>
            </a:endParaRPr>
          </a:p>
          <a:p>
            <a:endParaRPr lang="en-US" sz="3100" dirty="0">
              <a:latin typeface="Times New Roman" panose="02020603050405020304" pitchFamily="18" charset="0"/>
              <a:cs typeface="Times New Roman" panose="02020603050405020304" pitchFamily="18" charset="0"/>
              <a:sym typeface="+mn-ea"/>
            </a:endParaRPr>
          </a:p>
        </p:txBody>
      </p:sp>
      <p:graphicFrame>
        <p:nvGraphicFramePr>
          <p:cNvPr id="6" name="Object 5"/>
          <p:cNvGraphicFramePr/>
          <p:nvPr/>
        </p:nvGraphicFramePr>
        <p:xfrm>
          <a:off x="1233170" y="4993640"/>
          <a:ext cx="2004060" cy="1472565"/>
        </p:xfrm>
        <a:graphic>
          <a:graphicData uri="http://schemas.openxmlformats.org/presentationml/2006/ole">
            <mc:AlternateContent xmlns:mc="http://schemas.openxmlformats.org/markup-compatibility/2006">
              <mc:Choice xmlns:v="urn:schemas-microsoft-com:vml" Requires="v">
                <p:oleObj r:id="rId2" imgW="1771650" imgH="1371600" progId="Paint.Picture">
                  <p:embed/>
                </p:oleObj>
              </mc:Choice>
              <mc:Fallback>
                <p:oleObj r:id="rId2" imgW="1771650" imgH="1371600" progId="Paint.Picture">
                  <p:embed/>
                  <p:pic>
                    <p:nvPicPr>
                      <p:cNvPr id="6" name="Object 5"/>
                      <p:cNvPicPr/>
                      <p:nvPr/>
                    </p:nvPicPr>
                    <p:blipFill>
                      <a:blip r:embed="rId3">
                        <a:biLevel thresh="50000"/>
                      </a:blip>
                      <a:stretch>
                        <a:fillRect/>
                      </a:stretch>
                    </p:blipFill>
                    <p:spPr>
                      <a:xfrm>
                        <a:off x="1233170" y="4993640"/>
                        <a:ext cx="2004060" cy="1472565"/>
                      </a:xfrm>
                      <a:prstGeom prst="rect">
                        <a:avLst/>
                      </a:prstGeom>
                    </p:spPr>
                  </p:pic>
                </p:oleObj>
              </mc:Fallback>
            </mc:AlternateContent>
          </a:graphicData>
        </a:graphic>
      </p:graphicFrame>
      <p:graphicFrame>
        <p:nvGraphicFramePr>
          <p:cNvPr id="8" name="Object 7"/>
          <p:cNvGraphicFramePr/>
          <p:nvPr/>
        </p:nvGraphicFramePr>
        <p:xfrm>
          <a:off x="8204200" y="4993640"/>
          <a:ext cx="2933065" cy="1628775"/>
        </p:xfrm>
        <a:graphic>
          <a:graphicData uri="http://schemas.openxmlformats.org/presentationml/2006/ole">
            <mc:AlternateContent xmlns:mc="http://schemas.openxmlformats.org/markup-compatibility/2006">
              <mc:Choice xmlns:v="urn:schemas-microsoft-com:vml" Requires="v">
                <p:oleObj r:id="rId4" imgW="2562225" imgH="1504950" progId="Paint.Picture">
                  <p:embed/>
                </p:oleObj>
              </mc:Choice>
              <mc:Fallback>
                <p:oleObj r:id="rId4" imgW="2562225" imgH="1504950" progId="Paint.Picture">
                  <p:embed/>
                  <p:pic>
                    <p:nvPicPr>
                      <p:cNvPr id="8" name="Object 7"/>
                      <p:cNvPicPr/>
                      <p:nvPr/>
                    </p:nvPicPr>
                    <p:blipFill>
                      <a:blip r:embed="rId5"/>
                      <a:stretch>
                        <a:fillRect/>
                      </a:stretch>
                    </p:blipFill>
                    <p:spPr>
                      <a:xfrm>
                        <a:off x="8204200" y="4993640"/>
                        <a:ext cx="2933065" cy="1628775"/>
                      </a:xfrm>
                      <a:prstGeom prst="rect">
                        <a:avLst/>
                      </a:prstGeom>
                    </p:spPr>
                  </p:pic>
                </p:oleObj>
              </mc:Fallback>
            </mc:AlternateContent>
          </a:graphicData>
        </a:graphic>
      </p:graphicFrame>
      <p:pic>
        <p:nvPicPr>
          <p:cNvPr id="1336108956" name="Picture 11" descr="Half Subtractor - Javatpoin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a:off x="4210050" y="4993640"/>
            <a:ext cx="2861945" cy="152209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8510" y="358775"/>
            <a:ext cx="11188700" cy="6499860"/>
          </a:xfrm>
        </p:spPr>
        <p:txBody>
          <a:bodyPr>
            <a:noAutofit/>
          </a:bodyPr>
          <a:lstStyle/>
          <a:p>
            <a:r>
              <a:rPr lang="en-US" sz="3200">
                <a:latin typeface="Times New Roman" panose="02020603050405020304" pitchFamily="18" charset="0"/>
                <a:cs typeface="Times New Roman" panose="02020603050405020304" pitchFamily="18" charset="0"/>
              </a:rPr>
              <a:t>Half subtractor is designed using an XOR gate together with a NOT gate and an AND gate.</a:t>
            </a:r>
          </a:p>
          <a:p>
            <a:r>
              <a:rPr lang="en-US" sz="3200">
                <a:latin typeface="Times New Roman" panose="02020603050405020304" pitchFamily="18" charset="0"/>
                <a:cs typeface="Times New Roman" panose="02020603050405020304" pitchFamily="18" charset="0"/>
              </a:rPr>
              <a:t>In  half subtractor , A and B are the inputs, d and b are the outputs. Where d indicates the difference and b indicates the borrow output.</a:t>
            </a:r>
          </a:p>
          <a:p>
            <a:r>
              <a:rPr lang="en-US" sz="3200">
                <a:latin typeface="Times New Roman" panose="02020603050405020304" pitchFamily="18" charset="0"/>
                <a:cs typeface="Times New Roman" panose="02020603050405020304" pitchFamily="18" charset="0"/>
              </a:rPr>
              <a:t>The borrow output (b) is the signal that tells the next stage that a 1 has been borrowed.</a:t>
            </a:r>
          </a:p>
          <a:p>
            <a:r>
              <a:rPr lang="en-US" sz="3200">
                <a:latin typeface="Times New Roman" panose="02020603050405020304" pitchFamily="18" charset="0"/>
                <a:cs typeface="Times New Roman" panose="02020603050405020304" pitchFamily="18" charset="0"/>
              </a:rPr>
              <a:t>From the logic circuit diagram of the half subtractor, it is clear that the difference bit (d) is obtained by the XOR operation of the two inputs A and B, and the borrow bit is obtained by AND operation of the compliment of the minuend (A') with the subtrahend (B).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sym typeface="+mn-ea"/>
              </a:rPr>
              <a:t>Operation of Half Subtractor:</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417320"/>
            <a:ext cx="11172825" cy="4709160"/>
          </a:xfrm>
        </p:spPr>
        <p:txBody>
          <a:bodyPr/>
          <a:lstStyle/>
          <a:p>
            <a:pPr marL="15240" indent="0">
              <a:buNone/>
            </a:pPr>
            <a:r>
              <a:rPr lang="en-US" sz="3200">
                <a:latin typeface="Times New Roman" panose="02020603050405020304" pitchFamily="18" charset="0"/>
                <a:cs typeface="Times New Roman" panose="02020603050405020304" pitchFamily="18" charset="0"/>
              </a:rPr>
              <a:t>Half subtractor performs its operation to find the difference of two binary digits according to the rules of binary subtraction, which are as follows −</a:t>
            </a:r>
          </a:p>
          <a:p>
            <a:r>
              <a:rPr lang="en-US" sz="3200">
                <a:latin typeface="Times New Roman" panose="02020603050405020304" pitchFamily="18" charset="0"/>
                <a:cs typeface="Times New Roman" panose="02020603050405020304" pitchFamily="18" charset="0"/>
              </a:rPr>
              <a:t>The output borrow ,b is zero (0) as long as the minuend bit (A) is greater than or equal to the subtrahend bit (B), i.e. A ≥ B.</a:t>
            </a:r>
          </a:p>
          <a:p>
            <a:r>
              <a:rPr lang="en-US" sz="3200">
                <a:latin typeface="Times New Roman" panose="02020603050405020304" pitchFamily="18" charset="0"/>
                <a:cs typeface="Times New Roman" panose="02020603050405020304" pitchFamily="18" charset="0"/>
              </a:rPr>
              <a:t> The output borrow is a 1 when A = 0 and B = 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290" y="-190182"/>
            <a:ext cx="10972800" cy="1143000"/>
          </a:xfrm>
        </p:spPr>
        <p:txBody>
          <a:bodyPr/>
          <a:lstStyle/>
          <a:p>
            <a:r>
              <a:rPr lang="en-US" b="1">
                <a:latin typeface="Times New Roman" panose="02020603050405020304" pitchFamily="18" charset="0"/>
                <a:cs typeface="Times New Roman" panose="02020603050405020304" pitchFamily="18" charset="0"/>
              </a:rPr>
              <a:t>K-Map for Half Subtractor:</a:t>
            </a:r>
          </a:p>
        </p:txBody>
      </p:sp>
      <p:sp>
        <p:nvSpPr>
          <p:cNvPr id="3" name="Content Placeholder 2"/>
          <p:cNvSpPr>
            <a:spLocks noGrp="1"/>
          </p:cNvSpPr>
          <p:nvPr>
            <p:ph idx="1"/>
          </p:nvPr>
        </p:nvSpPr>
        <p:spPr>
          <a:xfrm>
            <a:off x="609600" y="568325"/>
            <a:ext cx="11113770" cy="5871210"/>
          </a:xfrm>
        </p:spPr>
        <p:txBody>
          <a:bodyPr/>
          <a:lstStyle/>
          <a:p>
            <a:r>
              <a:rPr lang="en-US" sz="3200">
                <a:latin typeface="Times New Roman" panose="02020603050405020304" pitchFamily="18" charset="0"/>
                <a:cs typeface="Times New Roman" panose="02020603050405020304" pitchFamily="18" charset="0"/>
              </a:rPr>
              <a:t>We can use the K-Map (or Karnaugh Map), a method for simplifying Boolean algebra, to determine equations of the difference bit (d) and the output borrow (b).</a:t>
            </a:r>
          </a:p>
          <a:p>
            <a:endParaRPr lang="en-US" sz="3200">
              <a:latin typeface="Times New Roman" panose="02020603050405020304" pitchFamily="18" charset="0"/>
              <a:cs typeface="Times New Roman" panose="02020603050405020304" pitchFamily="18" charset="0"/>
            </a:endParaRPr>
          </a:p>
        </p:txBody>
      </p:sp>
      <p:graphicFrame>
        <p:nvGraphicFramePr>
          <p:cNvPr id="4" name="Object 3"/>
          <p:cNvGraphicFramePr/>
          <p:nvPr/>
        </p:nvGraphicFramePr>
        <p:xfrm>
          <a:off x="2799080" y="2072005"/>
          <a:ext cx="6624955" cy="1962150"/>
        </p:xfrm>
        <a:graphic>
          <a:graphicData uri="http://schemas.openxmlformats.org/presentationml/2006/ole">
            <mc:AlternateContent xmlns:mc="http://schemas.openxmlformats.org/markup-compatibility/2006">
              <mc:Choice xmlns:v="urn:schemas-microsoft-com:vml" Requires="v">
                <p:oleObj r:id="rId2" imgW="5172075" imgH="2390775" progId="Paint.Picture">
                  <p:embed/>
                </p:oleObj>
              </mc:Choice>
              <mc:Fallback>
                <p:oleObj r:id="rId2" imgW="5172075" imgH="2390775" progId="Paint.Picture">
                  <p:embed/>
                  <p:pic>
                    <p:nvPicPr>
                      <p:cNvPr id="4" name="Object 3"/>
                      <p:cNvPicPr/>
                      <p:nvPr/>
                    </p:nvPicPr>
                    <p:blipFill>
                      <a:blip r:embed="rId3"/>
                      <a:stretch>
                        <a:fillRect/>
                      </a:stretch>
                    </p:blipFill>
                    <p:spPr>
                      <a:xfrm>
                        <a:off x="2799080" y="2072005"/>
                        <a:ext cx="6624955" cy="1962150"/>
                      </a:xfrm>
                      <a:prstGeom prst="rect">
                        <a:avLst/>
                      </a:prstGeom>
                    </p:spPr>
                  </p:pic>
                </p:oleObj>
              </mc:Fallback>
            </mc:AlternateContent>
          </a:graphicData>
        </a:graphic>
      </p:graphicFrame>
      <p:sp>
        <p:nvSpPr>
          <p:cNvPr id="6" name="Text Box 5"/>
          <p:cNvSpPr txBox="1"/>
          <p:nvPr/>
        </p:nvSpPr>
        <p:spPr>
          <a:xfrm>
            <a:off x="576580" y="3864610"/>
            <a:ext cx="11615420" cy="2776855"/>
          </a:xfrm>
          <a:prstGeom prst="rect">
            <a:avLst/>
          </a:prstGeom>
          <a:noFill/>
        </p:spPr>
        <p:txBody>
          <a:bodyPr wrap="square" rtlCol="0">
            <a:noAutofit/>
          </a:bodyPr>
          <a:lstStyle/>
          <a:p>
            <a:r>
              <a:rPr lang="en-US" sz="3200">
                <a:latin typeface="Times New Roman" panose="02020603050405020304" pitchFamily="18" charset="0"/>
                <a:cs typeface="Times New Roman" panose="02020603050405020304" pitchFamily="18" charset="0"/>
              </a:rPr>
              <a:t>The difference bit (d) of the half subtractor is given by XORing the two inputs A and B. </a:t>
            </a:r>
          </a:p>
          <a:p>
            <a:r>
              <a:rPr lang="en-US" sz="3200">
                <a:latin typeface="Times New Roman" panose="02020603050405020304" pitchFamily="18" charset="0"/>
                <a:cs typeface="Times New Roman" panose="02020603050405020304" pitchFamily="18" charset="0"/>
              </a:rPr>
              <a:t>Therefore, Difference(d)=</a:t>
            </a:r>
            <a:r>
              <a:rPr lang="en-US" sz="3200">
                <a:latin typeface="Times New Roman" panose="02020603050405020304" pitchFamily="18" charset="0"/>
                <a:cs typeface="Times New Roman" panose="02020603050405020304" pitchFamily="18" charset="0"/>
                <a:sym typeface="+mn-ea"/>
              </a:rPr>
              <a:t>Σ m (1,2)=</a:t>
            </a:r>
            <a:r>
              <a:rPr lang="en-US" sz="3200">
                <a:latin typeface="Times New Roman" panose="02020603050405020304" pitchFamily="18" charset="0"/>
                <a:cs typeface="Times New Roman" panose="02020603050405020304" pitchFamily="18" charset="0"/>
              </a:rPr>
              <a:t> A′B+AB′  = A⊕B</a:t>
            </a:r>
          </a:p>
          <a:p>
            <a:r>
              <a:rPr lang="en-US" sz="3200">
                <a:latin typeface="Times New Roman" panose="02020603050405020304" pitchFamily="18" charset="0"/>
                <a:cs typeface="Times New Roman" panose="02020603050405020304" pitchFamily="18" charset="0"/>
              </a:rPr>
              <a:t>The borrow (b) of the half subtractor is the AND of A’ (compliment of A) and B. </a:t>
            </a:r>
            <a:r>
              <a:rPr lang="en-US" sz="3200">
                <a:latin typeface="Times New Roman" panose="02020603050405020304" pitchFamily="18" charset="0"/>
                <a:cs typeface="Times New Roman" panose="02020603050405020304" pitchFamily="18" charset="0"/>
                <a:sym typeface="+mn-ea"/>
              </a:rPr>
              <a:t>Therefore, Borrow (b)=Σ m (1)A′B</a:t>
            </a:r>
            <a:endParaRPr lang="en-US" sz="3200">
              <a:latin typeface="Times New Roman" panose="02020603050405020304" pitchFamily="18" charset="0"/>
              <a:cs typeface="Times New Roman" panose="02020603050405020304" pitchFamily="18" charset="0"/>
            </a:endParaRPr>
          </a:p>
          <a:p>
            <a:endParaRPr lang="en-US" sz="3200">
              <a:latin typeface="Times New Roman" panose="02020603050405020304" pitchFamily="18" charset="0"/>
              <a:cs typeface="Times New Roman" panose="02020603050405020304" pitchFamily="18" charset="0"/>
            </a:endParaRPr>
          </a:p>
          <a:p>
            <a:endParaRPr 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500" y="0"/>
            <a:ext cx="10464165" cy="897255"/>
          </a:xfrm>
        </p:spPr>
        <p:txBody>
          <a:bodyPr/>
          <a:lstStyle/>
          <a:p>
            <a:r>
              <a:rPr lang="en-US" b="1">
                <a:latin typeface="Times New Roman" panose="02020603050405020304" pitchFamily="18" charset="0"/>
                <a:cs typeface="Times New Roman" panose="02020603050405020304" pitchFamily="18" charset="0"/>
              </a:rPr>
              <a:t>FULL SUBTRACTOR:</a:t>
            </a:r>
          </a:p>
        </p:txBody>
      </p:sp>
      <p:sp>
        <p:nvSpPr>
          <p:cNvPr id="3" name="Content Placeholder 2"/>
          <p:cNvSpPr>
            <a:spLocks noGrp="1"/>
          </p:cNvSpPr>
          <p:nvPr>
            <p:ph idx="1"/>
          </p:nvPr>
        </p:nvSpPr>
        <p:spPr>
          <a:xfrm>
            <a:off x="295910" y="1648075"/>
            <a:ext cx="11600180" cy="5768975"/>
          </a:xfrm>
        </p:spPr>
        <p:txBody>
          <a:bodyPr>
            <a:noAutofit/>
          </a:bodyPr>
          <a:lstStyle/>
          <a:p>
            <a:pPr lvl="0"/>
            <a:r>
              <a:rPr lang="en-US" sz="3200" dirty="0">
                <a:latin typeface="Times New Roman" panose="02020603050405020304" pitchFamily="18" charset="0"/>
                <a:cs typeface="Times New Roman" panose="02020603050405020304" pitchFamily="18" charset="0"/>
              </a:rPr>
              <a:t>A full-subtractor is a combinational circuit that has three inputs A, B, B</a:t>
            </a:r>
            <a:r>
              <a:rPr lang="en-US" sz="3200" baseline="-25000" dirty="0">
                <a:latin typeface="Times New Roman" panose="02020603050405020304" pitchFamily="18" charset="0"/>
                <a:cs typeface="Times New Roman" panose="02020603050405020304" pitchFamily="18" charset="0"/>
              </a:rPr>
              <a:t>in</a:t>
            </a:r>
            <a:r>
              <a:rPr lang="en-US" sz="3200" dirty="0">
                <a:latin typeface="Times New Roman" panose="02020603050405020304" pitchFamily="18" charset="0"/>
                <a:cs typeface="Times New Roman" panose="02020603050405020304" pitchFamily="18" charset="0"/>
              </a:rPr>
              <a:t> and two outputs D and B</a:t>
            </a:r>
            <a:r>
              <a:rPr lang="en-US" sz="3200" baseline="-25000" dirty="0">
                <a:latin typeface="Times New Roman" panose="02020603050405020304" pitchFamily="18" charset="0"/>
                <a:cs typeface="Times New Roman" panose="02020603050405020304" pitchFamily="18" charset="0"/>
              </a:rPr>
              <a:t>O</a:t>
            </a:r>
            <a:r>
              <a:rPr lang="en-US" sz="3200" dirty="0">
                <a:latin typeface="Times New Roman" panose="02020603050405020304" pitchFamily="18" charset="0"/>
                <a:cs typeface="Times New Roman" panose="02020603050405020304" pitchFamily="18" charset="0"/>
              </a:rPr>
              <a:t>. </a:t>
            </a:r>
          </a:p>
          <a:p>
            <a:pPr lvl="0"/>
            <a:r>
              <a:rPr lang="en-US" sz="3200" dirty="0">
                <a:latin typeface="Times New Roman" panose="02020603050405020304" pitchFamily="18" charset="0"/>
                <a:cs typeface="Times New Roman" panose="02020603050405020304" pitchFamily="18" charset="0"/>
              </a:rPr>
              <a:t>Where, A is the minuend, B is subtrahend, bin is borrow produced by the previous stage, D is the difference output and B</a:t>
            </a:r>
            <a:r>
              <a:rPr lang="en-US" sz="3200" baseline="-25000" dirty="0">
                <a:latin typeface="Times New Roman" panose="02020603050405020304" pitchFamily="18" charset="0"/>
                <a:cs typeface="Times New Roman" panose="02020603050405020304" pitchFamily="18" charset="0"/>
              </a:rPr>
              <a:t>O</a:t>
            </a:r>
            <a:r>
              <a:rPr lang="en-US" sz="3200" dirty="0">
                <a:latin typeface="Times New Roman" panose="02020603050405020304" pitchFamily="18" charset="0"/>
                <a:cs typeface="Times New Roman" panose="02020603050405020304" pitchFamily="18" charset="0"/>
              </a:rPr>
              <a:t> is the borrow output.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115" y="217399"/>
            <a:ext cx="10515600" cy="729157"/>
          </a:xfrm>
        </p:spPr>
        <p:txBody>
          <a:bodyPr>
            <a:normAutofit fontScale="90000"/>
          </a:bodyPr>
          <a:lstStyle/>
          <a:p>
            <a:r>
              <a:rPr lang="en-US" sz="4900" b="1" dirty="0">
                <a:latin typeface="Times New Roman" panose="02020603050405020304" pitchFamily="18" charset="0"/>
                <a:cs typeface="Times New Roman" panose="02020603050405020304" pitchFamily="18" charset="0"/>
              </a:rPr>
              <a:t>Block Diagram of </a:t>
            </a:r>
            <a:r>
              <a:rPr lang="en-US" sz="4900" b="1" dirty="0">
                <a:latin typeface="Times New Roman" panose="02020603050405020304" pitchFamily="18" charset="0"/>
                <a:cs typeface="Times New Roman" panose="02020603050405020304" pitchFamily="18" charset="0"/>
                <a:sym typeface="+mn-ea"/>
              </a:rPr>
              <a:t>Full-Subtractor</a:t>
            </a:r>
            <a:r>
              <a:rPr lang="en-US" sz="4900" b="1" dirty="0">
                <a:latin typeface="Times New Roman" panose="02020603050405020304" pitchFamily="18" charset="0"/>
                <a:cs typeface="Times New Roman" panose="02020603050405020304" pitchFamily="18" charset="0"/>
              </a:rPr>
              <a:t>:</a:t>
            </a:r>
            <a:br>
              <a:rPr lang="en-US" dirty="0"/>
            </a:br>
            <a:r>
              <a:rPr lang="en-US" dirty="0"/>
              <a:t>                                              </a:t>
            </a:r>
          </a:p>
        </p:txBody>
      </p:sp>
      <p:sp>
        <p:nvSpPr>
          <p:cNvPr id="3" name="Content Placeholder 2"/>
          <p:cNvSpPr>
            <a:spLocks noGrp="1"/>
          </p:cNvSpPr>
          <p:nvPr>
            <p:ph idx="1"/>
          </p:nvPr>
        </p:nvSpPr>
        <p:spPr>
          <a:xfrm>
            <a:off x="609600" y="798830"/>
            <a:ext cx="10972800" cy="2364095"/>
          </a:xfrm>
        </p:spPr>
        <p:txBody>
          <a:bodyPr>
            <a:normAutofit/>
          </a:bodyPr>
          <a:lstStyle/>
          <a:p>
            <a:endParaRPr lang="en-US" dirty="0"/>
          </a:p>
          <a:p>
            <a:pPr marL="0" indent="0">
              <a:buNone/>
            </a:pPr>
            <a:endParaRPr lang="en-US" dirty="0"/>
          </a:p>
          <a:p>
            <a:endParaRPr lang="en-US" dirty="0"/>
          </a:p>
          <a:p>
            <a:pPr marL="15240" indent="0">
              <a:buNone/>
            </a:pPr>
            <a:r>
              <a:rPr lang="en-US" sz="4000" b="1" dirty="0">
                <a:latin typeface="Times New Roman" panose="02020603050405020304" pitchFamily="18" charset="0"/>
                <a:cs typeface="Times New Roman" panose="02020603050405020304" pitchFamily="18" charset="0"/>
              </a:rPr>
              <a:t>Truth Table of Full-Subtractor:</a:t>
            </a:r>
          </a:p>
        </p:txBody>
      </p:sp>
      <p:pic>
        <p:nvPicPr>
          <p:cNvPr id="1398512783" name="Picture 4" descr="Full-Subtractor - World Of Compu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359396" y="581977"/>
            <a:ext cx="4736604" cy="1828464"/>
          </a:xfrm>
          <a:prstGeom prst="rect">
            <a:avLst/>
          </a:prstGeom>
          <a:noFill/>
          <a:ln>
            <a:noFill/>
          </a:ln>
        </p:spPr>
      </p:pic>
      <p:pic>
        <p:nvPicPr>
          <p:cNvPr id="1225010580" name="Picture 14" descr="Full Subtractor - Javatpo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33082" y="3151187"/>
            <a:ext cx="5207000" cy="3411855"/>
          </a:xfrm>
          <a:prstGeom prst="rect">
            <a:avLst/>
          </a:prstGeom>
          <a:noFill/>
          <a:ln>
            <a:noFill/>
          </a:ln>
        </p:spPr>
      </p:pic>
      <p:pic>
        <p:nvPicPr>
          <p:cNvPr id="190444516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6268085" y="3162925"/>
            <a:ext cx="5314315" cy="2540000"/>
          </a:xfrm>
          <a:prstGeom prst="rect">
            <a:avLst/>
          </a:prstGeom>
          <a:noFill/>
          <a:ln>
            <a:noFill/>
          </a:ln>
        </p:spPr>
      </p:pic>
      <p:sp>
        <p:nvSpPr>
          <p:cNvPr id="5" name="TextBox 4">
            <a:extLst>
              <a:ext uri="{FF2B5EF4-FFF2-40B4-BE49-F238E27FC236}">
                <a16:creationId xmlns:a16="http://schemas.microsoft.com/office/drawing/2014/main" id="{4D20AD1E-5892-6ACC-32BF-C57E21026CA1}"/>
              </a:ext>
            </a:extLst>
          </p:cNvPr>
          <p:cNvSpPr txBox="1"/>
          <p:nvPr/>
        </p:nvSpPr>
        <p:spPr>
          <a:xfrm>
            <a:off x="6382062" y="5518259"/>
            <a:ext cx="6138472"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sym typeface="+mn-ea"/>
              </a:rPr>
              <a:t>Or =A⊕B⊕ bin</a:t>
            </a: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sym typeface="+mn-ea"/>
              </a:rPr>
              <a:t>AOI Logic diagram:</a:t>
            </a:r>
            <a:endParaRPr lang="en-US" b="1" dirty="0">
              <a:latin typeface="Times New Roman" panose="02020603050405020304" pitchFamily="18" charset="0"/>
              <a:cs typeface="Times New Roman" panose="02020603050405020304" pitchFamily="18" charset="0"/>
            </a:endParaRPr>
          </a:p>
        </p:txBody>
      </p:sp>
      <p:pic>
        <p:nvPicPr>
          <p:cNvPr id="93261470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09600" y="1269365"/>
            <a:ext cx="7880350" cy="522859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DE1C7B-A159-6482-E7A5-1E7615AA4965}"/>
              </a:ext>
            </a:extLst>
          </p:cNvPr>
          <p:cNvSpPr txBox="1"/>
          <p:nvPr/>
        </p:nvSpPr>
        <p:spPr>
          <a:xfrm>
            <a:off x="468442" y="332494"/>
            <a:ext cx="60935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Implementation of Full Subtractor using Half Subtractor:</a:t>
            </a:r>
            <a:endParaRPr lang="en-IN" dirty="0"/>
          </a:p>
        </p:txBody>
      </p:sp>
      <p:sp>
        <p:nvSpPr>
          <p:cNvPr id="2" name="Text Box 3">
            <a:extLst>
              <a:ext uri="{FF2B5EF4-FFF2-40B4-BE49-F238E27FC236}">
                <a16:creationId xmlns:a16="http://schemas.microsoft.com/office/drawing/2014/main" id="{2AC886C5-1AEF-6D99-61FF-705235D45CE6}"/>
              </a:ext>
            </a:extLst>
          </p:cNvPr>
          <p:cNvSpPr txBox="1"/>
          <p:nvPr/>
        </p:nvSpPr>
        <p:spPr>
          <a:xfrm>
            <a:off x="289164" y="879360"/>
            <a:ext cx="11041380" cy="1149350"/>
          </a:xfrm>
          <a:prstGeom prst="rect">
            <a:avLst/>
          </a:prstGeom>
          <a:noFill/>
        </p:spPr>
        <p:txBody>
          <a:bodyPr wrap="square" rtlCol="0">
            <a:noAutofit/>
          </a:bodyPr>
          <a:lstStyle/>
          <a:p>
            <a:r>
              <a:rPr lang="en-US" sz="2400" b="1" dirty="0">
                <a:latin typeface="Times New Roman" panose="02020603050405020304" pitchFamily="18" charset="0"/>
                <a:cs typeface="Times New Roman" panose="02020603050405020304" pitchFamily="18" charset="0"/>
              </a:rPr>
              <a:t>Logic </a:t>
            </a:r>
            <a:r>
              <a:rPr lang="en-US" sz="2400" b="1" dirty="0" err="1">
                <a:latin typeface="Times New Roman" panose="02020603050405020304" pitchFamily="18" charset="0"/>
                <a:cs typeface="Times New Roman" panose="02020603050405020304" pitchFamily="18" charset="0"/>
              </a:rPr>
              <a:t>Diagram:</a:t>
            </a:r>
            <a:r>
              <a:rPr lang="en-US" dirty="0" err="1">
                <a:latin typeface="Times New Roman" panose="02020603050405020304" pitchFamily="18" charset="0"/>
                <a:cs typeface="Times New Roman" panose="02020603050405020304" pitchFamily="18" charset="0"/>
              </a:rPr>
              <a:t>We</a:t>
            </a:r>
            <a:r>
              <a:rPr lang="en-US" dirty="0">
                <a:latin typeface="Times New Roman" panose="02020603050405020304" pitchFamily="18" charset="0"/>
                <a:cs typeface="Times New Roman" panose="02020603050405020304" pitchFamily="18" charset="0"/>
              </a:rPr>
              <a:t> can realize the full-subtractor using two XOR gates, two NOT gates, two AND gates, and one OR gate.</a:t>
            </a:r>
          </a:p>
        </p:txBody>
      </p:sp>
      <p:graphicFrame>
        <p:nvGraphicFramePr>
          <p:cNvPr id="4" name="Object 3">
            <a:extLst>
              <a:ext uri="{FF2B5EF4-FFF2-40B4-BE49-F238E27FC236}">
                <a16:creationId xmlns:a16="http://schemas.microsoft.com/office/drawing/2014/main" id="{E0D6A120-8102-AB33-1FF2-CE608B4FA2B2}"/>
              </a:ext>
            </a:extLst>
          </p:cNvPr>
          <p:cNvGraphicFramePr/>
          <p:nvPr>
            <p:extLst>
              <p:ext uri="{D42A27DB-BD31-4B8C-83A1-F6EECF244321}">
                <p14:modId xmlns:p14="http://schemas.microsoft.com/office/powerpoint/2010/main" val="1257471661"/>
              </p:ext>
            </p:extLst>
          </p:nvPr>
        </p:nvGraphicFramePr>
        <p:xfrm>
          <a:off x="861456" y="1775441"/>
          <a:ext cx="9738995" cy="3023870"/>
        </p:xfrm>
        <a:graphic>
          <a:graphicData uri="http://schemas.openxmlformats.org/presentationml/2006/ole">
            <mc:AlternateContent xmlns:mc="http://schemas.openxmlformats.org/markup-compatibility/2006">
              <mc:Choice xmlns:v="urn:schemas-microsoft-com:vml" Requires="v">
                <p:oleObj r:id="rId2" imgW="5638800" imgH="2038350" progId="Paint.Picture">
                  <p:embed/>
                </p:oleObj>
              </mc:Choice>
              <mc:Fallback>
                <p:oleObj r:id="rId2" imgW="5638800" imgH="2038350" progId="Paint.Picture">
                  <p:embed/>
                  <p:pic>
                    <p:nvPicPr>
                      <p:cNvPr id="4" name="Object 3">
                        <a:extLst>
                          <a:ext uri="{FF2B5EF4-FFF2-40B4-BE49-F238E27FC236}">
                            <a16:creationId xmlns:a16="http://schemas.microsoft.com/office/drawing/2014/main" id="{E0D6A120-8102-AB33-1FF2-CE608B4FA2B2}"/>
                          </a:ext>
                        </a:extLst>
                      </p:cNvPr>
                      <p:cNvPicPr/>
                      <p:nvPr/>
                    </p:nvPicPr>
                    <p:blipFill>
                      <a:blip r:embed="rId3"/>
                      <a:stretch>
                        <a:fillRect/>
                      </a:stretch>
                    </p:blipFill>
                    <p:spPr>
                      <a:xfrm>
                        <a:off x="861456" y="1775441"/>
                        <a:ext cx="9738995" cy="3023870"/>
                      </a:xfrm>
                      <a:prstGeom prst="rect">
                        <a:avLst/>
                      </a:prstGeom>
                    </p:spPr>
                  </p:pic>
                </p:oleObj>
              </mc:Fallback>
            </mc:AlternateContent>
          </a:graphicData>
        </a:graphic>
      </p:graphicFrame>
    </p:spTree>
    <p:extLst>
      <p:ext uri="{BB962C8B-B14F-4D97-AF65-F5344CB8AC3E}">
        <p14:creationId xmlns:p14="http://schemas.microsoft.com/office/powerpoint/2010/main" val="867222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840" y="1"/>
            <a:ext cx="10515600" cy="1165860"/>
          </a:xfrm>
        </p:spPr>
        <p:txBody>
          <a:bodyPr/>
          <a:lstStyle/>
          <a:p>
            <a:r>
              <a:rPr lang="en-US" b="1" dirty="0">
                <a:latin typeface="Times New Roman" panose="02020603050405020304" pitchFamily="18" charset="0"/>
                <a:cs typeface="Times New Roman" panose="02020603050405020304" pitchFamily="18" charset="0"/>
              </a:rPr>
              <a:t>N-BIT PARALLEL SUBTRACTOR:</a:t>
            </a:r>
          </a:p>
        </p:txBody>
      </p:sp>
      <p:sp>
        <p:nvSpPr>
          <p:cNvPr id="3" name="Content Placeholder 2"/>
          <p:cNvSpPr>
            <a:spLocks noGrp="1"/>
          </p:cNvSpPr>
          <p:nvPr>
            <p:ph idx="1"/>
          </p:nvPr>
        </p:nvSpPr>
        <p:spPr>
          <a:xfrm>
            <a:off x="370840" y="1165860"/>
            <a:ext cx="11545570" cy="5594350"/>
          </a:xfrm>
        </p:spPr>
        <p:txBody>
          <a:bodyPr>
            <a:noAutofit/>
          </a:bodyPr>
          <a:lstStyle/>
          <a:p>
            <a:pPr lvl="0">
              <a:lnSpc>
                <a:spcPct val="100000"/>
              </a:lnSpc>
            </a:pPr>
            <a:r>
              <a:rPr lang="en-US" sz="3195" dirty="0">
                <a:latin typeface="Times New Roman" panose="02020603050405020304" pitchFamily="18" charset="0"/>
                <a:cs typeface="Times New Roman" panose="02020603050405020304" pitchFamily="18" charset="0"/>
              </a:rPr>
              <a:t>For example we can perform the subtraction (A-B) by adding  2's complement of B to A. That means we can use a binary adder to perform the binary subtraction.</a:t>
            </a:r>
          </a:p>
          <a:p>
            <a:pPr lvl="0">
              <a:lnSpc>
                <a:spcPct val="100000"/>
              </a:lnSpc>
            </a:pPr>
            <a:endParaRPr lang="en-US" sz="3195" dirty="0">
              <a:latin typeface="Times New Roman" panose="02020603050405020304" pitchFamily="18" charset="0"/>
              <a:cs typeface="Times New Roman" panose="02020603050405020304" pitchFamily="18" charset="0"/>
            </a:endParaRPr>
          </a:p>
        </p:txBody>
      </p:sp>
      <p:pic>
        <p:nvPicPr>
          <p:cNvPr id="146016567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25135" y="3138576"/>
            <a:ext cx="9607550" cy="279527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215" y="574040"/>
            <a:ext cx="11582400" cy="5949315"/>
          </a:xfrm>
        </p:spPr>
        <p:txBody>
          <a:bodyPr>
            <a:noAutofit/>
          </a:bodyPr>
          <a:lstStyle/>
          <a:p>
            <a:pPr marL="15240" indent="0">
              <a:buNone/>
            </a:pP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The procedure of subtraction can be done by considering the addition of minuend with subtrahend’s 2’s complement. So that parallel subtraction can be done.</a:t>
            </a:r>
          </a:p>
          <a:p>
            <a:r>
              <a:rPr lang="en-US" sz="2800">
                <a:latin typeface="Times New Roman" panose="02020603050405020304" pitchFamily="18" charset="0"/>
                <a:cs typeface="Times New Roman" panose="02020603050405020304" pitchFamily="18" charset="0"/>
              </a:rPr>
              <a:t>The 1’s complement of ‘B’ can be attained through the NOT logic gate &amp; ‘1’ is added throughout the carry to get the 2’s complement of ‘B’. Further, this is added to ‘A’ to perform the arithmetic subtraction.</a:t>
            </a:r>
          </a:p>
          <a:p>
            <a:r>
              <a:rPr lang="en-US" sz="2800">
                <a:latin typeface="Times New Roman" panose="02020603050405020304" pitchFamily="18" charset="0"/>
                <a:cs typeface="Times New Roman" panose="02020603050405020304" pitchFamily="18" charset="0"/>
              </a:rPr>
              <a:t>This procedure will continue till the final full adder like ‘FAn’ and it utilizes the carry bit ‘Cn’ to include with its i/p ‘An’ as well as 2’s complement of ‘Bn’ to produce the final output bit with final carry bit ‘Cout’.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485" y="-187007"/>
            <a:ext cx="10972800" cy="1143000"/>
          </a:xfrm>
        </p:spPr>
        <p:txBody>
          <a:bodyPr/>
          <a:lstStyle/>
          <a:p>
            <a:r>
              <a:rPr lang="en-US" sz="4000" b="1">
                <a:latin typeface="Times New Roman" panose="02020603050405020304" pitchFamily="18" charset="0"/>
                <a:cs typeface="Times New Roman" panose="02020603050405020304" pitchFamily="18" charset="0"/>
              </a:rPr>
              <a:t>4 BIT PARALLEL SUBTRACTOR:</a:t>
            </a:r>
          </a:p>
        </p:txBody>
      </p:sp>
      <p:sp>
        <p:nvSpPr>
          <p:cNvPr id="3" name="Content Placeholder 2"/>
          <p:cNvSpPr>
            <a:spLocks noGrp="1"/>
          </p:cNvSpPr>
          <p:nvPr>
            <p:ph idx="1"/>
          </p:nvPr>
        </p:nvSpPr>
        <p:spPr>
          <a:xfrm>
            <a:off x="609600" y="645160"/>
            <a:ext cx="10972800" cy="6213475"/>
          </a:xfrm>
        </p:spPr>
        <p:txBody>
          <a:bodyPr/>
          <a:lstStyle/>
          <a:p>
            <a:r>
              <a:rPr lang="en-US">
                <a:latin typeface="Times New Roman" panose="02020603050405020304" pitchFamily="18" charset="0"/>
                <a:cs typeface="Times New Roman" panose="02020603050405020304" pitchFamily="18" charset="0"/>
              </a:rPr>
              <a:t>The number to be subtracted (B) is first passed through inverters to obtain its 1's complement. </a:t>
            </a:r>
          </a:p>
          <a:p>
            <a:r>
              <a:rPr lang="en-US">
                <a:latin typeface="Times New Roman" panose="02020603050405020304" pitchFamily="18" charset="0"/>
                <a:cs typeface="Times New Roman" panose="02020603050405020304" pitchFamily="18" charset="0"/>
              </a:rPr>
              <a:t>The 4-bit adder then adds A and 2's complement of B to produce the subtraction. S3 S2 S1 S0 represents the result of binary subtraction (A-B) and carry output Cout represents the polarity of the result. </a:t>
            </a:r>
          </a:p>
          <a:p>
            <a:r>
              <a:rPr lang="en-US">
                <a:latin typeface="Times New Roman" panose="02020603050405020304" pitchFamily="18" charset="0"/>
                <a:cs typeface="Times New Roman" panose="02020603050405020304" pitchFamily="18" charset="0"/>
              </a:rPr>
              <a:t>If A &gt; B then Cout = 1 and the result is positive.</a:t>
            </a:r>
          </a:p>
          <a:p>
            <a:r>
              <a:rPr lang="en-US">
                <a:latin typeface="Times New Roman" panose="02020603050405020304" pitchFamily="18" charset="0"/>
                <a:cs typeface="Times New Roman" panose="02020603050405020304" pitchFamily="18" charset="0"/>
              </a:rPr>
              <a:t>If A&lt; B then Cout = 0 and the result is in the 2's complement form.</a:t>
            </a:r>
          </a:p>
        </p:txBody>
      </p:sp>
      <p:pic>
        <p:nvPicPr>
          <p:cNvPr id="752" name="Picture 752" descr="A diagram of a binary adder&#10;&#10;Description automatically generated"/>
          <p:cNvPicPr/>
          <p:nvPr/>
        </p:nvPicPr>
        <p:blipFill>
          <a:blip r:embed="rId2"/>
          <a:stretch>
            <a:fillRect/>
          </a:stretch>
        </p:blipFill>
        <p:spPr>
          <a:xfrm>
            <a:off x="2341562" y="3700145"/>
            <a:ext cx="7508875" cy="315785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0120" y="-312420"/>
            <a:ext cx="10972800" cy="1068070"/>
          </a:xfrm>
        </p:spPr>
        <p:txBody>
          <a:bodyPr/>
          <a:lstStyle/>
          <a:p>
            <a:r>
              <a:rPr lang="en-US" b="1">
                <a:latin typeface="Times New Roman" panose="02020603050405020304" pitchFamily="18" charset="0"/>
                <a:cs typeface="Times New Roman" panose="02020603050405020304" pitchFamily="18" charset="0"/>
              </a:rPr>
              <a:t>Logic diagram:</a:t>
            </a:r>
          </a:p>
        </p:txBody>
      </p:sp>
      <p:sp>
        <p:nvSpPr>
          <p:cNvPr id="3" name="Content Placeholder 2"/>
          <p:cNvSpPr>
            <a:spLocks noGrp="1"/>
          </p:cNvSpPr>
          <p:nvPr>
            <p:ph idx="1"/>
          </p:nvPr>
        </p:nvSpPr>
        <p:spPr>
          <a:xfrm>
            <a:off x="609600" y="587375"/>
            <a:ext cx="11323955" cy="5020310"/>
          </a:xfrm>
        </p:spPr>
        <p:txBody>
          <a:bodyPr/>
          <a:lstStyle/>
          <a:p>
            <a:pPr marL="15240" indent="0">
              <a:buNone/>
            </a:pPr>
            <a:r>
              <a:rPr lang="en-US"/>
              <a:t></a:t>
            </a:r>
          </a:p>
        </p:txBody>
      </p:sp>
      <p:pic>
        <p:nvPicPr>
          <p:cNvPr id="16090836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60120" y="587375"/>
            <a:ext cx="9425305" cy="3150235"/>
          </a:xfrm>
          <a:prstGeom prst="rect">
            <a:avLst/>
          </a:prstGeom>
          <a:noFill/>
          <a:ln>
            <a:noFill/>
          </a:ln>
        </p:spPr>
      </p:pic>
      <p:sp>
        <p:nvSpPr>
          <p:cNvPr id="6" name="Title 1"/>
          <p:cNvSpPr>
            <a:spLocks noGrp="1"/>
          </p:cNvSpPr>
          <p:nvPr/>
        </p:nvSpPr>
        <p:spPr>
          <a:xfrm>
            <a:off x="609600" y="3971290"/>
            <a:ext cx="10972800" cy="1068070"/>
          </a:xfrm>
          <a:prstGeom prst="rect">
            <a:avLst/>
          </a:prstGeom>
          <a:noFill/>
          <a:ln>
            <a:noFill/>
          </a:ln>
        </p:spPr>
        <p:txBody>
          <a:bodyPr wrap="square" lIns="81025" tIns="40500" rIns="81025" bIns="40500" anchor="ctr" anchorCtr="0">
            <a:normAutofit/>
          </a:bodyPr>
          <a:lstStyle>
            <a:defPPr marR="0" lvl="0" algn="l" rtl="0">
              <a:lnSpc>
                <a:spcPct val="100000"/>
              </a:lnSpc>
              <a:spcBef>
                <a:spcPts val="0"/>
              </a:spcBef>
              <a:spcAft>
                <a:spcPts val="0"/>
              </a:spcAft>
            </a:defPPr>
            <a:lvl1pPr marR="0" lvl="0" algn="l" rtl="0" eaLnBrk="0" fontAlgn="base" hangingPunct="0">
              <a:spcBef>
                <a:spcPts val="0"/>
              </a:spcBef>
              <a:spcAft>
                <a:spcPts val="0"/>
              </a:spcAft>
              <a:buClr>
                <a:schemeClr val="dk1"/>
              </a:buClr>
              <a:buSzPts val="4680"/>
              <a:buFont typeface="Calibri" panose="020F0502020204030204"/>
              <a:buNone/>
              <a:defRPr sz="4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lgn="l" rtl="0" eaLnBrk="0" fontAlgn="base" hangingPunct="0">
              <a:spcBef>
                <a:spcPts val="0"/>
              </a:spcBef>
              <a:spcAft>
                <a:spcPts val="0"/>
              </a:spcAft>
              <a:buClr>
                <a:srgbClr val="000000"/>
              </a:buClr>
              <a:buSzPts val="1400"/>
              <a:buFont typeface="Arial" panose="020B0604020202020204" pitchFamily="34" charset="0"/>
              <a:buNone/>
              <a:defRPr sz="1800">
                <a:solidFill>
                  <a:srgbClr val="000000"/>
                </a:solidFill>
                <a:latin typeface="Arial" panose="020B0604020202020204"/>
                <a:ea typeface="Arial" panose="020B0604020202020204"/>
                <a:cs typeface="Arial" panose="020B0604020202020204"/>
                <a:sym typeface="Arial" panose="020B0604020202020204" pitchFamily="34" charset="0"/>
              </a:defRPr>
            </a:lvl2pPr>
            <a:lvl3pPr lvl="2" algn="l" rtl="0" eaLnBrk="0" fontAlgn="base" hangingPunct="0">
              <a:spcBef>
                <a:spcPts val="0"/>
              </a:spcBef>
              <a:spcAft>
                <a:spcPts val="0"/>
              </a:spcAft>
              <a:buClr>
                <a:srgbClr val="000000"/>
              </a:buClr>
              <a:buSzPts val="1400"/>
              <a:buFont typeface="Arial" panose="020B0604020202020204" pitchFamily="34" charset="0"/>
              <a:buNone/>
              <a:defRPr sz="1800">
                <a:solidFill>
                  <a:srgbClr val="000000"/>
                </a:solidFill>
                <a:latin typeface="Arial" panose="020B0604020202020204"/>
                <a:ea typeface="Arial" panose="020B0604020202020204"/>
                <a:cs typeface="Arial" panose="020B0604020202020204"/>
                <a:sym typeface="Arial" panose="020B0604020202020204" pitchFamily="34" charset="0"/>
              </a:defRPr>
            </a:lvl3pPr>
            <a:lvl4pPr lvl="3" algn="l" rtl="0" eaLnBrk="0" fontAlgn="base" hangingPunct="0">
              <a:spcBef>
                <a:spcPts val="0"/>
              </a:spcBef>
              <a:spcAft>
                <a:spcPts val="0"/>
              </a:spcAft>
              <a:buClr>
                <a:srgbClr val="000000"/>
              </a:buClr>
              <a:buSzPts val="1400"/>
              <a:buFont typeface="Arial" panose="020B0604020202020204" pitchFamily="34" charset="0"/>
              <a:buNone/>
              <a:defRPr sz="1800">
                <a:solidFill>
                  <a:srgbClr val="000000"/>
                </a:solidFill>
                <a:latin typeface="Arial" panose="020B0604020202020204"/>
                <a:ea typeface="Arial" panose="020B0604020202020204"/>
                <a:cs typeface="Arial" panose="020B0604020202020204"/>
                <a:sym typeface="Arial" panose="020B0604020202020204" pitchFamily="34" charset="0"/>
              </a:defRPr>
            </a:lvl4pPr>
            <a:lvl5pPr lvl="4" algn="l" rtl="0" eaLnBrk="0" fontAlgn="base" hangingPunct="0">
              <a:spcBef>
                <a:spcPts val="0"/>
              </a:spcBef>
              <a:spcAft>
                <a:spcPts val="0"/>
              </a:spcAft>
              <a:buClr>
                <a:srgbClr val="000000"/>
              </a:buClr>
              <a:buSzPts val="1400"/>
              <a:buFont typeface="Arial" panose="020B0604020202020204" pitchFamily="34" charset="0"/>
              <a:buNone/>
              <a:defRPr sz="1800">
                <a:solidFill>
                  <a:srgbClr val="000000"/>
                </a:solidFill>
                <a:latin typeface="Arial" panose="020B0604020202020204"/>
                <a:ea typeface="Arial" panose="020B0604020202020204"/>
                <a:cs typeface="Arial" panose="020B0604020202020204"/>
                <a:sym typeface="Arial" panose="020B0604020202020204" pitchFamily="34" charset="0"/>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lang="en-US" b="1">
              <a:latin typeface="Times New Roman" panose="02020603050405020304" pitchFamily="18" charset="0"/>
              <a:cs typeface="Times New Roman" panose="02020603050405020304" pitchFamily="18" charset="0"/>
            </a:endParaRPr>
          </a:p>
        </p:txBody>
      </p:sp>
      <p:sp>
        <p:nvSpPr>
          <p:cNvPr id="7" name="Text Box 6"/>
          <p:cNvSpPr txBox="1"/>
          <p:nvPr/>
        </p:nvSpPr>
        <p:spPr>
          <a:xfrm>
            <a:off x="609600" y="3639185"/>
            <a:ext cx="11485880" cy="3089275"/>
          </a:xfrm>
          <a:prstGeom prst="rect">
            <a:avLst/>
          </a:prstGeom>
          <a:noFill/>
        </p:spPr>
        <p:txBody>
          <a:bodyPr wrap="square" rtlCol="0">
            <a:noAutofit/>
          </a:bodyPr>
          <a:lstStyle/>
          <a:p>
            <a:pPr marL="35814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The minuend bits are given directly to the full adder.</a:t>
            </a:r>
            <a:endParaRPr lang="en-US" sz="2800" dirty="0">
              <a:latin typeface="Times New Roman" panose="02020603050405020304" pitchFamily="18" charset="0"/>
              <a:cs typeface="Times New Roman" panose="02020603050405020304" pitchFamily="18" charset="0"/>
            </a:endParaRPr>
          </a:p>
          <a:p>
            <a:pPr marL="35814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The subtrahend bits are inverted or complemented by using a NOT gate and given to the full    adder.</a:t>
            </a:r>
            <a:endParaRPr lang="en-US" sz="2800" dirty="0">
              <a:latin typeface="Times New Roman" panose="02020603050405020304" pitchFamily="18" charset="0"/>
              <a:cs typeface="Times New Roman" panose="02020603050405020304" pitchFamily="18" charset="0"/>
            </a:endParaRPr>
          </a:p>
          <a:p>
            <a:pPr marL="35814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The carry input for the first full adder is set to ‘1’.</a:t>
            </a:r>
            <a:endParaRPr lang="en-US" sz="2800" dirty="0">
              <a:latin typeface="Times New Roman" panose="02020603050405020304" pitchFamily="18" charset="0"/>
              <a:cs typeface="Times New Roman" panose="02020603050405020304" pitchFamily="18" charset="0"/>
            </a:endParaRPr>
          </a:p>
          <a:p>
            <a:pPr marL="35814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The sum output of each full adder S3 S2 S1 S0 corresponds to the difference output D3 D2 D1 D0 of each bit in a multi-bit binary number.</a:t>
            </a:r>
            <a:endParaRPr lang="en-US" sz="2800" dirty="0">
              <a:latin typeface="Times New Roman" panose="02020603050405020304" pitchFamily="18" charset="0"/>
              <a:cs typeface="Times New Roman" panose="02020603050405020304" pitchFamily="18" charset="0"/>
            </a:endParaRPr>
          </a:p>
          <a:p>
            <a:pPr marL="35814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mn-ea"/>
              </a:rPr>
              <a:t>If there is any carry produced at the 4th block, it will be seen at C4.</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6501" y="2591966"/>
            <a:ext cx="10972800" cy="635000"/>
          </a:xfrm>
        </p:spPr>
        <p:txBody>
          <a:bodyPr>
            <a:noAutofit/>
          </a:bodyPr>
          <a:lstStyle/>
          <a:p>
            <a:r>
              <a:rPr lang="en-US" sz="4000" b="1" dirty="0">
                <a:latin typeface="Times New Roman" panose="02020603050405020304" pitchFamily="18" charset="0"/>
                <a:cs typeface="Times New Roman" panose="02020603050405020304" pitchFamily="18" charset="0"/>
                <a:sym typeface="+mn-ea"/>
              </a:rPr>
              <a:t>DECIMAL ADDER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2465" y="379730"/>
            <a:ext cx="10909935" cy="5746750"/>
          </a:xfrm>
        </p:spPr>
        <p:txBody>
          <a:bodyPr/>
          <a:lstStyle/>
          <a:p>
            <a:r>
              <a:rPr lang="en-US" sz="2800" dirty="0">
                <a:solidFill>
                  <a:srgbClr val="3A3A3A"/>
                </a:solidFill>
                <a:effectLst/>
                <a:latin typeface="Times New Roman" panose="02020603050405020304" pitchFamily="18" charset="0"/>
                <a:cs typeface="Times New Roman" panose="02020603050405020304" pitchFamily="18" charset="0"/>
                <a:sym typeface="+mn-ea"/>
              </a:rPr>
              <a:t>BCD Adder Block Diagram, as shown in the Fig below.</a:t>
            </a:r>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2008423" y="1514168"/>
            <a:ext cx="7580671" cy="4786569"/>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7740" y="223520"/>
            <a:ext cx="10972800" cy="635000"/>
          </a:xfrm>
        </p:spPr>
        <p:txBody>
          <a:bodyPr>
            <a:noAutofit/>
          </a:bodyPr>
          <a:lstStyle/>
          <a:p>
            <a:r>
              <a:rPr lang="en-US" sz="4400" b="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sym typeface="+mn-ea"/>
              </a:rPr>
              <a:t>Digital Binary Multiplier</a:t>
            </a:r>
            <a:endParaRPr lang="en-US" sz="4400"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520700" y="1368186"/>
            <a:ext cx="11419840" cy="5729605"/>
          </a:xfrm>
        </p:spPr>
        <p:txBody>
          <a:bodyPr>
            <a:noAutofit/>
          </a:bodyPr>
          <a:lstStyle/>
          <a:p>
            <a:pPr marL="342900" lvl="0" indent="-342900">
              <a:lnSpc>
                <a:spcPct val="115000"/>
              </a:lnSpc>
              <a:buFont typeface="Symbol" panose="05050102010706020507" pitchFamily="18" charset="2"/>
              <a:buChar char=""/>
            </a:pPr>
            <a:r>
              <a:rPr lang="en-IN" sz="2800"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A</a:t>
            </a:r>
            <a:r>
              <a:rPr lang="en-IN" sz="2800" b="1"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Binary multiplier</a:t>
            </a:r>
            <a:r>
              <a:rPr lang="en-IN" sz="2800"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is a combinational logic circuit used for</a:t>
            </a:r>
            <a:r>
              <a:rPr lang="en-IN" sz="2800" b="1"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multiplying two binary numbers.</a:t>
            </a:r>
            <a:r>
              <a:rPr lang="en-IN" sz="2800"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a:t>
            </a:r>
            <a:endParaRPr lang="en-US" sz="2800" kern="100" dirty="0">
              <a:effectLst/>
              <a:latin typeface="Times New Roman" panose="02020603050405020304" pitchFamily="18" charset="0"/>
              <a:ea typeface="Calibri" panose="020F0502020204030204" charset="0"/>
              <a:cs typeface="Times New Roman" panose="02020603050405020304" pitchFamily="18" charset="0"/>
            </a:endParaRPr>
          </a:p>
          <a:p>
            <a:pPr marL="342900" lvl="0" indent="-342900">
              <a:lnSpc>
                <a:spcPct val="115000"/>
              </a:lnSpc>
              <a:buFont typeface="Symbol" panose="05050102010706020507" pitchFamily="18" charset="2"/>
              <a:buChar char=""/>
            </a:pPr>
            <a:r>
              <a:rPr lang="en-IN" sz="2800"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The two numbers are more specifically known as </a:t>
            </a:r>
            <a:r>
              <a:rPr lang="en-IN" sz="2800" b="1"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multiplicand</a:t>
            </a:r>
            <a:r>
              <a:rPr lang="en-IN" sz="2800"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and </a:t>
            </a:r>
            <a:r>
              <a:rPr lang="en-IN" sz="2800" b="1"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multiplier</a:t>
            </a:r>
            <a:r>
              <a:rPr lang="en-IN" sz="2800"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 and the result is known as a </a:t>
            </a:r>
            <a:r>
              <a:rPr lang="en-IN" sz="2800" b="1" kern="100" dirty="0">
                <a:solidFill>
                  <a:srgbClr val="000000"/>
                </a:solidFill>
                <a:effectLst/>
                <a:latin typeface="Times New Roman" panose="02020603050405020304" pitchFamily="18" charset="0"/>
                <a:ea typeface="Calibri" panose="020F0502020204030204" charset="0"/>
                <a:cs typeface="Times New Roman" panose="02020603050405020304" pitchFamily="18" charset="0"/>
                <a:sym typeface="+mn-ea"/>
              </a:rPr>
              <a:t>product.</a:t>
            </a:r>
            <a:endParaRPr lang="en-US" sz="2800" kern="100" dirty="0">
              <a:effectLst/>
              <a:latin typeface="Times New Roman" panose="02020603050405020304" pitchFamily="18" charset="0"/>
              <a:ea typeface="Calibri" panose="020F0502020204030204" charset="0"/>
              <a:cs typeface="Times New Roman" panose="02020603050405020304" pitchFamily="18" charset="0"/>
            </a:endParaRPr>
          </a:p>
          <a:p>
            <a:pPr marL="15240" indent="0">
              <a:buNone/>
            </a:pPr>
            <a:endParaRPr lang="en-US" sz="31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8840" y="-173037"/>
            <a:ext cx="10972800" cy="1143000"/>
          </a:xfrm>
        </p:spPr>
        <p:txBody>
          <a:bodyPr>
            <a:normAutofit/>
          </a:bodyPr>
          <a:lstStyle/>
          <a:p>
            <a:r>
              <a:rPr lang="en-US" sz="3600" b="1"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sym typeface="+mn-ea"/>
              </a:rPr>
              <a:t>2×2 Bit Multiplier:</a:t>
            </a:r>
            <a:endParaRPr lang="en-US" sz="3600" dirty="0"/>
          </a:p>
        </p:txBody>
      </p:sp>
      <p:sp>
        <p:nvSpPr>
          <p:cNvPr id="3" name="Content Placeholder 2"/>
          <p:cNvSpPr>
            <a:spLocks noGrp="1"/>
          </p:cNvSpPr>
          <p:nvPr>
            <p:ph idx="1"/>
          </p:nvPr>
        </p:nvSpPr>
        <p:spPr>
          <a:xfrm>
            <a:off x="629587" y="705992"/>
            <a:ext cx="8509416" cy="1752396"/>
          </a:xfrm>
        </p:spPr>
        <p:txBody>
          <a:bodyPr/>
          <a:lstStyle/>
          <a:p>
            <a:pPr marL="0" indent="0" algn="just">
              <a:lnSpc>
                <a:spcPct val="115000"/>
              </a:lnSpc>
              <a:spcAft>
                <a:spcPts val="1000"/>
              </a:spcAft>
              <a:buNone/>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This multiplier can multiply two numbers having bit size = 2 i.e. the multiplier and multiplicand can be of 2 bits. </a:t>
            </a:r>
            <a:endParaRPr lang="en-US" sz="2000" kern="100" dirty="0">
              <a:effectLst/>
              <a:latin typeface="Times New Roman" panose="02020603050405020304" pitchFamily="18" charset="0"/>
              <a:ea typeface="Calibri" panose="020F0502020204030204" charset="0"/>
              <a:cs typeface="Times New Roman" panose="02020603050405020304" pitchFamily="18" charset="0"/>
            </a:endParaRPr>
          </a:p>
          <a:p>
            <a:pPr marL="342900" lvl="0" indent="-342900" algn="just">
              <a:lnSpc>
                <a:spcPts val="1950"/>
              </a:lnSpc>
              <a:buFont typeface="Symbol" panose="05050102010706020507" pitchFamily="18" charset="2"/>
              <a:buChar char=""/>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The product bit size will be the sum of the bit size of the input i.e. </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2+2=4</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endParaRPr lang="en-US" sz="2000" kern="100" dirty="0">
              <a:effectLst/>
              <a:latin typeface="Times New Roman" panose="02020603050405020304" pitchFamily="18" charset="0"/>
              <a:ea typeface="Calibri" panose="020F0502020204030204" charset="0"/>
              <a:cs typeface="Times New Roman" panose="02020603050405020304" pitchFamily="18" charset="0"/>
            </a:endParaRPr>
          </a:p>
          <a:p>
            <a:pPr marL="0" indent="0">
              <a:buNone/>
            </a:pPr>
            <a:endParaRPr lang="en-US"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575" y="2458388"/>
            <a:ext cx="4924425" cy="22383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Lst>
          </a:blip>
          <a:stretch>
            <a:fillRect/>
          </a:stretch>
        </p:blipFill>
        <p:spPr>
          <a:xfrm>
            <a:off x="7831528" y="2318371"/>
            <a:ext cx="3332480" cy="2518410"/>
          </a:xfrm>
          <a:prstGeom prst="rect">
            <a:avLst/>
          </a:prstGeom>
          <a:effectLst>
            <a:outerShdw blurRad="50800" dist="50800" dir="5400000" algn="ctr" rotWithShape="0">
              <a:schemeClr val="tx1"/>
            </a:outerShdw>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339" y="794478"/>
            <a:ext cx="10316210" cy="798195"/>
          </a:xfrm>
        </p:spPr>
        <p:txBody>
          <a:bodyPr/>
          <a:lstStyle/>
          <a:p>
            <a:r>
              <a:rPr lang="en-US" b="1" dirty="0">
                <a:solidFill>
                  <a:srgbClr val="000000"/>
                </a:solidFill>
                <a:effectLst/>
                <a:latin typeface="Times New Roman" panose="02020603050405020304" pitchFamily="18" charset="0"/>
                <a:cs typeface="Times New Roman" panose="02020603050405020304" pitchFamily="18" charset="0"/>
                <a:sym typeface="+mn-ea"/>
              </a:rPr>
              <a:t>Magnitude Comparators</a:t>
            </a:r>
            <a:r>
              <a:rPr lang="en-US" dirty="0">
                <a:solidFill>
                  <a:srgbClr val="000000"/>
                </a:solidFill>
                <a:effectLst/>
                <a:latin typeface="Times New Roman" panose="02020603050405020304" pitchFamily="18" charset="0"/>
                <a:cs typeface="Times New Roman" panose="02020603050405020304" pitchFamily="18" charset="0"/>
                <a:sym typeface="+mn-ea"/>
              </a:rPr>
              <a:t> </a:t>
            </a:r>
            <a:endParaRPr lang="en-US" dirty="0"/>
          </a:p>
        </p:txBody>
      </p:sp>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artisticPhotocopy detail="2"/>
                    </a14:imgEffect>
                  </a14:imgLayer>
                </a14:imgProps>
              </a:ext>
            </a:extLst>
          </a:blip>
          <a:stretch>
            <a:fillRect/>
          </a:stretch>
        </p:blipFill>
        <p:spPr>
          <a:xfrm>
            <a:off x="3056703" y="1841253"/>
            <a:ext cx="4169920" cy="180066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486" y="186213"/>
            <a:ext cx="10515600" cy="1325563"/>
          </a:xfrm>
        </p:spPr>
        <p:txBody>
          <a:bodyPr>
            <a:normAutofit/>
          </a:bodyPr>
          <a:lstStyle/>
          <a:p>
            <a:r>
              <a:rPr lang="en-US" b="1" dirty="0">
                <a:solidFill>
                  <a:srgbClr val="273239"/>
                </a:solidFill>
                <a:effectLst/>
                <a:latin typeface="Times New Roman" panose="02020603050405020304" pitchFamily="18" charset="0"/>
                <a:cs typeface="Times New Roman" panose="02020603050405020304" pitchFamily="18" charset="0"/>
                <a:sym typeface="+mn-ea"/>
              </a:rPr>
              <a:t>1-Bit Magnitude Comparator</a:t>
            </a:r>
            <a:br>
              <a:rPr lang="en-US" b="1" dirty="0">
                <a:solidFill>
                  <a:srgbClr val="000000"/>
                </a:solidFill>
                <a:effectLst/>
                <a:latin typeface="Times New Roman" panose="02020603050405020304" pitchFamily="18" charset="0"/>
                <a:cs typeface="Times New Roman" panose="02020603050405020304" pitchFamily="18" charset="0"/>
                <a:sym typeface="+mn-ea"/>
              </a:rPr>
            </a:br>
            <a:endParaRPr lang="en-US" dirty="0"/>
          </a:p>
        </p:txBody>
      </p:sp>
      <p:sp>
        <p:nvSpPr>
          <p:cNvPr id="3" name="Content Placeholder 2"/>
          <p:cNvSpPr>
            <a:spLocks noGrp="1"/>
          </p:cNvSpPr>
          <p:nvPr>
            <p:ph idx="1"/>
          </p:nvPr>
        </p:nvSpPr>
        <p:spPr>
          <a:xfrm>
            <a:off x="609600" y="848995"/>
            <a:ext cx="10972800" cy="6009640"/>
          </a:xfrm>
        </p:spPr>
        <p:txBody>
          <a:bodyPr>
            <a:noAutofit/>
          </a:bodyPr>
          <a:lstStyle/>
          <a:p>
            <a:pPr algn="just"/>
            <a:r>
              <a:rPr lang="en-IN" sz="2800" dirty="0">
                <a:solidFill>
                  <a:schemeClr val="tx1"/>
                </a:solidFill>
                <a:effectLst/>
                <a:latin typeface="Times New Roman" panose="02020603050405020304" pitchFamily="18" charset="0"/>
                <a:cs typeface="Times New Roman" panose="02020603050405020304" pitchFamily="18" charset="0"/>
                <a:sym typeface="+mn-ea"/>
              </a:rPr>
              <a:t>A comparator used to compare two bits is called a single-bit comparator. .</a:t>
            </a:r>
            <a:endParaRPr lang="en-IN" sz="2800" b="0" i="0" dirty="0">
              <a:solidFill>
                <a:schemeClr val="tx1"/>
              </a:solidFill>
              <a:effectLst/>
              <a:latin typeface="Times New Roman" panose="02020603050405020304" pitchFamily="18" charset="0"/>
              <a:cs typeface="Times New Roman" panose="02020603050405020304" pitchFamily="18" charset="0"/>
            </a:endParaRPr>
          </a:p>
          <a:p>
            <a:pPr algn="just"/>
            <a:r>
              <a:rPr lang="en-IN" sz="2800" dirty="0">
                <a:solidFill>
                  <a:schemeClr val="tx1"/>
                </a:solidFill>
                <a:effectLst/>
                <a:latin typeface="Times New Roman" panose="02020603050405020304" pitchFamily="18" charset="0"/>
                <a:cs typeface="Times New Roman" panose="02020603050405020304" pitchFamily="18" charset="0"/>
                <a:sym typeface="+mn-ea"/>
              </a:rPr>
              <a:t>From the truth table logical expressions for each output can be expressed as follows.</a:t>
            </a:r>
            <a:endParaRPr lang="en-IN" sz="2800" b="0" i="0" dirty="0">
              <a:solidFill>
                <a:schemeClr val="tx1"/>
              </a:solidFill>
              <a:effectLst/>
              <a:latin typeface="Times New Roman" panose="02020603050405020304" pitchFamily="18" charset="0"/>
              <a:cs typeface="Times New Roman" panose="02020603050405020304" pitchFamily="18" charset="0"/>
            </a:endParaRPr>
          </a:p>
          <a:p>
            <a:pPr marL="0" indent="0" algn="just">
              <a:buNone/>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      A&gt;B: AB’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buNone/>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      A&lt;B: A’B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a:buNone/>
            </a:pPr>
            <a:r>
              <a:rPr lang="en-US" altLang="en-US" sz="2800" dirty="0">
                <a:ln>
                  <a:noFill/>
                </a:ln>
                <a:solidFill>
                  <a:schemeClr val="tx1"/>
                </a:solidFill>
                <a:effectLst/>
                <a:latin typeface="Times New Roman" panose="02020603050405020304" pitchFamily="18" charset="0"/>
                <a:cs typeface="Times New Roman" panose="02020603050405020304" pitchFamily="18" charset="0"/>
                <a:sym typeface="+mn-ea"/>
              </a:rPr>
              <a:t>      A=B: A'B' + AB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4292704" y="1812394"/>
            <a:ext cx="3182620" cy="2508250"/>
          </a:xfrm>
          <a:prstGeom prst="rect">
            <a:avLst/>
          </a:prstGeom>
        </p:spPr>
      </p:pic>
      <p:pic>
        <p:nvPicPr>
          <p:cNvPr id="4" name="Content Placeholder 5">
            <a:extLst>
              <a:ext uri="{FF2B5EF4-FFF2-40B4-BE49-F238E27FC236}">
                <a16:creationId xmlns:a16="http://schemas.microsoft.com/office/drawing/2014/main" id="{7B9EE551-BD22-C26F-9C9D-908202458698}"/>
              </a:ext>
            </a:extLst>
          </p:cNvPr>
          <p:cNvPicPr>
            <a:picLocks noChangeAspect="1"/>
          </p:cNvPicPr>
          <p:nvPr/>
        </p:nvPicPr>
        <p:blipFill>
          <a:blip r:embed="rId3"/>
          <a:stretch>
            <a:fillRect/>
          </a:stretch>
        </p:blipFill>
        <p:spPr>
          <a:xfrm>
            <a:off x="7634988" y="1948720"/>
            <a:ext cx="3787748" cy="343382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335" y="0"/>
            <a:ext cx="9986645" cy="758190"/>
          </a:xfrm>
        </p:spPr>
        <p:txBody>
          <a:bodyPr/>
          <a:lstStyle/>
          <a:p>
            <a:r>
              <a:rPr lang="en-US">
                <a:latin typeface="Times New Roman" panose="02020603050405020304" pitchFamily="18" charset="0"/>
                <a:cs typeface="Times New Roman" panose="02020603050405020304" pitchFamily="18" charset="0"/>
              </a:rPr>
              <a:t>Decoder:</a:t>
            </a:r>
          </a:p>
        </p:txBody>
      </p:sp>
      <p:sp>
        <p:nvSpPr>
          <p:cNvPr id="3" name="Content Placeholder 2"/>
          <p:cNvSpPr>
            <a:spLocks noGrp="1"/>
          </p:cNvSpPr>
          <p:nvPr>
            <p:ph idx="1"/>
          </p:nvPr>
        </p:nvSpPr>
        <p:spPr>
          <a:xfrm>
            <a:off x="609600" y="1071759"/>
            <a:ext cx="10972800" cy="5497195"/>
          </a:xfrm>
        </p:spPr>
        <p:txBody>
          <a:bodyPr/>
          <a:lstStyle/>
          <a:p>
            <a:r>
              <a:rPr lang="en-US" sz="3200" dirty="0">
                <a:latin typeface="Times New Roman" panose="02020603050405020304" pitchFamily="18" charset="0"/>
                <a:cs typeface="Times New Roman" panose="02020603050405020304" pitchFamily="18" charset="0"/>
              </a:rPr>
              <a:t>The combinational circuit that change the binary information into 2</a:t>
            </a:r>
            <a:r>
              <a:rPr lang="en-US" sz="3200" baseline="30000" dirty="0">
                <a:latin typeface="Times New Roman" panose="02020603050405020304" pitchFamily="18" charset="0"/>
                <a:cs typeface="Times New Roman" panose="02020603050405020304" pitchFamily="18" charset="0"/>
              </a:rPr>
              <a:t>N</a:t>
            </a:r>
            <a:r>
              <a:rPr lang="en-US" sz="3200" dirty="0">
                <a:latin typeface="Times New Roman" panose="02020603050405020304" pitchFamily="18" charset="0"/>
                <a:cs typeface="Times New Roman" panose="02020603050405020304" pitchFamily="18" charset="0"/>
              </a:rPr>
              <a:t> output lines is known as Decoders. </a:t>
            </a:r>
          </a:p>
        </p:txBody>
      </p:sp>
      <p:pic>
        <p:nvPicPr>
          <p:cNvPr id="1026" name="Picture 2" descr="Deco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414077" y="2820867"/>
            <a:ext cx="4963160" cy="1998980"/>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067" y="27625"/>
            <a:ext cx="9161915" cy="537497"/>
          </a:xfrm>
        </p:spPr>
        <p:txBody>
          <a:bodyPr>
            <a:noAutofit/>
          </a:bodyPr>
          <a:lstStyle/>
          <a:p>
            <a:r>
              <a:rPr lang="en-US" sz="3200" b="1" dirty="0">
                <a:latin typeface="Times New Roman" panose="02020603050405020304" pitchFamily="18" charset="0"/>
                <a:cs typeface="Times New Roman" panose="02020603050405020304" pitchFamily="18" charset="0"/>
              </a:rPr>
              <a:t>2 to 4 line </a:t>
            </a:r>
            <a:r>
              <a:rPr lang="en-US" sz="2800" b="1" dirty="0">
                <a:latin typeface="Times New Roman" panose="02020603050405020304" pitchFamily="18" charset="0"/>
                <a:cs typeface="Times New Roman" panose="02020603050405020304" pitchFamily="18" charset="0"/>
              </a:rPr>
              <a:t>decoder</a:t>
            </a:r>
            <a:r>
              <a:rPr lang="en-US" sz="3200" b="1"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a:xfrm>
            <a:off x="609600" y="800100"/>
            <a:ext cx="10972800" cy="5326380"/>
          </a:xfrm>
        </p:spPr>
        <p:txBody>
          <a:bodyPr/>
          <a:lstStyle/>
          <a:p>
            <a:r>
              <a:rPr lang="en-US" sz="3200" b="1" u="sng" dirty="0">
                <a:latin typeface="Times New Roman" panose="02020603050405020304" pitchFamily="18" charset="0"/>
                <a:cs typeface="Times New Roman" panose="02020603050405020304" pitchFamily="18" charset="0"/>
              </a:rPr>
              <a:t>Block diagram</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 </a:t>
            </a:r>
            <a:r>
              <a:rPr lang="en-US" sz="3200" b="1" u="sng" dirty="0">
                <a:latin typeface="Times New Roman" panose="02020603050405020304" pitchFamily="18" charset="0"/>
                <a:cs typeface="Times New Roman" panose="02020603050405020304" pitchFamily="18" charset="0"/>
              </a:rPr>
              <a:t>   Truth Table</a:t>
            </a:r>
          </a:p>
        </p:txBody>
      </p:sp>
      <p:pic>
        <p:nvPicPr>
          <p:cNvPr id="4" name="image2.png" descr="Decoder"/>
          <p:cNvPicPr>
            <a:picLocks noChangeAspect="1"/>
          </p:cNvPicPr>
          <p:nvPr/>
        </p:nvPicPr>
        <p:blipFill>
          <a:blip r:embed="rId2" cstate="print"/>
          <a:stretch>
            <a:fillRect/>
          </a:stretch>
        </p:blipFill>
        <p:spPr>
          <a:xfrm>
            <a:off x="453087" y="1424620"/>
            <a:ext cx="2683989" cy="1754326"/>
          </a:xfrm>
          <a:prstGeom prst="rect">
            <a:avLst/>
          </a:prstGeom>
        </p:spPr>
      </p:pic>
      <p:pic>
        <p:nvPicPr>
          <p:cNvPr id="5" name="image3.png" descr="Decoder"/>
          <p:cNvPicPr>
            <a:picLocks noChangeAspect="1"/>
          </p:cNvPicPr>
          <p:nvPr/>
        </p:nvPicPr>
        <p:blipFill>
          <a:blip r:embed="rId3" cstate="print"/>
          <a:stretch>
            <a:fillRect/>
          </a:stretch>
        </p:blipFill>
        <p:spPr>
          <a:xfrm>
            <a:off x="4441738" y="1424619"/>
            <a:ext cx="4613188" cy="2143039"/>
          </a:xfrm>
          <a:prstGeom prst="rect">
            <a:avLst/>
          </a:prstGeom>
        </p:spPr>
      </p:pic>
      <p:sp>
        <p:nvSpPr>
          <p:cNvPr id="7" name="TextBox 6">
            <a:extLst>
              <a:ext uri="{FF2B5EF4-FFF2-40B4-BE49-F238E27FC236}">
                <a16:creationId xmlns:a16="http://schemas.microsoft.com/office/drawing/2014/main" id="{6E9A4DFC-1CE3-0192-8DB7-AAA90E77FDDC}"/>
              </a:ext>
            </a:extLst>
          </p:cNvPr>
          <p:cNvSpPr txBox="1"/>
          <p:nvPr/>
        </p:nvSpPr>
        <p:spPr>
          <a:xfrm>
            <a:off x="216067" y="4038444"/>
            <a:ext cx="4225671" cy="2031325"/>
          </a:xfrm>
          <a:prstGeom prst="rect">
            <a:avLst/>
          </a:prstGeom>
          <a:noFill/>
        </p:spPr>
        <p:txBody>
          <a:bodyPr wrap="square">
            <a:spAutoFit/>
          </a:bodyPr>
          <a:lstStyle/>
          <a:p>
            <a:pPr marL="15240" indent="0">
              <a:buNone/>
            </a:pPr>
            <a:r>
              <a:rPr lang="en-US" sz="1800" dirty="0">
                <a:latin typeface="Times New Roman" panose="02020603050405020304" pitchFamily="18" charset="0"/>
                <a:cs typeface="Times New Roman" panose="02020603050405020304" pitchFamily="18" charset="0"/>
              </a:rPr>
              <a:t>The logical expression of the term Y0, Y1, Y2,</a:t>
            </a:r>
          </a:p>
          <a:p>
            <a:pPr marL="15240" indent="0">
              <a:buNone/>
            </a:pPr>
            <a:r>
              <a:rPr lang="en-US" sz="1800" dirty="0">
                <a:latin typeface="Times New Roman" panose="02020603050405020304" pitchFamily="18" charset="0"/>
                <a:cs typeface="Times New Roman" panose="02020603050405020304" pitchFamily="18" charset="0"/>
              </a:rPr>
              <a:t> and Y3 is as follows:</a:t>
            </a:r>
          </a:p>
          <a:p>
            <a:r>
              <a:rPr lang="en-US" sz="1800" dirty="0">
                <a:latin typeface="Times New Roman" panose="02020603050405020304" pitchFamily="18" charset="0"/>
                <a:cs typeface="Times New Roman" panose="02020603050405020304" pitchFamily="18" charset="0"/>
              </a:rPr>
              <a:t>Y3=E.A1.A0</a:t>
            </a:r>
          </a:p>
          <a:p>
            <a:r>
              <a:rPr lang="en-US" sz="1800" dirty="0">
                <a:latin typeface="Times New Roman" panose="02020603050405020304" pitchFamily="18" charset="0"/>
                <a:cs typeface="Times New Roman" panose="02020603050405020304" pitchFamily="18" charset="0"/>
              </a:rPr>
              <a:t>Y2=E.A1.A0'</a:t>
            </a:r>
          </a:p>
          <a:p>
            <a:r>
              <a:rPr lang="en-US" sz="1800" dirty="0">
                <a:latin typeface="Times New Roman" panose="02020603050405020304" pitchFamily="18" charset="0"/>
                <a:cs typeface="Times New Roman" panose="02020603050405020304" pitchFamily="18" charset="0"/>
              </a:rPr>
              <a:t>Y1=E.A1'.A0</a:t>
            </a:r>
          </a:p>
          <a:p>
            <a:r>
              <a:rPr lang="en-US" sz="1800" dirty="0">
                <a:latin typeface="Times New Roman" panose="02020603050405020304" pitchFamily="18" charset="0"/>
                <a:cs typeface="Times New Roman" panose="02020603050405020304" pitchFamily="18" charset="0"/>
              </a:rPr>
              <a:t>Y0=E.A1'.A0'</a:t>
            </a:r>
            <a:endParaRPr lang="en-IN" dirty="0"/>
          </a:p>
        </p:txBody>
      </p:sp>
      <p:graphicFrame>
        <p:nvGraphicFramePr>
          <p:cNvPr id="8" name="Object 7">
            <a:extLst>
              <a:ext uri="{FF2B5EF4-FFF2-40B4-BE49-F238E27FC236}">
                <a16:creationId xmlns:a16="http://schemas.microsoft.com/office/drawing/2014/main" id="{0A99AE57-D2D1-41A5-5BDA-18D3AA3D5326}"/>
              </a:ext>
            </a:extLst>
          </p:cNvPr>
          <p:cNvGraphicFramePr/>
          <p:nvPr>
            <p:extLst>
              <p:ext uri="{D42A27DB-BD31-4B8C-83A1-F6EECF244321}">
                <p14:modId xmlns:p14="http://schemas.microsoft.com/office/powerpoint/2010/main" val="1722695821"/>
              </p:ext>
            </p:extLst>
          </p:nvPr>
        </p:nvGraphicFramePr>
        <p:xfrm>
          <a:off x="5726244" y="3801552"/>
          <a:ext cx="5615450" cy="2949447"/>
        </p:xfrm>
        <a:graphic>
          <a:graphicData uri="http://schemas.openxmlformats.org/presentationml/2006/ole">
            <mc:AlternateContent xmlns:mc="http://schemas.openxmlformats.org/markup-compatibility/2006">
              <mc:Choice xmlns:v="urn:schemas-microsoft-com:vml" Requires="v">
                <p:oleObj r:id="rId4" imgW="4324350" imgH="3743325" progId="Paint.Picture">
                  <p:embed/>
                </p:oleObj>
              </mc:Choice>
              <mc:Fallback>
                <p:oleObj r:id="rId4" imgW="4324350" imgH="3743325" progId="Paint.Picture">
                  <p:embed/>
                  <p:pic>
                    <p:nvPicPr>
                      <p:cNvPr id="8" name="Object 7">
                        <a:extLst>
                          <a:ext uri="{FF2B5EF4-FFF2-40B4-BE49-F238E27FC236}">
                            <a16:creationId xmlns:a16="http://schemas.microsoft.com/office/drawing/2014/main" id="{0A99AE57-D2D1-41A5-5BDA-18D3AA3D5326}"/>
                          </a:ext>
                        </a:extLst>
                      </p:cNvPr>
                      <p:cNvPicPr/>
                      <p:nvPr/>
                    </p:nvPicPr>
                    <p:blipFill>
                      <a:blip r:embed="rId5"/>
                      <a:stretch>
                        <a:fillRect/>
                      </a:stretch>
                    </p:blipFill>
                    <p:spPr>
                      <a:xfrm>
                        <a:off x="5726244" y="3801552"/>
                        <a:ext cx="5615450" cy="2949447"/>
                      </a:xfrm>
                      <a:prstGeom prst="rect">
                        <a:avLst/>
                      </a:prstGeom>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490" y="274955"/>
            <a:ext cx="10582910" cy="984250"/>
          </a:xfrm>
        </p:spPr>
        <p:txBody>
          <a:bodyPr/>
          <a:lstStyle/>
          <a:p>
            <a:r>
              <a:rPr lang="en-US" b="1">
                <a:latin typeface="Times New Roman" panose="02020603050405020304" pitchFamily="18" charset="0"/>
                <a:cs typeface="Times New Roman" panose="02020603050405020304" pitchFamily="18" charset="0"/>
                <a:sym typeface="+mn-ea"/>
              </a:rPr>
              <a:t>2 to 4 line decoder:</a:t>
            </a:r>
            <a:endParaRPr lang="en-US"/>
          </a:p>
        </p:txBody>
      </p:sp>
      <p:sp>
        <p:nvSpPr>
          <p:cNvPr id="3" name="Content Placeholder 2"/>
          <p:cNvSpPr>
            <a:spLocks noGrp="1"/>
          </p:cNvSpPr>
          <p:nvPr>
            <p:ph idx="1"/>
          </p:nvPr>
        </p:nvSpPr>
        <p:spPr>
          <a:xfrm>
            <a:off x="609600" y="1080770"/>
            <a:ext cx="10972800" cy="5045710"/>
          </a:xfrm>
        </p:spPr>
        <p:txBody>
          <a:bodyPr/>
          <a:lstStyle/>
          <a:p>
            <a:pPr marL="15240" indent="0">
              <a:buNone/>
            </a:pPr>
            <a:r>
              <a:rPr lang="en-US" sz="2800" dirty="0">
                <a:latin typeface="Times New Roman" panose="02020603050405020304" pitchFamily="18" charset="0"/>
                <a:cs typeface="Times New Roman" panose="02020603050405020304" pitchFamily="18" charset="0"/>
              </a:rPr>
              <a:t>The logical expression of the term Y0, Y1, Y2, and Y3 is as follows:</a:t>
            </a:r>
          </a:p>
          <a:p>
            <a:r>
              <a:rPr lang="en-US" sz="2800" dirty="0">
                <a:latin typeface="Times New Roman" panose="02020603050405020304" pitchFamily="18" charset="0"/>
                <a:cs typeface="Times New Roman" panose="02020603050405020304" pitchFamily="18" charset="0"/>
              </a:rPr>
              <a:t>Y3=E.A1.A0</a:t>
            </a:r>
          </a:p>
          <a:p>
            <a:r>
              <a:rPr lang="en-US" sz="2800" dirty="0">
                <a:latin typeface="Times New Roman" panose="02020603050405020304" pitchFamily="18" charset="0"/>
                <a:cs typeface="Times New Roman" panose="02020603050405020304" pitchFamily="18" charset="0"/>
              </a:rPr>
              <a:t>Y2=E.A1.A0'</a:t>
            </a:r>
          </a:p>
          <a:p>
            <a:r>
              <a:rPr lang="en-US" sz="2800" dirty="0">
                <a:latin typeface="Times New Roman" panose="02020603050405020304" pitchFamily="18" charset="0"/>
                <a:cs typeface="Times New Roman" panose="02020603050405020304" pitchFamily="18" charset="0"/>
              </a:rPr>
              <a:t>Y1=E.A1'.A0</a:t>
            </a:r>
          </a:p>
          <a:p>
            <a:r>
              <a:rPr lang="en-US" sz="2800" dirty="0">
                <a:latin typeface="Times New Roman" panose="02020603050405020304" pitchFamily="18" charset="0"/>
                <a:cs typeface="Times New Roman" panose="02020603050405020304" pitchFamily="18" charset="0"/>
              </a:rPr>
              <a:t>Y0=E.A1'.A0'</a:t>
            </a:r>
          </a:p>
        </p:txBody>
      </p:sp>
      <p:graphicFrame>
        <p:nvGraphicFramePr>
          <p:cNvPr id="4" name="Object 3"/>
          <p:cNvGraphicFramePr/>
          <p:nvPr/>
        </p:nvGraphicFramePr>
        <p:xfrm>
          <a:off x="4471035" y="2141220"/>
          <a:ext cx="4327525" cy="3746500"/>
        </p:xfrm>
        <a:graphic>
          <a:graphicData uri="http://schemas.openxmlformats.org/presentationml/2006/ole">
            <mc:AlternateContent xmlns:mc="http://schemas.openxmlformats.org/markup-compatibility/2006">
              <mc:Choice xmlns:v="urn:schemas-microsoft-com:vml" Requires="v">
                <p:oleObj r:id="rId2" imgW="4324350" imgH="3743325" progId="Paint.Picture">
                  <p:embed/>
                </p:oleObj>
              </mc:Choice>
              <mc:Fallback>
                <p:oleObj r:id="rId2" imgW="4324350" imgH="3743325" progId="Paint.Picture">
                  <p:embed/>
                  <p:pic>
                    <p:nvPicPr>
                      <p:cNvPr id="4" name="Object 3"/>
                      <p:cNvPicPr/>
                      <p:nvPr/>
                    </p:nvPicPr>
                    <p:blipFill>
                      <a:blip r:embed="rId3"/>
                      <a:stretch>
                        <a:fillRect/>
                      </a:stretch>
                    </p:blipFill>
                    <p:spPr>
                      <a:xfrm>
                        <a:off x="4471035" y="2141220"/>
                        <a:ext cx="4327525" cy="3746500"/>
                      </a:xfrm>
                      <a:prstGeom prst="rect">
                        <a:avLst/>
                      </a:prstGeom>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478790"/>
          </a:xfrm>
        </p:spPr>
        <p:txBody>
          <a:bodyPr>
            <a:normAutofit fontScale="90000"/>
          </a:bodyPr>
          <a:lstStyle/>
          <a:p>
            <a:r>
              <a:rPr lang="en-US" b="1">
                <a:latin typeface="Times New Roman" panose="02020603050405020304" pitchFamily="18" charset="0"/>
                <a:cs typeface="Times New Roman" panose="02020603050405020304" pitchFamily="18" charset="0"/>
                <a:sym typeface="+mn-ea"/>
              </a:rPr>
              <a:t>3 to 8 line decoder:</a:t>
            </a:r>
            <a:endParaRPr lang="en-US"/>
          </a:p>
        </p:txBody>
      </p:sp>
      <p:sp>
        <p:nvSpPr>
          <p:cNvPr id="3" name="Content Placeholder 2"/>
          <p:cNvSpPr>
            <a:spLocks noGrp="1"/>
          </p:cNvSpPr>
          <p:nvPr>
            <p:ph idx="1"/>
          </p:nvPr>
        </p:nvSpPr>
        <p:spPr>
          <a:xfrm>
            <a:off x="609600" y="936625"/>
            <a:ext cx="11362690" cy="5795645"/>
          </a:xfrm>
        </p:spPr>
        <p:txBody>
          <a:bodyPr/>
          <a:lstStyle/>
          <a:p>
            <a:pPr marL="15240" indent="0">
              <a:buNone/>
            </a:pPr>
            <a:r>
              <a:rPr lang="en-US">
                <a:latin typeface="Times New Roman" panose="02020603050405020304" pitchFamily="18" charset="0"/>
                <a:cs typeface="Times New Roman" panose="02020603050405020304" pitchFamily="18" charset="0"/>
              </a:rPr>
              <a:t>The logical expression of the term Y0, Y1, Y2, Y3, Y4, Y5, Y6, and Y7 is as follows:</a:t>
            </a:r>
          </a:p>
          <a:p>
            <a:pPr marL="15240" indent="0">
              <a:buNone/>
            </a:pPr>
            <a:r>
              <a:rPr lang="en-US">
                <a:latin typeface="Times New Roman" panose="02020603050405020304" pitchFamily="18" charset="0"/>
                <a:cs typeface="Times New Roman" panose="02020603050405020304" pitchFamily="18" charset="0"/>
              </a:rPr>
              <a:t>Y0=A2'. A1'. A0'</a:t>
            </a:r>
          </a:p>
          <a:p>
            <a:pPr marL="15240" indent="0">
              <a:buNone/>
            </a:pPr>
            <a:r>
              <a:rPr lang="en-US">
                <a:latin typeface="Times New Roman" panose="02020603050405020304" pitchFamily="18" charset="0"/>
                <a:cs typeface="Times New Roman" panose="02020603050405020304" pitchFamily="18" charset="0"/>
              </a:rPr>
              <a:t>Y1=A2'. A1'.A0 </a:t>
            </a:r>
          </a:p>
          <a:p>
            <a:pPr marL="15240" indent="0">
              <a:buNone/>
            </a:pPr>
            <a:r>
              <a:rPr lang="en-US">
                <a:latin typeface="Times New Roman" panose="02020603050405020304" pitchFamily="18" charset="0"/>
                <a:cs typeface="Times New Roman" panose="02020603050405020304" pitchFamily="18" charset="0"/>
              </a:rPr>
              <a:t>Y2= A2'.A1. A0'</a:t>
            </a:r>
          </a:p>
          <a:p>
            <a:pPr marL="15240" indent="0">
              <a:buNone/>
            </a:pPr>
            <a:r>
              <a:rPr lang="en-US">
                <a:latin typeface="Times New Roman" panose="02020603050405020304" pitchFamily="18" charset="0"/>
                <a:cs typeface="Times New Roman" panose="02020603050405020304" pitchFamily="18" charset="0"/>
              </a:rPr>
              <a:t>Y3=A2'.A1 . A0 </a:t>
            </a:r>
          </a:p>
          <a:p>
            <a:pPr marL="15240" indent="0">
              <a:buNone/>
            </a:pPr>
            <a:r>
              <a:rPr lang="en-US">
                <a:latin typeface="Times New Roman" panose="02020603050405020304" pitchFamily="18" charset="0"/>
                <a:cs typeface="Times New Roman" panose="02020603050405020304" pitchFamily="18" charset="0"/>
              </a:rPr>
              <a:t>Y4=A2 .A1'. A0' </a:t>
            </a:r>
          </a:p>
          <a:p>
            <a:pPr marL="15240" indent="0">
              <a:buNone/>
            </a:pPr>
            <a:r>
              <a:rPr lang="en-US">
                <a:latin typeface="Times New Roman" panose="02020603050405020304" pitchFamily="18" charset="0"/>
                <a:cs typeface="Times New Roman" panose="02020603050405020304" pitchFamily="18" charset="0"/>
              </a:rPr>
              <a:t>Y5=A2. A1’. A0</a:t>
            </a:r>
          </a:p>
          <a:p>
            <a:pPr marL="15240" indent="0">
              <a:buNone/>
            </a:pPr>
            <a:r>
              <a:rPr lang="en-US">
                <a:latin typeface="Times New Roman" panose="02020603050405020304" pitchFamily="18" charset="0"/>
                <a:cs typeface="Times New Roman" panose="02020603050405020304" pitchFamily="18" charset="0"/>
              </a:rPr>
              <a:t>Y6= A2.A1.A0'</a:t>
            </a:r>
          </a:p>
          <a:p>
            <a:pPr marL="15240" indent="0">
              <a:buNone/>
            </a:pPr>
            <a:r>
              <a:rPr lang="en-US">
                <a:latin typeface="Times New Roman" panose="02020603050405020304" pitchFamily="18" charset="0"/>
                <a:cs typeface="Times New Roman" panose="02020603050405020304" pitchFamily="18" charset="0"/>
              </a:rPr>
              <a:t>Y7=A2.A1 .A0</a:t>
            </a:r>
          </a:p>
        </p:txBody>
      </p:sp>
      <p:pic>
        <p:nvPicPr>
          <p:cNvPr id="5122" name="Picture 2" descr="Deco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821805" y="1548765"/>
            <a:ext cx="5283835" cy="4392295"/>
          </a:xfrm>
          <a:prstGeom prst="rect">
            <a:avLst/>
          </a:prstGeom>
          <a:noFill/>
        </p:spPr>
      </p:pic>
      <p:pic>
        <p:nvPicPr>
          <p:cNvPr id="4" name="Picture 4" descr="Decod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964180" y="1548765"/>
            <a:ext cx="3857625" cy="425069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B007F6-46AD-B7B3-490E-42046F351F23}"/>
              </a:ext>
            </a:extLst>
          </p:cNvPr>
          <p:cNvSpPr txBox="1"/>
          <p:nvPr/>
        </p:nvSpPr>
        <p:spPr>
          <a:xfrm>
            <a:off x="318541" y="448828"/>
            <a:ext cx="10759190" cy="1200329"/>
          </a:xfrm>
          <a:prstGeom prst="rect">
            <a:avLst/>
          </a:prstGeom>
          <a:noFill/>
        </p:spPr>
        <p:txBody>
          <a:bodyPr wrap="square">
            <a:spAutoFit/>
          </a:bodyPr>
          <a:lstStyle/>
          <a:p>
            <a:r>
              <a:rPr lang="en-US" dirty="0"/>
              <a:t> Implement the given Boolean function F(A,B,C,D)= (1,2,4,7,10,11,13,15) using Decoder?</a:t>
            </a:r>
          </a:p>
          <a:p>
            <a:endParaRPr lang="en-US" dirty="0"/>
          </a:p>
          <a:p>
            <a:pPr marL="285750" indent="-285750">
              <a:buFont typeface="Arial" panose="020B0604020202020204" pitchFamily="34" charset="0"/>
              <a:buChar char="•"/>
            </a:pPr>
            <a:r>
              <a:rPr lang="en-US" dirty="0"/>
              <a:t>Here the function have 4inputs- A,B,C,D .We will use a 4:16 decoder and an OR gate is used to </a:t>
            </a:r>
          </a:p>
          <a:p>
            <a:r>
              <a:rPr lang="en-US" dirty="0"/>
              <a:t>      implement this function</a:t>
            </a:r>
          </a:p>
        </p:txBody>
      </p:sp>
      <p:sp>
        <p:nvSpPr>
          <p:cNvPr id="5" name="TextBox 4">
            <a:extLst>
              <a:ext uri="{FF2B5EF4-FFF2-40B4-BE49-F238E27FC236}">
                <a16:creationId xmlns:a16="http://schemas.microsoft.com/office/drawing/2014/main" id="{C9643682-CF73-C006-9D60-74056C1CB86D}"/>
              </a:ext>
            </a:extLst>
          </p:cNvPr>
          <p:cNvSpPr txBox="1"/>
          <p:nvPr/>
        </p:nvSpPr>
        <p:spPr>
          <a:xfrm>
            <a:off x="1038069" y="5762841"/>
            <a:ext cx="8750508" cy="369332"/>
          </a:xfrm>
          <a:prstGeom prst="rect">
            <a:avLst/>
          </a:prstGeom>
          <a:noFill/>
        </p:spPr>
        <p:txBody>
          <a:bodyPr wrap="square">
            <a:spAutoFit/>
          </a:bodyPr>
          <a:lstStyle/>
          <a:p>
            <a:r>
              <a:rPr lang="en-US" dirty="0"/>
              <a:t>Thus, the given Boolean function is implemented with decoder and OR gate.</a:t>
            </a:r>
            <a:endParaRPr lang="en-IN" dirty="0"/>
          </a:p>
        </p:txBody>
      </p:sp>
      <p:pic>
        <p:nvPicPr>
          <p:cNvPr id="7" name="Picture 6">
            <a:extLst>
              <a:ext uri="{FF2B5EF4-FFF2-40B4-BE49-F238E27FC236}">
                <a16:creationId xmlns:a16="http://schemas.microsoft.com/office/drawing/2014/main" id="{C4A32F48-B40D-4D28-B482-09650A4B2E44}"/>
              </a:ext>
            </a:extLst>
          </p:cNvPr>
          <p:cNvPicPr>
            <a:picLocks noChangeAspect="1"/>
          </p:cNvPicPr>
          <p:nvPr/>
        </p:nvPicPr>
        <p:blipFill>
          <a:blip r:embed="rId2"/>
          <a:stretch>
            <a:fillRect/>
          </a:stretch>
        </p:blipFill>
        <p:spPr>
          <a:xfrm>
            <a:off x="2721465" y="1649157"/>
            <a:ext cx="6749070" cy="3799130"/>
          </a:xfrm>
          <a:prstGeom prst="rect">
            <a:avLst/>
          </a:prstGeom>
        </p:spPr>
      </p:pic>
    </p:spTree>
    <p:extLst>
      <p:ext uri="{BB962C8B-B14F-4D97-AF65-F5344CB8AC3E}">
        <p14:creationId xmlns:p14="http://schemas.microsoft.com/office/powerpoint/2010/main" val="3704517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233CBC-44F5-376A-D569-6E4F251276DB}"/>
              </a:ext>
            </a:extLst>
          </p:cNvPr>
          <p:cNvSpPr txBox="1"/>
          <p:nvPr/>
        </p:nvSpPr>
        <p:spPr>
          <a:xfrm>
            <a:off x="468443" y="363113"/>
            <a:ext cx="11328816" cy="1200329"/>
          </a:xfrm>
          <a:prstGeom prst="rect">
            <a:avLst/>
          </a:prstGeom>
          <a:noFill/>
        </p:spPr>
        <p:txBody>
          <a:bodyPr wrap="square">
            <a:spAutoFit/>
          </a:bodyPr>
          <a:lstStyle/>
          <a:p>
            <a:r>
              <a:rPr lang="en-US" dirty="0"/>
              <a:t>A combinational circuit is specified by the following Boolean function:</a:t>
            </a:r>
          </a:p>
          <a:p>
            <a:endParaRPr lang="en-US" dirty="0"/>
          </a:p>
          <a:p>
            <a:r>
              <a:rPr lang="en-US" dirty="0"/>
              <a:t>f1(A,B,C)=</a:t>
            </a:r>
            <a:r>
              <a:rPr lang="en-US" dirty="0" err="1"/>
              <a:t>Σm</a:t>
            </a:r>
            <a:r>
              <a:rPr lang="en-US" dirty="0"/>
              <a:t>(2,5,6),f2(A,B,C)=</a:t>
            </a:r>
            <a:r>
              <a:rPr lang="en-US" dirty="0" err="1"/>
              <a:t>Σm</a:t>
            </a:r>
            <a:r>
              <a:rPr lang="en-US" dirty="0"/>
              <a:t>(1,3,4).Implement the circuit with a 3x8 decoder and OR gates. Use block diagram for the decoder?</a:t>
            </a:r>
            <a:endParaRPr lang="en-IN" dirty="0"/>
          </a:p>
        </p:txBody>
      </p:sp>
      <p:pic>
        <p:nvPicPr>
          <p:cNvPr id="5" name="Picture 4">
            <a:extLst>
              <a:ext uri="{FF2B5EF4-FFF2-40B4-BE49-F238E27FC236}">
                <a16:creationId xmlns:a16="http://schemas.microsoft.com/office/drawing/2014/main" id="{501A4D12-D24E-E00E-B899-A19307226936}"/>
              </a:ext>
            </a:extLst>
          </p:cNvPr>
          <p:cNvPicPr>
            <a:picLocks noChangeAspect="1"/>
          </p:cNvPicPr>
          <p:nvPr/>
        </p:nvPicPr>
        <p:blipFill>
          <a:blip r:embed="rId2"/>
          <a:stretch>
            <a:fillRect/>
          </a:stretch>
        </p:blipFill>
        <p:spPr>
          <a:xfrm>
            <a:off x="1678897" y="1947724"/>
            <a:ext cx="9210207" cy="3870957"/>
          </a:xfrm>
          <a:prstGeom prst="rect">
            <a:avLst/>
          </a:prstGeom>
        </p:spPr>
      </p:pic>
    </p:spTree>
    <p:extLst>
      <p:ext uri="{BB962C8B-B14F-4D97-AF65-F5344CB8AC3E}">
        <p14:creationId xmlns:p14="http://schemas.microsoft.com/office/powerpoint/2010/main" val="22132601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882" y="80957"/>
            <a:ext cx="9060180" cy="548328"/>
          </a:xfrm>
        </p:spPr>
        <p:txBody>
          <a:bodyPr>
            <a:noAutofit/>
          </a:bodyPr>
          <a:lstStyle/>
          <a:p>
            <a:r>
              <a:rPr lang="en-US" sz="2800" b="1" dirty="0">
                <a:solidFill>
                  <a:schemeClr val="tx1"/>
                </a:solidFill>
                <a:effectLst/>
                <a:latin typeface="Times New Roman" panose="02020603050405020304" pitchFamily="18" charset="0"/>
                <a:cs typeface="Times New Roman" panose="02020603050405020304" pitchFamily="18" charset="0"/>
                <a:sym typeface="+mn-ea"/>
              </a:rPr>
              <a:t>Encoders</a:t>
            </a:r>
          </a:p>
        </p:txBody>
      </p:sp>
      <p:sp>
        <p:nvSpPr>
          <p:cNvPr id="3" name="Content Placeholder 2"/>
          <p:cNvSpPr>
            <a:spLocks noGrp="1"/>
          </p:cNvSpPr>
          <p:nvPr>
            <p:ph idx="1"/>
          </p:nvPr>
        </p:nvSpPr>
        <p:spPr>
          <a:xfrm>
            <a:off x="609600" y="629285"/>
            <a:ext cx="10972800" cy="5497195"/>
          </a:xfrm>
        </p:spPr>
        <p:txBody>
          <a:bodyPr>
            <a:normAutofit/>
          </a:bodyPr>
          <a:lstStyle/>
          <a:p>
            <a:pPr algn="just"/>
            <a:r>
              <a:rPr lang="en-US" sz="2800" dirty="0">
                <a:solidFill>
                  <a:srgbClr val="333333"/>
                </a:solidFill>
                <a:effectLst/>
                <a:latin typeface="Times New Roman" panose="02020603050405020304" pitchFamily="18" charset="0"/>
                <a:cs typeface="Times New Roman" panose="02020603050405020304" pitchFamily="18" charset="0"/>
                <a:sym typeface="+mn-ea"/>
              </a:rPr>
              <a:t>The combinational circuits that change the binary information into N output lines are known as </a:t>
            </a:r>
            <a:r>
              <a:rPr lang="en-US" sz="2800" b="1" dirty="0">
                <a:solidFill>
                  <a:srgbClr val="333333"/>
                </a:solidFill>
                <a:effectLst/>
                <a:latin typeface="Times New Roman" panose="02020603050405020304" pitchFamily="18" charset="0"/>
                <a:cs typeface="Times New Roman" panose="02020603050405020304" pitchFamily="18" charset="0"/>
                <a:sym typeface="+mn-ea"/>
              </a:rPr>
              <a:t>Encoders</a:t>
            </a:r>
            <a:r>
              <a:rPr lang="en-US" sz="2800" dirty="0">
                <a:solidFill>
                  <a:srgbClr val="333333"/>
                </a:solidFill>
                <a:effectLst/>
                <a:latin typeface="Times New Roman" panose="02020603050405020304" pitchFamily="18" charset="0"/>
                <a:cs typeface="Times New Roman" panose="02020603050405020304" pitchFamily="18" charset="0"/>
                <a:sym typeface="+mn-ea"/>
              </a:rPr>
              <a:t>. </a:t>
            </a:r>
            <a:endParaRPr lang="en-US" sz="2800" b="0" i="0" dirty="0">
              <a:solidFill>
                <a:srgbClr val="333333"/>
              </a:solidFill>
              <a:effectLst/>
              <a:latin typeface="Times New Roman" panose="02020603050405020304" pitchFamily="18" charset="0"/>
              <a:cs typeface="Times New Roman" panose="02020603050405020304" pitchFamily="18" charset="0"/>
            </a:endParaRPr>
          </a:p>
          <a:p>
            <a:pPr marL="0" indent="0" algn="just">
              <a:buNone/>
            </a:pPr>
            <a:r>
              <a:rPr lang="en-US" sz="2800" dirty="0">
                <a:solidFill>
                  <a:srgbClr val="333333"/>
                </a:solidFill>
                <a:effectLst/>
                <a:latin typeface="Times New Roman" panose="02020603050405020304" pitchFamily="18" charset="0"/>
                <a:cs typeface="Times New Roman" panose="02020603050405020304" pitchFamily="18" charset="0"/>
                <a:sym typeface="+mn-ea"/>
              </a:rPr>
              <a:t>.</a:t>
            </a:r>
            <a:endParaRPr lang="en-US" sz="2800" b="0" i="0" dirty="0">
              <a:solidFill>
                <a:srgbClr val="333333"/>
              </a:solidFill>
              <a:effectLst/>
              <a:latin typeface="Times New Roman" panose="02020603050405020304" pitchFamily="18" charset="0"/>
              <a:cs typeface="Times New Roman" panose="02020603050405020304" pitchFamily="18" charset="0"/>
            </a:endParaRPr>
          </a:p>
          <a:p>
            <a:endParaRPr lang="en-US" sz="2800" b="0" i="0" dirty="0">
              <a:solidFill>
                <a:srgbClr val="333333"/>
              </a:solidFill>
              <a:effectLst/>
              <a:latin typeface="Times New Roman" panose="02020603050405020304" pitchFamily="18" charset="0"/>
              <a:cs typeface="Times New Roman" panose="02020603050405020304" pitchFamily="18" charset="0"/>
            </a:endParaRPr>
          </a:p>
        </p:txBody>
      </p:sp>
      <p:pic>
        <p:nvPicPr>
          <p:cNvPr id="9218" name="Picture 2" descr="Encod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2996" y="1417119"/>
            <a:ext cx="2897271" cy="20118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C5AA3FC-77D9-F6C1-8CAD-C95FF7724A74}"/>
              </a:ext>
            </a:extLst>
          </p:cNvPr>
          <p:cNvSpPr txBox="1"/>
          <p:nvPr/>
        </p:nvSpPr>
        <p:spPr>
          <a:xfrm>
            <a:off x="179882" y="3059668"/>
            <a:ext cx="60935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4 to 2 line Encoder:</a:t>
            </a:r>
            <a:endParaRPr lang="en-IN" dirty="0"/>
          </a:p>
        </p:txBody>
      </p:sp>
      <p:graphicFrame>
        <p:nvGraphicFramePr>
          <p:cNvPr id="6" name="Object 5">
            <a:extLst>
              <a:ext uri="{FF2B5EF4-FFF2-40B4-BE49-F238E27FC236}">
                <a16:creationId xmlns:a16="http://schemas.microsoft.com/office/drawing/2014/main" id="{D1200512-02E2-3137-744C-A5385513B441}"/>
              </a:ext>
            </a:extLst>
          </p:cNvPr>
          <p:cNvGraphicFramePr/>
          <p:nvPr>
            <p:extLst>
              <p:ext uri="{D42A27DB-BD31-4B8C-83A1-F6EECF244321}">
                <p14:modId xmlns:p14="http://schemas.microsoft.com/office/powerpoint/2010/main" val="180787907"/>
              </p:ext>
            </p:extLst>
          </p:nvPr>
        </p:nvGraphicFramePr>
        <p:xfrm>
          <a:off x="233242" y="3576637"/>
          <a:ext cx="2993390" cy="2402205"/>
        </p:xfrm>
        <a:graphic>
          <a:graphicData uri="http://schemas.openxmlformats.org/presentationml/2006/ole">
            <mc:AlternateContent xmlns:mc="http://schemas.openxmlformats.org/markup-compatibility/2006">
              <mc:Choice xmlns:v="urn:schemas-microsoft-com:vml" Requires="v">
                <p:oleObj r:id="rId3" imgW="2990850" imgH="2400300" progId="Paint.Picture">
                  <p:embed/>
                </p:oleObj>
              </mc:Choice>
              <mc:Fallback>
                <p:oleObj r:id="rId3" imgW="2990850" imgH="2400300" progId="Paint.Picture">
                  <p:embed/>
                  <p:pic>
                    <p:nvPicPr>
                      <p:cNvPr id="6" name="Object 5">
                        <a:extLst>
                          <a:ext uri="{FF2B5EF4-FFF2-40B4-BE49-F238E27FC236}">
                            <a16:creationId xmlns:a16="http://schemas.microsoft.com/office/drawing/2014/main" id="{D1200512-02E2-3137-744C-A5385513B441}"/>
                          </a:ext>
                        </a:extLst>
                      </p:cNvPr>
                      <p:cNvPicPr/>
                      <p:nvPr/>
                    </p:nvPicPr>
                    <p:blipFill>
                      <a:blip r:embed="rId4"/>
                      <a:stretch>
                        <a:fillRect/>
                      </a:stretch>
                    </p:blipFill>
                    <p:spPr>
                      <a:xfrm>
                        <a:off x="233242" y="3576637"/>
                        <a:ext cx="2993390" cy="2402205"/>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E382D4AC-99A8-EDDC-45C1-409793F1C7B9}"/>
              </a:ext>
            </a:extLst>
          </p:cNvPr>
          <p:cNvSpPr txBox="1"/>
          <p:nvPr/>
        </p:nvSpPr>
        <p:spPr>
          <a:xfrm>
            <a:off x="3440243" y="3551752"/>
            <a:ext cx="6093500" cy="1384995"/>
          </a:xfrm>
          <a:prstGeom prst="rect">
            <a:avLst/>
          </a:prstGeom>
          <a:noFill/>
        </p:spPr>
        <p:txBody>
          <a:bodyPr wrap="square">
            <a:spAutoFit/>
          </a:bodyPr>
          <a:lstStyle/>
          <a:p>
            <a:pPr marL="15240" indent="0">
              <a:buNone/>
            </a:pPr>
            <a:r>
              <a:rPr lang="en-US" sz="2800" b="1" dirty="0">
                <a:latin typeface="Times New Roman" panose="02020603050405020304" pitchFamily="18" charset="0"/>
                <a:cs typeface="Times New Roman" panose="02020603050405020304" pitchFamily="18" charset="0"/>
              </a:rPr>
              <a:t>Logical expression for A1 and A0</a:t>
            </a:r>
          </a:p>
          <a:p>
            <a:pPr marL="15240" indent="0">
              <a:buNone/>
            </a:pPr>
            <a:r>
              <a:rPr lang="en-US" sz="2800" b="1" dirty="0">
                <a:latin typeface="Times New Roman" panose="02020603050405020304" pitchFamily="18" charset="0"/>
                <a:cs typeface="Times New Roman" panose="02020603050405020304" pitchFamily="18" charset="0"/>
              </a:rPr>
              <a:t>A1 = Y3 + Y2                                                            A0 = Y3 + Y1</a:t>
            </a:r>
            <a:endParaRPr lang="en-IN" dirty="0"/>
          </a:p>
        </p:txBody>
      </p:sp>
      <p:pic>
        <p:nvPicPr>
          <p:cNvPr id="9" name="Picture 4" descr="Implementation using OR Gate">
            <a:extLst>
              <a:ext uri="{FF2B5EF4-FFF2-40B4-BE49-F238E27FC236}">
                <a16:creationId xmlns:a16="http://schemas.microsoft.com/office/drawing/2014/main" id="{5568CC96-AAE8-6582-FDC0-5373D8AB758A}"/>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artisticPhotocopy detail="2"/>
                    </a14:imgEffect>
                    <a14:imgEffect>
                      <a14:saturation sat="0"/>
                    </a14:imgEffect>
                  </a14:imgLayer>
                </a14:imgProps>
              </a:ext>
              <a:ext uri="{28A0092B-C50C-407E-A947-70E740481C1C}">
                <a14:useLocalDpi xmlns:a14="http://schemas.microsoft.com/office/drawing/2010/main" val="0"/>
              </a:ext>
            </a:extLst>
          </a:blip>
          <a:srcRect/>
          <a:stretch>
            <a:fillRect/>
          </a:stretch>
        </p:blipFill>
        <p:spPr>
          <a:xfrm>
            <a:off x="7496960" y="4096030"/>
            <a:ext cx="4085440" cy="240220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DA187C-8E37-FA1D-B708-2F5C92700C87}"/>
              </a:ext>
            </a:extLst>
          </p:cNvPr>
          <p:cNvSpPr txBox="1"/>
          <p:nvPr/>
        </p:nvSpPr>
        <p:spPr>
          <a:xfrm>
            <a:off x="213611" y="347485"/>
            <a:ext cx="6093500"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Octal to Binary Encoder (8 to 3 Encoder):</a:t>
            </a:r>
            <a:endParaRPr lang="en-IN" sz="2000" dirty="0"/>
          </a:p>
        </p:txBody>
      </p:sp>
      <p:graphicFrame>
        <p:nvGraphicFramePr>
          <p:cNvPr id="4" name="Object 3">
            <a:extLst>
              <a:ext uri="{FF2B5EF4-FFF2-40B4-BE49-F238E27FC236}">
                <a16:creationId xmlns:a16="http://schemas.microsoft.com/office/drawing/2014/main" id="{C7FE2B4B-99C4-3576-84F1-68D81C1BAE2C}"/>
              </a:ext>
            </a:extLst>
          </p:cNvPr>
          <p:cNvGraphicFramePr/>
          <p:nvPr>
            <p:extLst>
              <p:ext uri="{D42A27DB-BD31-4B8C-83A1-F6EECF244321}">
                <p14:modId xmlns:p14="http://schemas.microsoft.com/office/powerpoint/2010/main" val="43392957"/>
              </p:ext>
            </p:extLst>
          </p:nvPr>
        </p:nvGraphicFramePr>
        <p:xfrm>
          <a:off x="423473" y="896699"/>
          <a:ext cx="4906645" cy="2908300"/>
        </p:xfrm>
        <a:graphic>
          <a:graphicData uri="http://schemas.openxmlformats.org/presentationml/2006/ole">
            <mc:AlternateContent xmlns:mc="http://schemas.openxmlformats.org/markup-compatibility/2006">
              <mc:Choice xmlns:v="urn:schemas-microsoft-com:vml" Requires="v">
                <p:oleObj r:id="rId2" imgW="4229100" imgH="2362200" progId="Paint.Picture">
                  <p:embed/>
                </p:oleObj>
              </mc:Choice>
              <mc:Fallback>
                <p:oleObj r:id="rId2" imgW="4229100" imgH="2362200" progId="Paint.Picture">
                  <p:embed/>
                  <p:pic>
                    <p:nvPicPr>
                      <p:cNvPr id="4" name="Object 3">
                        <a:extLst>
                          <a:ext uri="{FF2B5EF4-FFF2-40B4-BE49-F238E27FC236}">
                            <a16:creationId xmlns:a16="http://schemas.microsoft.com/office/drawing/2014/main" id="{C7FE2B4B-99C4-3576-84F1-68D81C1BAE2C}"/>
                          </a:ext>
                        </a:extLst>
                      </p:cNvPr>
                      <p:cNvPicPr/>
                      <p:nvPr/>
                    </p:nvPicPr>
                    <p:blipFill>
                      <a:blip r:embed="rId3"/>
                      <a:stretch>
                        <a:fillRect/>
                      </a:stretch>
                    </p:blipFill>
                    <p:spPr>
                      <a:xfrm>
                        <a:off x="423473" y="896699"/>
                        <a:ext cx="4906645" cy="290830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A30FEE7C-BFBF-BEF8-91B2-D21C67C8A7E0}"/>
              </a:ext>
            </a:extLst>
          </p:cNvPr>
          <p:cNvSpPr txBox="1"/>
          <p:nvPr/>
        </p:nvSpPr>
        <p:spPr>
          <a:xfrm>
            <a:off x="423473" y="4147810"/>
            <a:ext cx="6093500" cy="92333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A2 = Y7 + Y6 + Y5 + Y4</a:t>
            </a:r>
          </a:p>
          <a:p>
            <a:r>
              <a:rPr lang="en-US" sz="1800" dirty="0">
                <a:latin typeface="Times New Roman" panose="02020603050405020304" pitchFamily="18" charset="0"/>
                <a:cs typeface="Times New Roman" panose="02020603050405020304" pitchFamily="18" charset="0"/>
              </a:rPr>
              <a:t>A1 = Y7 + Y6 + Y3 + Y2</a:t>
            </a:r>
          </a:p>
          <a:p>
            <a:r>
              <a:rPr lang="en-US" sz="1800" dirty="0">
                <a:latin typeface="Times New Roman" panose="02020603050405020304" pitchFamily="18" charset="0"/>
                <a:cs typeface="Times New Roman" panose="02020603050405020304" pitchFamily="18" charset="0"/>
              </a:rPr>
              <a:t>A0 = Y7 + Y5 + Y3 + Y1</a:t>
            </a:r>
          </a:p>
        </p:txBody>
      </p:sp>
      <p:pic>
        <p:nvPicPr>
          <p:cNvPr id="7" name="Picture 2" descr="Implementation using OR Gate">
            <a:extLst>
              <a:ext uri="{FF2B5EF4-FFF2-40B4-BE49-F238E27FC236}">
                <a16:creationId xmlns:a16="http://schemas.microsoft.com/office/drawing/2014/main" id="{18B4366F-2F32-3E91-9E1D-70B8C6643C50}"/>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Photocopy detail="2"/>
                    </a14:imgEffect>
                    <a14:imgEffect>
                      <a14:saturation sat="0"/>
                    </a14:imgEffect>
                  </a14:imgLayer>
                </a14:imgProps>
              </a:ext>
              <a:ext uri="{28A0092B-C50C-407E-A947-70E740481C1C}">
                <a14:useLocalDpi xmlns:a14="http://schemas.microsoft.com/office/drawing/2010/main" val="0"/>
              </a:ext>
            </a:extLst>
          </a:blip>
          <a:srcRect/>
          <a:stretch>
            <a:fillRect/>
          </a:stretch>
        </p:blipFill>
        <p:spPr>
          <a:xfrm>
            <a:off x="5662556" y="896699"/>
            <a:ext cx="6210935" cy="3894455"/>
          </a:xfrm>
          <a:prstGeom prst="rect">
            <a:avLst/>
          </a:prstGeom>
          <a:noFill/>
          <a:ln>
            <a:noFill/>
          </a:ln>
        </p:spPr>
      </p:pic>
    </p:spTree>
    <p:extLst>
      <p:ext uri="{BB962C8B-B14F-4D97-AF65-F5344CB8AC3E}">
        <p14:creationId xmlns:p14="http://schemas.microsoft.com/office/powerpoint/2010/main" val="38716110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955" y="0"/>
            <a:ext cx="10515600" cy="1325563"/>
          </a:xfrm>
        </p:spPr>
        <p:txBody>
          <a:bodyPr>
            <a:normAutofit/>
          </a:bodyPr>
          <a:lstStyle/>
          <a:p>
            <a:r>
              <a:rPr lang="en-US" sz="3200" b="1" dirty="0">
                <a:solidFill>
                  <a:srgbClr val="000000"/>
                </a:solidFill>
                <a:effectLst/>
                <a:latin typeface="Times New Roman" panose="02020603050405020304" pitchFamily="18" charset="0"/>
                <a:cs typeface="Times New Roman" panose="02020603050405020304" pitchFamily="18" charset="0"/>
                <a:sym typeface="+mn-ea"/>
              </a:rPr>
              <a:t>Multiplexer:</a:t>
            </a:r>
            <a:endParaRPr lang="en-US" sz="3200" dirty="0"/>
          </a:p>
        </p:txBody>
      </p:sp>
      <p:sp>
        <p:nvSpPr>
          <p:cNvPr id="3" name="Content Placeholder 2"/>
          <p:cNvSpPr>
            <a:spLocks noGrp="1"/>
          </p:cNvSpPr>
          <p:nvPr>
            <p:ph idx="1"/>
          </p:nvPr>
        </p:nvSpPr>
        <p:spPr>
          <a:xfrm>
            <a:off x="147955" y="1246505"/>
            <a:ext cx="11743055" cy="5342255"/>
          </a:xfrm>
        </p:spPr>
        <p:txBody>
          <a:bodyPr>
            <a:noAutofit/>
          </a:bodyPr>
          <a:lstStyle/>
          <a:p>
            <a:pPr algn="just">
              <a:lnSpc>
                <a:spcPct val="150000"/>
              </a:lnSpc>
            </a:pPr>
            <a:r>
              <a:rPr lang="en-US" sz="2800" b="1" dirty="0">
                <a:solidFill>
                  <a:srgbClr val="000000"/>
                </a:solidFill>
                <a:effectLst/>
                <a:latin typeface="Times New Roman" panose="02020603050405020304" pitchFamily="18" charset="0"/>
                <a:cs typeface="Times New Roman" panose="02020603050405020304" pitchFamily="18" charset="0"/>
                <a:sym typeface="+mn-ea"/>
              </a:rPr>
              <a:t>Multiplexer</a:t>
            </a:r>
            <a:r>
              <a:rPr lang="en-US" sz="2800" dirty="0">
                <a:solidFill>
                  <a:srgbClr val="000000"/>
                </a:solidFill>
                <a:effectLst/>
                <a:latin typeface="Times New Roman" panose="02020603050405020304" pitchFamily="18" charset="0"/>
                <a:cs typeface="Times New Roman" panose="02020603050405020304" pitchFamily="18" charset="0"/>
                <a:sym typeface="+mn-ea"/>
              </a:rPr>
              <a:t> is a combinational circuit that has maximum of 2</a:t>
            </a:r>
            <a:r>
              <a:rPr lang="en-US" sz="2800" baseline="30000" dirty="0">
                <a:solidFill>
                  <a:srgbClr val="000000"/>
                </a:solidFill>
                <a:effectLst/>
                <a:latin typeface="Times New Roman" panose="02020603050405020304" pitchFamily="18" charset="0"/>
                <a:cs typeface="Times New Roman" panose="02020603050405020304" pitchFamily="18" charset="0"/>
                <a:sym typeface="+mn-ea"/>
              </a:rPr>
              <a:t>n</a:t>
            </a:r>
            <a:r>
              <a:rPr lang="en-US" sz="2800" dirty="0">
                <a:solidFill>
                  <a:srgbClr val="000000"/>
                </a:solidFill>
                <a:effectLst/>
                <a:latin typeface="Times New Roman" panose="02020603050405020304" pitchFamily="18" charset="0"/>
                <a:cs typeface="Times New Roman" panose="02020603050405020304" pitchFamily="18" charset="0"/>
                <a:sym typeface="+mn-ea"/>
              </a:rPr>
              <a:t> data inputs, ‘n’ selection lines and single output line. One of these data inputs will be connected to the output based on the values of selection lines.</a:t>
            </a:r>
            <a:endParaRPr lang="en-US" sz="2800" b="0" i="0" dirty="0">
              <a:solidFill>
                <a:srgbClr val="000000"/>
              </a:solidFill>
              <a:effectLst/>
              <a:latin typeface="Times New Roman" panose="02020603050405020304" pitchFamily="18" charset="0"/>
              <a:cs typeface="Times New Roman" panose="02020603050405020304" pitchFamily="18" charset="0"/>
            </a:endParaRPr>
          </a:p>
          <a:p>
            <a:pPr algn="just">
              <a:lnSpc>
                <a:spcPct val="150000"/>
              </a:lnSpc>
            </a:pPr>
            <a:r>
              <a:rPr lang="en-US" sz="2800" b="0" i="0" dirty="0">
                <a:solidFill>
                  <a:srgbClr val="000000"/>
                </a:solidFill>
                <a:effectLst/>
                <a:latin typeface="Times New Roman" panose="02020603050405020304" pitchFamily="18" charset="0"/>
                <a:cs typeface="Times New Roman" panose="02020603050405020304" pitchFamily="18" charset="0"/>
              </a:rPr>
              <a:t>Multiplexers are also known as data selectors or </a:t>
            </a:r>
            <a:r>
              <a:rPr lang="en-US" sz="2800" b="1" dirty="0">
                <a:solidFill>
                  <a:srgbClr val="000000"/>
                </a:solidFill>
                <a:effectLst/>
                <a:latin typeface="Times New Roman" panose="02020603050405020304" pitchFamily="18" charset="0"/>
                <a:cs typeface="Times New Roman" panose="02020603050405020304" pitchFamily="18" charset="0"/>
                <a:sym typeface="+mn-ea"/>
              </a:rPr>
              <a:t>Mux</a:t>
            </a:r>
            <a:r>
              <a:rPr lang="en-US" sz="2800" b="0" i="0" dirty="0">
                <a:solidFill>
                  <a:srgbClr val="000000"/>
                </a:solidFill>
                <a:effectLst/>
                <a:latin typeface="Times New Roman" panose="02020603050405020304" pitchFamily="18" charset="0"/>
                <a:cs typeface="Times New Roman" panose="02020603050405020304" pitchFamily="18" charset="0"/>
              </a:rPr>
              <a:t>,  many to one circuit.</a:t>
            </a:r>
          </a:p>
          <a:p>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Times New Roman" panose="02020603050405020304" pitchFamily="18" charset="0"/>
                <a:cs typeface="Times New Roman" panose="02020603050405020304" pitchFamily="18" charset="0"/>
                <a:sym typeface="+mn-ea"/>
              </a:rPr>
              <a:t>Types of Multiplexers:</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0210" y="1292860"/>
            <a:ext cx="11172190" cy="4833620"/>
          </a:xfrm>
        </p:spPr>
        <p:txBody>
          <a:bodyPr/>
          <a:lstStyle/>
          <a:p>
            <a:pPr marL="15240" indent="0">
              <a:buNone/>
            </a:pPr>
            <a:endParaRPr lang="en-US"/>
          </a:p>
          <a:p>
            <a:r>
              <a:rPr lang="en-US" sz="2800">
                <a:latin typeface="Times New Roman" panose="02020603050405020304" pitchFamily="18" charset="0"/>
                <a:cs typeface="Times New Roman" panose="02020603050405020304" pitchFamily="18" charset="0"/>
              </a:rPr>
              <a:t>2-1 multiplexer (1select line)</a:t>
            </a:r>
          </a:p>
          <a:p>
            <a:r>
              <a:rPr lang="en-US" sz="2800">
                <a:latin typeface="Times New Roman" panose="02020603050405020304" pitchFamily="18" charset="0"/>
                <a:cs typeface="Times New Roman" panose="02020603050405020304" pitchFamily="18" charset="0"/>
              </a:rPr>
              <a:t>4-1 multiplexer (2 select lines)</a:t>
            </a:r>
          </a:p>
          <a:p>
            <a:r>
              <a:rPr lang="en-US" sz="2800">
                <a:latin typeface="Times New Roman" panose="02020603050405020304" pitchFamily="18" charset="0"/>
                <a:cs typeface="Times New Roman" panose="02020603050405020304" pitchFamily="18" charset="0"/>
              </a:rPr>
              <a:t>8-1 multiplexer (3 select lines)</a:t>
            </a:r>
          </a:p>
          <a:p>
            <a:r>
              <a:rPr lang="en-US" sz="2800">
                <a:latin typeface="Times New Roman" panose="02020603050405020304" pitchFamily="18" charset="0"/>
                <a:cs typeface="Times New Roman" panose="02020603050405020304" pitchFamily="18" charset="0"/>
              </a:rPr>
              <a:t>16-1 multiplexer (4 select lines)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7575" y="0"/>
            <a:ext cx="10325735" cy="897255"/>
          </a:xfrm>
        </p:spPr>
        <p:txBody>
          <a:bodyPr/>
          <a:lstStyle/>
          <a:p>
            <a:r>
              <a:rPr lang="en-US" b="1">
                <a:latin typeface="Times New Roman" panose="02020603050405020304" pitchFamily="18" charset="0"/>
                <a:cs typeface="Times New Roman" panose="02020603050405020304" pitchFamily="18" charset="0"/>
              </a:rPr>
              <a:t>2X1 Multiplexer:</a:t>
            </a:r>
          </a:p>
        </p:txBody>
      </p:sp>
      <p:sp>
        <p:nvSpPr>
          <p:cNvPr id="3" name="Content Placeholder 2"/>
          <p:cNvSpPr>
            <a:spLocks noGrp="1"/>
          </p:cNvSpPr>
          <p:nvPr>
            <p:ph idx="1"/>
          </p:nvPr>
        </p:nvSpPr>
        <p:spPr>
          <a:xfrm>
            <a:off x="301625" y="737235"/>
            <a:ext cx="11280775" cy="5944235"/>
          </a:xfrm>
        </p:spPr>
        <p:txBody>
          <a:bodyPr/>
          <a:lstStyle/>
          <a:p>
            <a:pPr algn="just"/>
            <a:r>
              <a:rPr lang="en-US" sz="2800" dirty="0">
                <a:solidFill>
                  <a:srgbClr val="282828"/>
                </a:solidFill>
                <a:effectLst/>
                <a:latin typeface="Times New Roman" panose="02020603050405020304" pitchFamily="18" charset="0"/>
                <a:cs typeface="Times New Roman" panose="02020603050405020304" pitchFamily="18" charset="0"/>
                <a:sym typeface="+mn-ea"/>
              </a:rPr>
              <a:t>The 2X1 multiplexer’s block diagram and truth table are shown below</a:t>
            </a:r>
            <a:endParaRPr lang="en-US" sz="2800" b="0" i="0" dirty="0">
              <a:solidFill>
                <a:srgbClr val="282828"/>
              </a:solidFill>
              <a:effectLst/>
              <a:latin typeface="Times New Roman" panose="02020603050405020304" pitchFamily="18" charset="0"/>
              <a:cs typeface="Times New Roman" panose="02020603050405020304" pitchFamily="18" charset="0"/>
            </a:endParaRPr>
          </a:p>
          <a:p>
            <a:pPr marL="15240" indent="0">
              <a:buNone/>
            </a:pPr>
            <a:r>
              <a:rPr lang="en-US" sz="2800" b="1" i="0" dirty="0">
                <a:solidFill>
                  <a:srgbClr val="282828"/>
                </a:solidFill>
                <a:effectLst/>
                <a:latin typeface="Times New Roman" panose="02020603050405020304" pitchFamily="18" charset="0"/>
                <a:cs typeface="Times New Roman" panose="02020603050405020304" pitchFamily="18" charset="0"/>
              </a:rPr>
              <a:t>            Block Diagram				       Truth Table</a:t>
            </a:r>
          </a:p>
        </p:txBody>
      </p:sp>
      <p:pic>
        <p:nvPicPr>
          <p:cNvPr id="54297432" name="Picture 1" descr="A diagram of multiplexer&#10;&#10;Description automatically generat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068082" y="1830309"/>
            <a:ext cx="3771900" cy="2526030"/>
          </a:xfrm>
          <a:prstGeom prst="rect">
            <a:avLst/>
          </a:prstGeom>
          <a:noFill/>
        </p:spPr>
      </p:pic>
      <p:pic>
        <p:nvPicPr>
          <p:cNvPr id="43569847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962275" y="1819811"/>
            <a:ext cx="3051175" cy="1803400"/>
          </a:xfrm>
          <a:prstGeom prst="rect">
            <a:avLst/>
          </a:prstGeom>
          <a:noFill/>
          <a:ln>
            <a:noFill/>
          </a:ln>
        </p:spPr>
      </p:pic>
      <p:pic>
        <p:nvPicPr>
          <p:cNvPr id="4" name="Picture 1">
            <a:extLst>
              <a:ext uri="{FF2B5EF4-FFF2-40B4-BE49-F238E27FC236}">
                <a16:creationId xmlns:a16="http://schemas.microsoft.com/office/drawing/2014/main" id="{A782A022-D466-4BD6-D7F4-DC456D805F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993496" y="4528533"/>
            <a:ext cx="4210050" cy="2095500"/>
          </a:xfrm>
          <a:prstGeom prst="rect">
            <a:avLst/>
          </a:prstGeom>
          <a:noFill/>
          <a:ln>
            <a:noFill/>
          </a:ln>
        </p:spPr>
      </p:pic>
      <p:sp>
        <p:nvSpPr>
          <p:cNvPr id="6" name="TextBox 5">
            <a:extLst>
              <a:ext uri="{FF2B5EF4-FFF2-40B4-BE49-F238E27FC236}">
                <a16:creationId xmlns:a16="http://schemas.microsoft.com/office/drawing/2014/main" id="{E41F4C16-6318-A4BB-DEA0-9B218F19C5EA}"/>
              </a:ext>
            </a:extLst>
          </p:cNvPr>
          <p:cNvSpPr txBox="1"/>
          <p:nvPr/>
        </p:nvSpPr>
        <p:spPr>
          <a:xfrm>
            <a:off x="7693702" y="3709352"/>
            <a:ext cx="6093500"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Y=S</a:t>
            </a:r>
            <a:r>
              <a:rPr lang="en-US" sz="2400" baseline="-25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+S</a:t>
            </a:r>
            <a:r>
              <a:rPr lang="en-US" sz="2400" baseline="-25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A</a:t>
            </a:r>
            <a:r>
              <a:rPr lang="en-US" sz="2400" baseline="-25000" dirty="0">
                <a:latin typeface="Times New Roman" panose="02020603050405020304" pitchFamily="18" charset="0"/>
                <a:cs typeface="Times New Roman" panose="02020603050405020304" pitchFamily="18" charset="0"/>
              </a:rPr>
              <a:t>1</a:t>
            </a:r>
            <a:endParaRPr lang="en-IN"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362" y="95725"/>
            <a:ext cx="9139003" cy="297815"/>
          </a:xfrm>
        </p:spPr>
        <p:txBody>
          <a:bodyPr>
            <a:normAutofit fontScale="90000"/>
          </a:bodyPr>
          <a:lstStyle/>
          <a:p>
            <a:r>
              <a:rPr lang="en-US" sz="3600" b="1" dirty="0">
                <a:solidFill>
                  <a:srgbClr val="000000"/>
                </a:solidFill>
                <a:effectLst/>
                <a:latin typeface="Times New Roman" panose="02020603050405020304" pitchFamily="18" charset="0"/>
                <a:cs typeface="Times New Roman" panose="02020603050405020304" pitchFamily="18" charset="0"/>
                <a:sym typeface="+mn-ea"/>
              </a:rPr>
              <a:t>4x1</a:t>
            </a:r>
            <a:r>
              <a:rPr lang="en-US" sz="4400" b="1" dirty="0">
                <a:solidFill>
                  <a:srgbClr val="000000"/>
                </a:solidFill>
                <a:effectLst/>
                <a:latin typeface="Times New Roman" panose="02020603050405020304" pitchFamily="18" charset="0"/>
                <a:cs typeface="Times New Roman" panose="02020603050405020304" pitchFamily="18" charset="0"/>
                <a:sym typeface="+mn-ea"/>
              </a:rPr>
              <a:t> </a:t>
            </a:r>
            <a:r>
              <a:rPr lang="en-US" sz="3600" b="1" dirty="0">
                <a:solidFill>
                  <a:srgbClr val="000000"/>
                </a:solidFill>
                <a:effectLst/>
                <a:latin typeface="Times New Roman" panose="02020603050405020304" pitchFamily="18" charset="0"/>
                <a:cs typeface="Times New Roman" panose="02020603050405020304" pitchFamily="18" charset="0"/>
                <a:sym typeface="+mn-ea"/>
              </a:rPr>
              <a:t>Multiplexer:</a:t>
            </a:r>
            <a:endParaRPr lang="en-US" dirty="0"/>
          </a:p>
        </p:txBody>
      </p:sp>
      <p:sp>
        <p:nvSpPr>
          <p:cNvPr id="3" name="Content Placeholder 2"/>
          <p:cNvSpPr>
            <a:spLocks noGrp="1"/>
          </p:cNvSpPr>
          <p:nvPr>
            <p:ph idx="1"/>
          </p:nvPr>
        </p:nvSpPr>
        <p:spPr>
          <a:xfrm>
            <a:off x="394700" y="544750"/>
            <a:ext cx="10972800" cy="5382895"/>
          </a:xfrm>
        </p:spPr>
        <p:txBody>
          <a:bodyPr/>
          <a:lstStyle/>
          <a:p>
            <a:pPr marL="15240" indent="0" algn="l">
              <a:buNone/>
            </a:pPr>
            <a:r>
              <a:rPr lang="en-US" sz="2800" dirty="0">
                <a:solidFill>
                  <a:srgbClr val="000000"/>
                </a:solidFill>
                <a:effectLst/>
                <a:latin typeface="Times New Roman" panose="02020603050405020304" pitchFamily="18" charset="0"/>
                <a:cs typeface="Times New Roman" panose="02020603050405020304" pitchFamily="18" charset="0"/>
                <a:sym typeface="+mn-ea"/>
              </a:rPr>
              <a:t> </a:t>
            </a:r>
            <a:r>
              <a:rPr lang="en-US" sz="2800" b="1" dirty="0">
                <a:solidFill>
                  <a:srgbClr val="000000"/>
                </a:solidFill>
                <a:effectLst/>
                <a:latin typeface="Times New Roman" panose="02020603050405020304" pitchFamily="18" charset="0"/>
                <a:cs typeface="Times New Roman" panose="02020603050405020304" pitchFamily="18" charset="0"/>
                <a:sym typeface="+mn-ea"/>
              </a:rPr>
              <a:t>Block diagram</a:t>
            </a:r>
            <a:r>
              <a:rPr lang="en-US" sz="2800" dirty="0">
                <a:solidFill>
                  <a:srgbClr val="000000"/>
                </a:solidFill>
                <a:effectLst/>
                <a:latin typeface="Times New Roman" panose="02020603050405020304" pitchFamily="18" charset="0"/>
                <a:cs typeface="Times New Roman" panose="02020603050405020304" pitchFamily="18" charset="0"/>
                <a:sym typeface="+mn-ea"/>
              </a:rPr>
              <a:t>                           </a:t>
            </a:r>
            <a:r>
              <a:rPr lang="en-US" sz="2800" b="1" dirty="0">
                <a:solidFill>
                  <a:srgbClr val="282828"/>
                </a:solidFill>
                <a:effectLst/>
                <a:latin typeface="Times New Roman" panose="02020603050405020304" pitchFamily="18" charset="0"/>
                <a:cs typeface="Times New Roman" panose="02020603050405020304" pitchFamily="18" charset="0"/>
                <a:sym typeface="+mn-ea"/>
              </a:rPr>
              <a:t>Truth Table</a:t>
            </a:r>
            <a:endParaRPr lang="en-US" sz="2800" b="1" i="0" dirty="0">
              <a:solidFill>
                <a:srgbClr val="282828"/>
              </a:solidFill>
              <a:effectLst/>
              <a:latin typeface="Times New Roman" panose="02020603050405020304" pitchFamily="18" charset="0"/>
              <a:cs typeface="Times New Roman" panose="02020603050405020304" pitchFamily="18" charset="0"/>
            </a:endParaRPr>
          </a:p>
          <a:p>
            <a:pPr marL="15240" indent="0" algn="l">
              <a:buNone/>
            </a:pPr>
            <a:endParaRPr lang="en-US" sz="2800" dirty="0">
              <a:solidFill>
                <a:srgbClr val="000000"/>
              </a:solidFill>
              <a:effectLst/>
              <a:latin typeface="Times New Roman" panose="02020603050405020304" pitchFamily="18" charset="0"/>
              <a:cs typeface="Times New Roman" panose="02020603050405020304" pitchFamily="18" charset="0"/>
              <a:sym typeface="+mn-ea"/>
            </a:endParaRPr>
          </a:p>
          <a:p>
            <a:pPr marL="15240" indent="0" algn="l">
              <a:buNone/>
            </a:pPr>
            <a:endParaRPr lang="en-US" sz="2800" dirty="0">
              <a:solidFill>
                <a:srgbClr val="000000"/>
              </a:solidFill>
              <a:effectLst/>
              <a:latin typeface="Times New Roman" panose="02020603050405020304" pitchFamily="18" charset="0"/>
              <a:cs typeface="Times New Roman" panose="02020603050405020304" pitchFamily="18" charset="0"/>
              <a:sym typeface="+mn-ea"/>
            </a:endParaRPr>
          </a:p>
        </p:txBody>
      </p:sp>
      <p:pic>
        <p:nvPicPr>
          <p:cNvPr id="5" name="Picture 4"/>
          <p:cNvPicPr>
            <a:picLocks noChangeAspect="1"/>
          </p:cNvPicPr>
          <p:nvPr/>
        </p:nvPicPr>
        <p:blipFill>
          <a:blip r:embed="rId2"/>
          <a:stretch>
            <a:fillRect/>
          </a:stretch>
        </p:blipFill>
        <p:spPr>
          <a:xfrm>
            <a:off x="0" y="930355"/>
            <a:ext cx="4417060" cy="2778125"/>
          </a:xfrm>
          <a:prstGeom prst="rect">
            <a:avLst/>
          </a:prstGeom>
        </p:spPr>
      </p:pic>
      <p:pic>
        <p:nvPicPr>
          <p:cNvPr id="1580490399" name="Picture 6" descr="A white grid with black text&#10;&#10;Description automatically generated"/>
          <p:cNvPicPr>
            <a:picLocks noChangeAspect="1"/>
          </p:cNvPicPr>
          <p:nvPr/>
        </p:nvPicPr>
        <p:blipFill>
          <a:blip r:embed="rId3">
            <a:extLst>
              <a:ext uri="{BEBA8EAE-BF5A-486C-A8C5-ECC9F3942E4B}">
                <a14:imgProps xmlns:a14="http://schemas.microsoft.com/office/drawing/2010/main">
                  <a14:imgLayer r:embed="rId4">
                    <a14:imgEffect>
                      <a14:artisticPhotocopy detail="2"/>
                    </a14:imgEffect>
                  </a14:imgLayer>
                </a14:imgProps>
              </a:ext>
            </a:extLst>
          </a:blip>
          <a:stretch>
            <a:fillRect/>
          </a:stretch>
        </p:blipFill>
        <p:spPr>
          <a:xfrm>
            <a:off x="4811760" y="930355"/>
            <a:ext cx="4579620" cy="2651760"/>
          </a:xfrm>
          <a:prstGeom prst="rect">
            <a:avLst/>
          </a:prstGeom>
        </p:spPr>
      </p:pic>
      <p:sp>
        <p:nvSpPr>
          <p:cNvPr id="7" name="TextBox 6">
            <a:extLst>
              <a:ext uri="{FF2B5EF4-FFF2-40B4-BE49-F238E27FC236}">
                <a16:creationId xmlns:a16="http://schemas.microsoft.com/office/drawing/2014/main" id="{D1FC3063-B408-709B-4F30-F90B46A0B7DC}"/>
              </a:ext>
            </a:extLst>
          </p:cNvPr>
          <p:cNvSpPr txBox="1"/>
          <p:nvPr/>
        </p:nvSpPr>
        <p:spPr>
          <a:xfrm>
            <a:off x="5393921" y="4031774"/>
            <a:ext cx="6093500"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Y=S1′S0′I0+S1′S0I1+S1S0′I2+S1S0I3</a:t>
            </a:r>
            <a:endParaRPr lang="en-IN" dirty="0"/>
          </a:p>
        </p:txBody>
      </p:sp>
      <p:pic>
        <p:nvPicPr>
          <p:cNvPr id="8" name="Picture 2">
            <a:extLst>
              <a:ext uri="{FF2B5EF4-FFF2-40B4-BE49-F238E27FC236}">
                <a16:creationId xmlns:a16="http://schemas.microsoft.com/office/drawing/2014/main" id="{B9B810D3-1DAA-12C2-39BE-6E9552AD32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394700" y="3830112"/>
            <a:ext cx="4579620" cy="293216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 y="-248603"/>
            <a:ext cx="10279380" cy="944245"/>
          </a:xfrm>
        </p:spPr>
        <p:txBody>
          <a:bodyPr>
            <a:normAutofit/>
          </a:bodyPr>
          <a:lstStyle/>
          <a:p>
            <a:r>
              <a:rPr lang="en-US" sz="3200" b="1" dirty="0">
                <a:latin typeface="Times New Roman" panose="02020603050405020304" pitchFamily="18" charset="0"/>
                <a:cs typeface="Times New Roman" panose="02020603050405020304" pitchFamily="18" charset="0"/>
              </a:rPr>
              <a:t>8x1 Multiplexer:</a:t>
            </a:r>
          </a:p>
        </p:txBody>
      </p:sp>
      <p:sp>
        <p:nvSpPr>
          <p:cNvPr id="3" name="Content Placeholder 2"/>
          <p:cNvSpPr>
            <a:spLocks noGrp="1"/>
          </p:cNvSpPr>
          <p:nvPr>
            <p:ph idx="1"/>
          </p:nvPr>
        </p:nvSpPr>
        <p:spPr>
          <a:xfrm>
            <a:off x="117475" y="521970"/>
            <a:ext cx="11788775" cy="6112510"/>
          </a:xfrm>
        </p:spPr>
        <p:txBody>
          <a:bodyPr/>
          <a:lstStyle/>
          <a:p>
            <a:pPr marL="15240" indent="0">
              <a:buNone/>
            </a:pPr>
            <a:r>
              <a:rPr lang="en-US" dirty="0">
                <a:solidFill>
                  <a:srgbClr val="000000"/>
                </a:solidFill>
                <a:effectLst/>
                <a:latin typeface="Times New Roman" panose="02020603050405020304" pitchFamily="18" charset="0"/>
                <a:cs typeface="Times New Roman" panose="02020603050405020304" pitchFamily="18" charset="0"/>
                <a:sym typeface="+mn-ea"/>
              </a:rPr>
              <a:t> </a:t>
            </a:r>
            <a:r>
              <a:rPr lang="en-US" sz="2800" b="1" dirty="0">
                <a:solidFill>
                  <a:srgbClr val="000000"/>
                </a:solidFill>
                <a:effectLst/>
                <a:latin typeface="Times New Roman" panose="02020603050405020304" pitchFamily="18" charset="0"/>
                <a:cs typeface="Times New Roman" panose="02020603050405020304" pitchFamily="18" charset="0"/>
                <a:sym typeface="+mn-ea"/>
              </a:rPr>
              <a:t>Block diagram</a:t>
            </a:r>
            <a:r>
              <a:rPr lang="en-US" sz="2800" dirty="0">
                <a:solidFill>
                  <a:srgbClr val="000000"/>
                </a:solidFill>
                <a:effectLst/>
                <a:latin typeface="Times New Roman" panose="02020603050405020304" pitchFamily="18" charset="0"/>
                <a:cs typeface="Times New Roman" panose="02020603050405020304" pitchFamily="18" charset="0"/>
                <a:sym typeface="+mn-ea"/>
              </a:rPr>
              <a:t> </a:t>
            </a:r>
            <a:r>
              <a:rPr lang="en-US" dirty="0">
                <a:solidFill>
                  <a:srgbClr val="000000"/>
                </a:solidFill>
                <a:effectLst/>
                <a:latin typeface="Times New Roman" panose="02020603050405020304" pitchFamily="18" charset="0"/>
                <a:cs typeface="Times New Roman" panose="02020603050405020304" pitchFamily="18" charset="0"/>
                <a:sym typeface="+mn-ea"/>
              </a:rPr>
              <a:t>	</a:t>
            </a:r>
            <a:r>
              <a:rPr lang="en-US" dirty="0">
                <a:solidFill>
                  <a:srgbClr val="000000"/>
                </a:solidFill>
                <a:latin typeface="Times New Roman" panose="02020603050405020304" pitchFamily="18" charset="0"/>
                <a:cs typeface="Times New Roman" panose="02020603050405020304" pitchFamily="18" charset="0"/>
                <a:sym typeface="+mn-ea"/>
              </a:rPr>
              <a:t>                </a:t>
            </a:r>
            <a:r>
              <a:rPr lang="en-US" sz="2800" b="1" dirty="0">
                <a:solidFill>
                  <a:srgbClr val="282828"/>
                </a:solidFill>
                <a:effectLst/>
                <a:latin typeface="Times New Roman" panose="02020603050405020304" pitchFamily="18" charset="0"/>
                <a:cs typeface="Times New Roman" panose="02020603050405020304" pitchFamily="18" charset="0"/>
                <a:sym typeface="+mn-ea"/>
              </a:rPr>
              <a:t>Truth Table</a:t>
            </a:r>
          </a:p>
        </p:txBody>
      </p:sp>
      <p:pic>
        <p:nvPicPr>
          <p:cNvPr id="1722538459" name="Picture 2" descr="MU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24498" y="1089342"/>
            <a:ext cx="3188970" cy="3599180"/>
          </a:xfrm>
          <a:prstGeom prst="rect">
            <a:avLst/>
          </a:prstGeom>
          <a:noFill/>
          <a:ln>
            <a:noFill/>
          </a:ln>
        </p:spPr>
      </p:pic>
      <p:pic>
        <p:nvPicPr>
          <p:cNvPr id="340112682" name="Picture 3" descr="truth 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920491" y="1206817"/>
            <a:ext cx="3307080" cy="3481705"/>
          </a:xfrm>
          <a:prstGeom prst="rect">
            <a:avLst/>
          </a:prstGeom>
          <a:noFill/>
          <a:ln>
            <a:noFill/>
          </a:ln>
        </p:spPr>
      </p:pic>
      <p:sp>
        <p:nvSpPr>
          <p:cNvPr id="5" name="TextBox 4">
            <a:extLst>
              <a:ext uri="{FF2B5EF4-FFF2-40B4-BE49-F238E27FC236}">
                <a16:creationId xmlns:a16="http://schemas.microsoft.com/office/drawing/2014/main" id="{B4E0B0AB-14B7-BBB2-5B33-D392594EA2F4}"/>
              </a:ext>
            </a:extLst>
          </p:cNvPr>
          <p:cNvSpPr txBox="1"/>
          <p:nvPr/>
        </p:nvSpPr>
        <p:spPr>
          <a:xfrm>
            <a:off x="285749" y="4876531"/>
            <a:ext cx="6594735" cy="646331"/>
          </a:xfrm>
          <a:prstGeom prst="rect">
            <a:avLst/>
          </a:prstGeom>
          <a:noFill/>
        </p:spPr>
        <p:txBody>
          <a:bodyPr wrap="square">
            <a:spAutoFit/>
          </a:bodyPr>
          <a:lstStyle/>
          <a:p>
            <a:pPr marL="15240" indent="0">
              <a:buNone/>
            </a:pPr>
            <a:r>
              <a:rPr lang="en-US" sz="1800" dirty="0">
                <a:latin typeface="Times New Roman" panose="02020603050405020304" pitchFamily="18" charset="0"/>
                <a:cs typeface="Times New Roman" panose="02020603050405020304" pitchFamily="18" charset="0"/>
              </a:rPr>
              <a:t>Y=S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 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 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 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4</a:t>
            </a:r>
            <a:r>
              <a:rPr lang="en-US" sz="1800" dirty="0">
                <a:latin typeface="Times New Roman" panose="02020603050405020304" pitchFamily="18" charset="0"/>
                <a:cs typeface="Times New Roman" panose="02020603050405020304" pitchFamily="18" charset="0"/>
              </a:rPr>
              <a:t>+ 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5</a:t>
            </a:r>
            <a:r>
              <a:rPr lang="en-US" sz="1800" dirty="0">
                <a:latin typeface="Times New Roman" panose="02020603050405020304" pitchFamily="18" charset="0"/>
                <a:cs typeface="Times New Roman" panose="02020603050405020304" pitchFamily="18" charset="0"/>
              </a:rPr>
              <a:t>+ 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6</a:t>
            </a:r>
            <a:r>
              <a:rPr lang="en-US" sz="1800" dirty="0">
                <a:latin typeface="Times New Roman" panose="02020603050405020304" pitchFamily="18" charset="0"/>
                <a:cs typeface="Times New Roman" panose="02020603050405020304" pitchFamily="18" charset="0"/>
              </a:rPr>
              <a:t>+ S</a:t>
            </a:r>
            <a:r>
              <a:rPr lang="en-US" sz="1800" baseline="-25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.S</a:t>
            </a:r>
            <a:r>
              <a:rPr lang="en-US" sz="1800" baseline="-25000" dirty="0">
                <a:latin typeface="Times New Roman" panose="02020603050405020304" pitchFamily="18" charset="0"/>
                <a:cs typeface="Times New Roman" panose="02020603050405020304" pitchFamily="18" charset="0"/>
              </a:rPr>
              <a:t>0</a:t>
            </a:r>
            <a:r>
              <a:rPr lang="en-US" sz="1800" dirty="0">
                <a:latin typeface="Times New Roman" panose="02020603050405020304" pitchFamily="18" charset="0"/>
                <a:cs typeface="Times New Roman" panose="02020603050405020304" pitchFamily="18" charset="0"/>
              </a:rPr>
              <a:t>.A</a:t>
            </a:r>
            <a:r>
              <a:rPr lang="en-US" sz="1800" baseline="-25000" dirty="0">
                <a:latin typeface="Times New Roman" panose="02020603050405020304" pitchFamily="18" charset="0"/>
                <a:cs typeface="Times New Roman" panose="02020603050405020304" pitchFamily="18" charset="0"/>
              </a:rPr>
              <a:t>7</a:t>
            </a:r>
          </a:p>
        </p:txBody>
      </p:sp>
      <p:pic>
        <p:nvPicPr>
          <p:cNvPr id="6" name="Picture 3">
            <a:extLst>
              <a:ext uri="{FF2B5EF4-FFF2-40B4-BE49-F238E27FC236}">
                <a16:creationId xmlns:a16="http://schemas.microsoft.com/office/drawing/2014/main" id="{3995FD51-550F-B8C1-3A06-F9F962D2A4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8133000" y="1373762"/>
            <a:ext cx="3773250" cy="359918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14" y="-363803"/>
            <a:ext cx="10695940" cy="1511935"/>
          </a:xfrm>
        </p:spPr>
        <p:txBody>
          <a:bodyPr/>
          <a:lstStyle/>
          <a:p>
            <a:r>
              <a:rPr lang="en-US" b="1" dirty="0">
                <a:latin typeface="Times New Roman" panose="02020603050405020304" pitchFamily="18" charset="0"/>
                <a:cs typeface="Times New Roman" panose="02020603050405020304" pitchFamily="18" charset="0"/>
              </a:rPr>
              <a:t>Demultiplexer:</a:t>
            </a:r>
          </a:p>
        </p:txBody>
      </p:sp>
      <p:sp>
        <p:nvSpPr>
          <p:cNvPr id="3" name="Content Placeholder 2"/>
          <p:cNvSpPr>
            <a:spLocks noGrp="1"/>
          </p:cNvSpPr>
          <p:nvPr>
            <p:ph idx="1"/>
          </p:nvPr>
        </p:nvSpPr>
        <p:spPr>
          <a:xfrm>
            <a:off x="211902" y="685055"/>
            <a:ext cx="11498372" cy="5158105"/>
          </a:xfrm>
        </p:spPr>
        <p:txBody>
          <a:bodyPr/>
          <a:lstStyle/>
          <a:p>
            <a:r>
              <a:rPr lang="en-US" sz="3200" dirty="0">
                <a:latin typeface="Times New Roman" panose="02020603050405020304" pitchFamily="18" charset="0"/>
                <a:cs typeface="Times New Roman" panose="02020603050405020304" pitchFamily="18" charset="0"/>
              </a:rPr>
              <a:t>There are ‘n’ selection lines, there will be 2</a:t>
            </a:r>
            <a:r>
              <a:rPr lang="en-US" sz="3200" baseline="30000" dirty="0">
                <a:latin typeface="Times New Roman" panose="02020603050405020304" pitchFamily="18" charset="0"/>
                <a:cs typeface="Times New Roman" panose="02020603050405020304" pitchFamily="18" charset="0"/>
              </a:rPr>
              <a:t>n</a:t>
            </a:r>
            <a:r>
              <a:rPr lang="en-US" sz="3200" dirty="0">
                <a:latin typeface="Times New Roman" panose="02020603050405020304" pitchFamily="18" charset="0"/>
                <a:cs typeface="Times New Roman" panose="02020603050405020304" pitchFamily="18" charset="0"/>
              </a:rPr>
              <a:t> possible combinations of zeros and ones. So, each combination can select only one output. Demultiplexer is also called as De-Mux or Data Distributor.</a:t>
            </a:r>
          </a:p>
        </p:txBody>
      </p:sp>
      <p:sp>
        <p:nvSpPr>
          <p:cNvPr id="4" name="Title 1">
            <a:extLst>
              <a:ext uri="{FF2B5EF4-FFF2-40B4-BE49-F238E27FC236}">
                <a16:creationId xmlns:a16="http://schemas.microsoft.com/office/drawing/2014/main" id="{2C95D704-AFA2-4220-5869-33D3FF85E7B7}"/>
              </a:ext>
            </a:extLst>
          </p:cNvPr>
          <p:cNvSpPr txBox="1">
            <a:spLocks/>
          </p:cNvSpPr>
          <p:nvPr/>
        </p:nvSpPr>
        <p:spPr>
          <a:xfrm>
            <a:off x="0" y="1781146"/>
            <a:ext cx="109728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Times New Roman" panose="02020603050405020304" pitchFamily="18" charset="0"/>
                <a:cs typeface="Times New Roman" panose="02020603050405020304" pitchFamily="18" charset="0"/>
              </a:rPr>
              <a:t>1x4 Demultiplexer:</a:t>
            </a:r>
            <a:endParaRPr lang="en-US"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5419820-92B5-A38B-5A7A-F51F3185C641}"/>
              </a:ext>
            </a:extLst>
          </p:cNvPr>
          <p:cNvSpPr txBox="1"/>
          <p:nvPr/>
        </p:nvSpPr>
        <p:spPr>
          <a:xfrm>
            <a:off x="346814" y="2924146"/>
            <a:ext cx="11363460" cy="646331"/>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1x4 Demultiplexer has one input I, two selection lines, s1 &amp; s0 and four outputs Y3, Y2, Y1 &amp;Y0. The block diagram of 1x4 Demultiplexer is shown in the following figure.</a:t>
            </a:r>
          </a:p>
        </p:txBody>
      </p:sp>
      <p:pic>
        <p:nvPicPr>
          <p:cNvPr id="7" name="Picture 4">
            <a:extLst>
              <a:ext uri="{FF2B5EF4-FFF2-40B4-BE49-F238E27FC236}">
                <a16:creationId xmlns:a16="http://schemas.microsoft.com/office/drawing/2014/main" id="{1651CC13-ED8F-D2C9-757E-EFFD402258F0}"/>
              </a:ext>
            </a:extLst>
          </p:cNvPr>
          <p:cNvPicPr>
            <a:picLocks noChangeAspect="1"/>
          </p:cNvPicPr>
          <p:nvPr/>
        </p:nvPicPr>
        <p:blipFill>
          <a:blip r:embed="rId2"/>
          <a:stretch>
            <a:fillRect/>
          </a:stretch>
        </p:blipFill>
        <p:spPr>
          <a:xfrm>
            <a:off x="44633" y="4067146"/>
            <a:ext cx="4422435" cy="2057123"/>
          </a:xfrm>
          <a:prstGeom prst="rect">
            <a:avLst/>
          </a:prstGeom>
        </p:spPr>
      </p:pic>
      <p:pic>
        <p:nvPicPr>
          <p:cNvPr id="8" name="Picture 5" descr="De-multiplexer">
            <a:extLst>
              <a:ext uri="{FF2B5EF4-FFF2-40B4-BE49-F238E27FC236}">
                <a16:creationId xmlns:a16="http://schemas.microsoft.com/office/drawing/2014/main" id="{B742987C-60F2-1A72-3800-04BA51557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920042" y="3973328"/>
            <a:ext cx="3849204" cy="2104032"/>
          </a:xfrm>
          <a:prstGeom prst="rect">
            <a:avLst/>
          </a:prstGeom>
          <a:noFill/>
          <a:ln>
            <a:noFill/>
          </a:ln>
        </p:spPr>
      </p:pic>
      <p:sp>
        <p:nvSpPr>
          <p:cNvPr id="9" name="TextBox 8">
            <a:extLst>
              <a:ext uri="{FF2B5EF4-FFF2-40B4-BE49-F238E27FC236}">
                <a16:creationId xmlns:a16="http://schemas.microsoft.com/office/drawing/2014/main" id="{2731E02C-BDCF-D197-0312-29E469909127}"/>
              </a:ext>
            </a:extLst>
          </p:cNvPr>
          <p:cNvSpPr txBox="1"/>
          <p:nvPr/>
        </p:nvSpPr>
        <p:spPr>
          <a:xfrm>
            <a:off x="10154734" y="4284173"/>
            <a:ext cx="1555540" cy="1200329"/>
          </a:xfrm>
          <a:prstGeom prst="rect">
            <a:avLst/>
          </a:prstGeom>
          <a:noFill/>
        </p:spPr>
        <p:txBody>
          <a:bodyPr wrap="square">
            <a:spAutoFit/>
          </a:bodyPr>
          <a:lstStyle/>
          <a:p>
            <a:pPr marL="15240" indent="0">
              <a:buNone/>
            </a:pPr>
            <a:r>
              <a:rPr lang="en-US" sz="1800" dirty="0">
                <a:latin typeface="Times New Roman" panose="02020603050405020304" pitchFamily="18" charset="0"/>
                <a:cs typeface="Times New Roman" panose="02020603050405020304" pitchFamily="18" charset="0"/>
              </a:rPr>
              <a:t>Y0=S1'S0'A</a:t>
            </a:r>
          </a:p>
          <a:p>
            <a:pPr marL="15240" indent="0">
              <a:buNone/>
            </a:pPr>
            <a:r>
              <a:rPr lang="en-US" sz="1800" dirty="0">
                <a:latin typeface="Times New Roman" panose="02020603050405020304" pitchFamily="18" charset="0"/>
                <a:cs typeface="Times New Roman" panose="02020603050405020304" pitchFamily="18" charset="0"/>
              </a:rPr>
              <a:t>Y1=S1'S0 A</a:t>
            </a:r>
          </a:p>
          <a:p>
            <a:pPr marL="15240" indent="0">
              <a:buNone/>
            </a:pPr>
            <a:r>
              <a:rPr lang="en-US" sz="1800" dirty="0">
                <a:latin typeface="Times New Roman" panose="02020603050405020304" pitchFamily="18" charset="0"/>
                <a:cs typeface="Times New Roman" panose="02020603050405020304" pitchFamily="18" charset="0"/>
              </a:rPr>
              <a:t>Y2=S1 S0'A</a:t>
            </a:r>
          </a:p>
          <a:p>
            <a:pPr marL="15240" indent="0">
              <a:buNone/>
            </a:pPr>
            <a:r>
              <a:rPr lang="en-US" sz="1800" dirty="0">
                <a:latin typeface="Times New Roman" panose="02020603050405020304" pitchFamily="18" charset="0"/>
                <a:cs typeface="Times New Roman" panose="02020603050405020304" pitchFamily="18" charset="0"/>
              </a:rPr>
              <a:t>Y3=S1 S0 A</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p:nvPr>
            <p:extLst>
              <p:ext uri="{D42A27DB-BD31-4B8C-83A1-F6EECF244321}">
                <p14:modId xmlns:p14="http://schemas.microsoft.com/office/powerpoint/2010/main" val="2958655199"/>
              </p:ext>
            </p:extLst>
          </p:nvPr>
        </p:nvGraphicFramePr>
        <p:xfrm>
          <a:off x="2030355" y="797591"/>
          <a:ext cx="6304175" cy="4645025"/>
        </p:xfrm>
        <a:graphic>
          <a:graphicData uri="http://schemas.openxmlformats.org/presentationml/2006/ole">
            <mc:AlternateContent xmlns:mc="http://schemas.openxmlformats.org/markup-compatibility/2006">
              <mc:Choice xmlns:v="urn:schemas-microsoft-com:vml" Requires="v">
                <p:oleObj r:id="rId2" imgW="3971925" imgH="4048125" progId="Paint.Picture">
                  <p:embed/>
                </p:oleObj>
              </mc:Choice>
              <mc:Fallback>
                <p:oleObj r:id="rId2" imgW="3971925" imgH="4048125" progId="Paint.Picture">
                  <p:embed/>
                  <p:pic>
                    <p:nvPicPr>
                      <p:cNvPr id="4" name="Object 3"/>
                      <p:cNvPicPr/>
                      <p:nvPr/>
                    </p:nvPicPr>
                    <p:blipFill>
                      <a:blip r:embed="rId3"/>
                      <a:stretch>
                        <a:fillRect/>
                      </a:stretch>
                    </p:blipFill>
                    <p:spPr>
                      <a:xfrm>
                        <a:off x="2030355" y="797591"/>
                        <a:ext cx="6304175" cy="4645025"/>
                      </a:xfrm>
                      <a:prstGeom prst="rect">
                        <a:avLst/>
                      </a:prstGeom>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172" y="-201497"/>
            <a:ext cx="10972800" cy="1143000"/>
          </a:xfrm>
        </p:spPr>
        <p:txBody>
          <a:bodyPr>
            <a:normAutofit/>
          </a:bodyPr>
          <a:lstStyle/>
          <a:p>
            <a:r>
              <a:rPr lang="en-US" sz="3600" b="1" dirty="0">
                <a:latin typeface="Times New Roman" panose="02020603050405020304" pitchFamily="18" charset="0"/>
                <a:cs typeface="Times New Roman" panose="02020603050405020304" pitchFamily="18" charset="0"/>
              </a:rPr>
              <a:t>1x8 Demultiplexer:</a:t>
            </a:r>
          </a:p>
        </p:txBody>
      </p:sp>
      <p:sp>
        <p:nvSpPr>
          <p:cNvPr id="3" name="Content Placeholder 2"/>
          <p:cNvSpPr>
            <a:spLocks noGrp="1"/>
          </p:cNvSpPr>
          <p:nvPr>
            <p:ph idx="1"/>
          </p:nvPr>
        </p:nvSpPr>
        <p:spPr>
          <a:xfrm>
            <a:off x="214172" y="169628"/>
            <a:ext cx="10972800" cy="6073775"/>
          </a:xfrm>
        </p:spPr>
        <p:txBody>
          <a:bodyPr/>
          <a:lstStyle/>
          <a:p>
            <a:pPr marL="0" indent="0">
              <a:buNone/>
            </a:pPr>
            <a:endParaRPr lang="en-US" sz="2800" dirty="0">
              <a:latin typeface="Times New Roman" panose="02020603050405020304" pitchFamily="18" charset="0"/>
              <a:cs typeface="Times New Roman" panose="02020603050405020304" pitchFamily="18" charset="0"/>
            </a:endParaRPr>
          </a:p>
          <a:p>
            <a:pPr marL="15240" indent="0">
              <a:buNone/>
            </a:pPr>
            <a:r>
              <a:rPr lang="en-US" sz="2800" b="1" dirty="0">
                <a:latin typeface="Times New Roman" panose="02020603050405020304" pitchFamily="18" charset="0"/>
                <a:cs typeface="Times New Roman" panose="02020603050405020304" pitchFamily="18" charset="0"/>
                <a:sym typeface="+mn-ea"/>
              </a:rPr>
              <a:t>Block diagram</a:t>
            </a:r>
          </a:p>
          <a:p>
            <a:pPr marL="15240" indent="0">
              <a:buNone/>
            </a:pPr>
            <a:endParaRPr lang="en-US" sz="2800" b="1" dirty="0">
              <a:latin typeface="Times New Roman" panose="02020603050405020304" pitchFamily="18" charset="0"/>
              <a:cs typeface="Times New Roman" panose="02020603050405020304" pitchFamily="18" charset="0"/>
            </a:endParaRPr>
          </a:p>
        </p:txBody>
      </p:sp>
      <p:pic>
        <p:nvPicPr>
          <p:cNvPr id="1715729449" name="Picture 6" descr="De-multiplex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4172" y="1312628"/>
            <a:ext cx="3093075" cy="2462863"/>
          </a:xfrm>
          <a:prstGeom prst="rect">
            <a:avLst/>
          </a:prstGeom>
          <a:noFill/>
          <a:ln>
            <a:noFill/>
          </a:ln>
        </p:spPr>
      </p:pic>
      <p:pic>
        <p:nvPicPr>
          <p:cNvPr id="6" name="Picture 7" descr="De-multiplexer">
            <a:extLst>
              <a:ext uri="{FF2B5EF4-FFF2-40B4-BE49-F238E27FC236}">
                <a16:creationId xmlns:a16="http://schemas.microsoft.com/office/drawing/2014/main" id="{5E2DA41A-1A8C-FFA5-4D10-1FDF959AA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148039" y="370003"/>
            <a:ext cx="7640955" cy="3837940"/>
          </a:xfrm>
          <a:prstGeom prst="rect">
            <a:avLst/>
          </a:prstGeom>
          <a:noFill/>
          <a:ln>
            <a:noFill/>
          </a:ln>
        </p:spPr>
      </p:pic>
      <p:sp>
        <p:nvSpPr>
          <p:cNvPr id="8" name="TextBox 7">
            <a:extLst>
              <a:ext uri="{FF2B5EF4-FFF2-40B4-BE49-F238E27FC236}">
                <a16:creationId xmlns:a16="http://schemas.microsoft.com/office/drawing/2014/main" id="{12946EF2-EA1F-F30A-2AD3-88EBA39EDE9D}"/>
              </a:ext>
            </a:extLst>
          </p:cNvPr>
          <p:cNvSpPr txBox="1"/>
          <p:nvPr/>
        </p:nvSpPr>
        <p:spPr>
          <a:xfrm>
            <a:off x="214172" y="4146616"/>
            <a:ext cx="7526791" cy="2003112"/>
          </a:xfrm>
          <a:prstGeom prst="rect">
            <a:avLst/>
          </a:prstGeom>
          <a:noFill/>
        </p:spPr>
        <p:txBody>
          <a:bodyPr wrap="square">
            <a:spAutoFit/>
          </a:bodyPr>
          <a:lstStyle/>
          <a:p>
            <a:pPr defTabSz="266700">
              <a:spcBef>
                <a:spcPts val="500"/>
              </a:spcBef>
              <a:spcAft>
                <a:spcPts val="500"/>
              </a:spcAft>
            </a:pPr>
            <a:r>
              <a:rPr lang="en-US" sz="2400" b="1" dirty="0">
                <a:latin typeface="Times New Roman" panose="02020603050405020304" pitchFamily="18" charset="0"/>
                <a:ea typeface="Times New Roman" panose="02020603050405020304"/>
                <a:cs typeface="Times New Roman" panose="02020603050405020304" pitchFamily="18" charset="0"/>
              </a:rPr>
              <a:t>The logical expression of the term Y is as follows</a:t>
            </a:r>
            <a:r>
              <a:rPr lang="en-US" sz="2400" dirty="0">
                <a:solidFill>
                  <a:srgbClr val="333333"/>
                </a:solidFill>
                <a:latin typeface="Times New Roman" panose="02020603050405020304" pitchFamily="18" charset="0"/>
                <a:ea typeface="Times New Roman" panose="02020603050405020304"/>
                <a:cs typeface="Times New Roman" panose="02020603050405020304" pitchFamily="18" charset="0"/>
              </a:rPr>
              <a:t>:</a:t>
            </a:r>
          </a:p>
          <a:p>
            <a:pPr defTabSz="266700">
              <a:spcAft>
                <a:spcPct val="0"/>
              </a:spcAft>
            </a:pPr>
            <a:r>
              <a:rPr lang="en-US" sz="2400" dirty="0">
                <a:latin typeface="Times New Roman" panose="02020603050405020304" pitchFamily="18" charset="0"/>
                <a:ea typeface="Calibri" panose="020F0502020204030204"/>
                <a:cs typeface="Times New Roman" panose="02020603050405020304" pitchFamily="18" charset="0"/>
              </a:rPr>
              <a:t>Y</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'.A					Y</a:t>
            </a:r>
            <a:r>
              <a:rPr lang="en-US" sz="2400" baseline="-25000" dirty="0">
                <a:latin typeface="Times New Roman" panose="02020603050405020304" pitchFamily="18" charset="0"/>
                <a:ea typeface="Calibri" panose="020F0502020204030204"/>
                <a:cs typeface="Times New Roman" panose="02020603050405020304" pitchFamily="18" charset="0"/>
              </a:rPr>
              <a:t>4</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'.A </a:t>
            </a:r>
          </a:p>
          <a:p>
            <a:pPr defTabSz="266700">
              <a:spcAft>
                <a:spcPct val="0"/>
              </a:spcAft>
            </a:pPr>
            <a:r>
              <a:rPr lang="en-US" sz="2400" dirty="0">
                <a:latin typeface="Times New Roman" panose="02020603050405020304" pitchFamily="18" charset="0"/>
                <a:ea typeface="Calibri" panose="020F0502020204030204"/>
                <a:cs typeface="Times New Roman" panose="02020603050405020304" pitchFamily="18" charset="0"/>
              </a:rPr>
              <a:t>Y</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.A 					Y</a:t>
            </a:r>
            <a:r>
              <a:rPr lang="en-US" sz="2400" baseline="-25000" dirty="0">
                <a:latin typeface="Times New Roman" panose="02020603050405020304" pitchFamily="18" charset="0"/>
                <a:ea typeface="Calibri" panose="020F0502020204030204"/>
                <a:cs typeface="Times New Roman" panose="02020603050405020304" pitchFamily="18" charset="0"/>
              </a:rPr>
              <a:t>5</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A</a:t>
            </a:r>
          </a:p>
          <a:p>
            <a:pPr defTabSz="266700">
              <a:spcAft>
                <a:spcPct val="0"/>
              </a:spcAft>
            </a:pPr>
            <a:r>
              <a:rPr lang="en-US" sz="2400" dirty="0">
                <a:latin typeface="Times New Roman" panose="02020603050405020304" pitchFamily="18" charset="0"/>
                <a:ea typeface="Calibri" panose="020F0502020204030204"/>
                <a:cs typeface="Times New Roman" panose="02020603050405020304" pitchFamily="18" charset="0"/>
              </a:rPr>
              <a:t> Y</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'.A					Y</a:t>
            </a:r>
            <a:r>
              <a:rPr lang="en-US" sz="2400" baseline="-25000" dirty="0">
                <a:latin typeface="Times New Roman" panose="02020603050405020304" pitchFamily="18" charset="0"/>
                <a:ea typeface="Calibri" panose="020F0502020204030204"/>
                <a:cs typeface="Times New Roman" panose="02020603050405020304" pitchFamily="18" charset="0"/>
              </a:rPr>
              <a:t>6</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'.A</a:t>
            </a:r>
          </a:p>
          <a:p>
            <a:pPr defTabSz="266700">
              <a:spcAft>
                <a:spcPct val="0"/>
              </a:spcAft>
            </a:pPr>
            <a:r>
              <a:rPr lang="en-US" sz="2400" dirty="0">
                <a:latin typeface="Times New Roman" panose="02020603050405020304" pitchFamily="18" charset="0"/>
                <a:ea typeface="Calibri" panose="020F0502020204030204"/>
                <a:cs typeface="Times New Roman" panose="02020603050405020304" pitchFamily="18" charset="0"/>
              </a:rPr>
              <a:t> Y</a:t>
            </a:r>
            <a:r>
              <a:rPr lang="en-US" sz="2400" baseline="-25000" dirty="0">
                <a:latin typeface="Times New Roman" panose="02020603050405020304" pitchFamily="18" charset="0"/>
                <a:ea typeface="Calibri" panose="020F0502020204030204"/>
                <a:cs typeface="Times New Roman" panose="02020603050405020304" pitchFamily="18" charset="0"/>
              </a:rPr>
              <a:t>3</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.A					Y</a:t>
            </a:r>
            <a:r>
              <a:rPr lang="en-US" sz="2400" baseline="-25000" dirty="0">
                <a:latin typeface="Times New Roman" panose="02020603050405020304" pitchFamily="18" charset="0"/>
                <a:ea typeface="Calibri" panose="020F0502020204030204"/>
                <a:cs typeface="Times New Roman" panose="02020603050405020304" pitchFamily="18" charset="0"/>
              </a:rPr>
              <a:t>7</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2.</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1</a:t>
            </a:r>
            <a:r>
              <a:rPr lang="en-US" sz="2400" dirty="0">
                <a:latin typeface="Times New Roman" panose="02020603050405020304" pitchFamily="18" charset="0"/>
                <a:ea typeface="Calibri" panose="020F0502020204030204"/>
                <a:cs typeface="Times New Roman" panose="02020603050405020304" pitchFamily="18" charset="0"/>
              </a:rPr>
              <a:t>.S</a:t>
            </a:r>
            <a:r>
              <a:rPr lang="en-US" sz="2400" baseline="-25000" dirty="0">
                <a:latin typeface="Times New Roman" panose="02020603050405020304" pitchFamily="18" charset="0"/>
                <a:ea typeface="Calibri" panose="020F0502020204030204"/>
                <a:cs typeface="Times New Roman" panose="02020603050405020304" pitchFamily="18" charset="0"/>
              </a:rPr>
              <a:t>0</a:t>
            </a:r>
            <a:r>
              <a:rPr lang="en-US" sz="2400" dirty="0">
                <a:latin typeface="Times New Roman" panose="02020603050405020304" pitchFamily="18" charset="0"/>
                <a:ea typeface="Calibri" panose="020F0502020204030204"/>
                <a:cs typeface="Times New Roman" panose="02020603050405020304" pitchFamily="18" charset="0"/>
              </a:rPr>
              <a:t>.A</a:t>
            </a:r>
            <a:endParaRPr lang="en-US" sz="1800" dirty="0">
              <a:latin typeface="Times New Roman" panose="02020603050405020304" pitchFamily="18" charset="0"/>
              <a:ea typeface="Calibri" panose="020F0502020204030204"/>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130" y="0"/>
            <a:ext cx="10542270" cy="955040"/>
          </a:xfrm>
        </p:spPr>
        <p:txBody>
          <a:bodyPr>
            <a:normAutofit/>
          </a:bodyPr>
          <a:lstStyle/>
          <a:p>
            <a:r>
              <a:rPr lang="en-US">
                <a:latin typeface="Times New Roman" panose="02020603050405020304" pitchFamily="18" charset="0"/>
                <a:cs typeface="Times New Roman" panose="02020603050405020304" pitchFamily="18" charset="0"/>
              </a:rPr>
              <a:t>Truth Table:</a:t>
            </a:r>
          </a:p>
        </p:txBody>
      </p:sp>
      <p:pic>
        <p:nvPicPr>
          <p:cNvPr id="684060195" name="Picture 7" descr="De-multiplexe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8255" y="200660"/>
            <a:ext cx="7640955" cy="3837940"/>
          </a:xfrm>
          <a:prstGeom prst="rect">
            <a:avLst/>
          </a:prstGeom>
          <a:noFill/>
          <a:ln>
            <a:noFill/>
          </a:ln>
        </p:spPr>
      </p:pic>
      <p:sp>
        <p:nvSpPr>
          <p:cNvPr id="4" name="Text Box 3"/>
          <p:cNvSpPr txBox="1"/>
          <p:nvPr/>
        </p:nvSpPr>
        <p:spPr>
          <a:xfrm>
            <a:off x="946785" y="4130675"/>
            <a:ext cx="10635615" cy="2465070"/>
          </a:xfrm>
          <a:prstGeom prst="rect">
            <a:avLst/>
          </a:prstGeom>
        </p:spPr>
        <p:txBody>
          <a:bodyPr wrap="square">
            <a:noAutofit/>
          </a:bodyPr>
          <a:lstStyle/>
          <a:p>
            <a:pPr defTabSz="266700">
              <a:spcBef>
                <a:spcPts val="500"/>
              </a:spcBef>
              <a:spcAft>
                <a:spcPts val="500"/>
              </a:spcAft>
            </a:pPr>
            <a:r>
              <a:rPr sz="2800" b="1" dirty="0">
                <a:latin typeface="Times New Roman" panose="02020603050405020304" pitchFamily="18" charset="0"/>
                <a:ea typeface="Times New Roman" panose="02020603050405020304"/>
                <a:cs typeface="Times New Roman" panose="02020603050405020304" pitchFamily="18" charset="0"/>
              </a:rPr>
              <a:t>The logical expression of the term Y is as follows</a:t>
            </a:r>
            <a:r>
              <a:rPr sz="2800" dirty="0">
                <a:solidFill>
                  <a:srgbClr val="333333"/>
                </a:solidFill>
                <a:latin typeface="Times New Roman" panose="02020603050405020304" pitchFamily="18" charset="0"/>
                <a:ea typeface="Times New Roman" panose="02020603050405020304"/>
                <a:cs typeface="Times New Roman" panose="02020603050405020304" pitchFamily="18" charset="0"/>
              </a:rPr>
              <a:t>:</a:t>
            </a:r>
          </a:p>
          <a:p>
            <a:pPr defTabSz="266700">
              <a:spcAft>
                <a:spcPct val="0"/>
              </a:spcAft>
            </a:pPr>
            <a:r>
              <a:rPr sz="2800" dirty="0">
                <a:latin typeface="Times New Roman" panose="02020603050405020304" pitchFamily="18" charset="0"/>
                <a:ea typeface="Calibri" panose="020F0502020204030204"/>
                <a:cs typeface="Times New Roman" panose="02020603050405020304" pitchFamily="18" charset="0"/>
              </a:rPr>
              <a:t>Y</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'.A					Y</a:t>
            </a:r>
            <a:r>
              <a:rPr sz="2800" baseline="-25000" dirty="0">
                <a:latin typeface="Times New Roman" panose="02020603050405020304" pitchFamily="18" charset="0"/>
                <a:ea typeface="Calibri" panose="020F0502020204030204"/>
                <a:cs typeface="Times New Roman" panose="02020603050405020304" pitchFamily="18" charset="0"/>
              </a:rPr>
              <a:t>4</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'.A </a:t>
            </a:r>
          </a:p>
          <a:p>
            <a:pPr defTabSz="266700">
              <a:spcAft>
                <a:spcPct val="0"/>
              </a:spcAft>
            </a:pPr>
            <a:r>
              <a:rPr sz="2800" dirty="0">
                <a:latin typeface="Times New Roman" panose="02020603050405020304" pitchFamily="18" charset="0"/>
                <a:ea typeface="Calibri" panose="020F0502020204030204"/>
                <a:cs typeface="Times New Roman" panose="02020603050405020304" pitchFamily="18" charset="0"/>
              </a:rPr>
              <a:t>Y</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.A 					Y</a:t>
            </a:r>
            <a:r>
              <a:rPr sz="2800" baseline="-25000" dirty="0">
                <a:latin typeface="Times New Roman" panose="02020603050405020304" pitchFamily="18" charset="0"/>
                <a:ea typeface="Calibri" panose="020F0502020204030204"/>
                <a:cs typeface="Times New Roman" panose="02020603050405020304" pitchFamily="18" charset="0"/>
              </a:rPr>
              <a:t>5</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A</a:t>
            </a:r>
          </a:p>
          <a:p>
            <a:pPr defTabSz="266700">
              <a:spcAft>
                <a:spcPct val="0"/>
              </a:spcAft>
            </a:pPr>
            <a:r>
              <a:rPr sz="2800" dirty="0">
                <a:latin typeface="Times New Roman" panose="02020603050405020304" pitchFamily="18" charset="0"/>
                <a:ea typeface="Calibri" panose="020F0502020204030204"/>
                <a:cs typeface="Times New Roman" panose="02020603050405020304" pitchFamily="18" charset="0"/>
              </a:rPr>
              <a:t> Y</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'.A					Y</a:t>
            </a:r>
            <a:r>
              <a:rPr sz="2800" baseline="-25000" dirty="0">
                <a:latin typeface="Times New Roman" panose="02020603050405020304" pitchFamily="18" charset="0"/>
                <a:ea typeface="Calibri" panose="020F0502020204030204"/>
                <a:cs typeface="Times New Roman" panose="02020603050405020304" pitchFamily="18" charset="0"/>
              </a:rPr>
              <a:t>6</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'.A</a:t>
            </a:r>
          </a:p>
          <a:p>
            <a:pPr defTabSz="266700">
              <a:spcAft>
                <a:spcPct val="0"/>
              </a:spcAft>
            </a:pPr>
            <a:r>
              <a:rPr sz="2800" dirty="0">
                <a:latin typeface="Times New Roman" panose="02020603050405020304" pitchFamily="18" charset="0"/>
                <a:ea typeface="Calibri" panose="020F0502020204030204"/>
                <a:cs typeface="Times New Roman" panose="02020603050405020304" pitchFamily="18" charset="0"/>
              </a:rPr>
              <a:t> Y</a:t>
            </a:r>
            <a:r>
              <a:rPr sz="2800" baseline="-25000" dirty="0">
                <a:latin typeface="Times New Roman" panose="02020603050405020304" pitchFamily="18" charset="0"/>
                <a:ea typeface="Calibri" panose="020F0502020204030204"/>
                <a:cs typeface="Times New Roman" panose="02020603050405020304" pitchFamily="18" charset="0"/>
              </a:rPr>
              <a:t>3</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.A					Y</a:t>
            </a:r>
            <a:r>
              <a:rPr sz="2800" baseline="-25000" dirty="0">
                <a:latin typeface="Times New Roman" panose="02020603050405020304" pitchFamily="18" charset="0"/>
                <a:ea typeface="Calibri" panose="020F0502020204030204"/>
                <a:cs typeface="Times New Roman" panose="02020603050405020304" pitchFamily="18" charset="0"/>
              </a:rPr>
              <a:t>7</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2.</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1</a:t>
            </a:r>
            <a:r>
              <a:rPr sz="2800" dirty="0">
                <a:latin typeface="Times New Roman" panose="02020603050405020304" pitchFamily="18" charset="0"/>
                <a:ea typeface="Calibri" panose="020F0502020204030204"/>
                <a:cs typeface="Times New Roman" panose="02020603050405020304" pitchFamily="18" charset="0"/>
              </a:rPr>
              <a:t>.S</a:t>
            </a:r>
            <a:r>
              <a:rPr sz="2800" baseline="-25000" dirty="0">
                <a:latin typeface="Times New Roman" panose="02020603050405020304" pitchFamily="18" charset="0"/>
                <a:ea typeface="Calibri" panose="020F0502020204030204"/>
                <a:cs typeface="Times New Roman" panose="02020603050405020304" pitchFamily="18" charset="0"/>
              </a:rPr>
              <a:t>0</a:t>
            </a:r>
            <a:r>
              <a:rPr sz="2800" dirty="0">
                <a:latin typeface="Times New Roman" panose="02020603050405020304" pitchFamily="18" charset="0"/>
                <a:ea typeface="Calibri" panose="020F0502020204030204"/>
                <a:cs typeface="Times New Roman" panose="02020603050405020304" pitchFamily="18" charset="0"/>
              </a:rPr>
              <a:t>.A</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43" y="-207328"/>
            <a:ext cx="10515600" cy="1325563"/>
          </a:xfrm>
        </p:spPr>
        <p:txBody>
          <a:bodyPr>
            <a:normAutofit/>
          </a:bodyPr>
          <a:lstStyle/>
          <a:p>
            <a:r>
              <a:rPr lang="en-US" sz="3200" b="1" dirty="0">
                <a:latin typeface="Times New Roman" panose="02020603050405020304" pitchFamily="18" charset="0"/>
                <a:cs typeface="Times New Roman" panose="02020603050405020304" pitchFamily="18" charset="0"/>
              </a:rPr>
              <a:t>Logical</a:t>
            </a:r>
            <a:r>
              <a:rPr lang="en-US" b="1" dirty="0">
                <a:latin typeface="Times New Roman" panose="02020603050405020304" pitchFamily="18" charset="0"/>
                <a:cs typeface="Times New Roman" panose="02020603050405020304" pitchFamily="18" charset="0"/>
              </a:rPr>
              <a:t> circuit:</a:t>
            </a:r>
          </a:p>
        </p:txBody>
      </p:sp>
      <p:pic>
        <p:nvPicPr>
          <p:cNvPr id="2120587812"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408836" y="788451"/>
            <a:ext cx="4919345" cy="573976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C50A9B-85BC-11D7-06CD-B1D51CAB84E9}"/>
              </a:ext>
            </a:extLst>
          </p:cNvPr>
          <p:cNvSpPr txBox="1"/>
          <p:nvPr/>
        </p:nvSpPr>
        <p:spPr>
          <a:xfrm>
            <a:off x="239215" y="175416"/>
            <a:ext cx="10384438" cy="3139321"/>
          </a:xfrm>
          <a:prstGeom prst="rect">
            <a:avLst/>
          </a:prstGeom>
          <a:noFill/>
        </p:spPr>
        <p:txBody>
          <a:bodyPr wrap="square">
            <a:spAutoFit/>
          </a:bodyPr>
          <a:lstStyle/>
          <a:p>
            <a:r>
              <a:rPr lang="en-US" sz="2000" dirty="0"/>
              <a:t>Implement the function F(ABCD) = ∑m(2,3,4,5,8,9,12) </a:t>
            </a:r>
          </a:p>
          <a:p>
            <a:r>
              <a:rPr lang="en-US" sz="2000" dirty="0"/>
              <a:t>using a) 16:1 mux b) Using one 8: 1Mux</a:t>
            </a:r>
          </a:p>
          <a:p>
            <a:endParaRPr lang="en-US" sz="2000" dirty="0"/>
          </a:p>
          <a:p>
            <a:r>
              <a:rPr lang="en-US" sz="2000" dirty="0"/>
              <a:t>In the given Boolean expression, there are 4 </a:t>
            </a:r>
            <a:r>
              <a:rPr lang="en-US" sz="2000" dirty="0" err="1"/>
              <a:t>variables.Hence</a:t>
            </a:r>
            <a:r>
              <a:rPr lang="en-US" sz="2000" dirty="0"/>
              <a:t>, 16:1 multiplexer.</a:t>
            </a:r>
          </a:p>
          <a:p>
            <a:r>
              <a:rPr lang="en-US" sz="2000" dirty="0"/>
              <a:t>So, the mux has 16 input lines, 4 selection lines, and 1 output.</a:t>
            </a:r>
          </a:p>
          <a:p>
            <a:r>
              <a:rPr lang="en-US" sz="2000" dirty="0"/>
              <a:t>The inputs, corresponding to the min-terms (2,3,4,5,8,9,12) are connected to logic 1 and the </a:t>
            </a:r>
          </a:p>
          <a:p>
            <a:r>
              <a:rPr lang="en-US" sz="2000" dirty="0"/>
              <a:t>remaining terms to logic 0 (Grounded).</a:t>
            </a:r>
          </a:p>
          <a:p>
            <a:r>
              <a:rPr lang="en-US" sz="2000" dirty="0"/>
              <a:t> The given input variables are connected as 4 selection lines.</a:t>
            </a:r>
          </a:p>
          <a:p>
            <a:r>
              <a:rPr lang="en-US" sz="2000" dirty="0"/>
              <a:t> The 16:1 multiplexer can be drawn as follows:</a:t>
            </a:r>
          </a:p>
          <a:p>
            <a:endParaRPr lang="en-US" dirty="0"/>
          </a:p>
        </p:txBody>
      </p:sp>
      <p:pic>
        <p:nvPicPr>
          <p:cNvPr id="5" name="Picture 4">
            <a:extLst>
              <a:ext uri="{FF2B5EF4-FFF2-40B4-BE49-F238E27FC236}">
                <a16:creationId xmlns:a16="http://schemas.microsoft.com/office/drawing/2014/main" id="{FDAD0D13-457D-53FE-4ED5-41E8F0173F47}"/>
              </a:ext>
            </a:extLst>
          </p:cNvPr>
          <p:cNvPicPr>
            <a:picLocks noChangeAspect="1"/>
          </p:cNvPicPr>
          <p:nvPr/>
        </p:nvPicPr>
        <p:blipFill>
          <a:blip r:embed="rId2"/>
          <a:stretch>
            <a:fillRect/>
          </a:stretch>
        </p:blipFill>
        <p:spPr>
          <a:xfrm>
            <a:off x="2412780" y="2964461"/>
            <a:ext cx="5677535" cy="3893539"/>
          </a:xfrm>
          <a:prstGeom prst="rect">
            <a:avLst/>
          </a:prstGeom>
        </p:spPr>
      </p:pic>
    </p:spTree>
    <p:extLst>
      <p:ext uri="{BB962C8B-B14F-4D97-AF65-F5344CB8AC3E}">
        <p14:creationId xmlns:p14="http://schemas.microsoft.com/office/powerpoint/2010/main" val="37387514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6F11E2-DAD2-1EC0-28FD-F503206DB6F9}"/>
              </a:ext>
            </a:extLst>
          </p:cNvPr>
          <p:cNvSpPr txBox="1"/>
          <p:nvPr/>
        </p:nvSpPr>
        <p:spPr>
          <a:xfrm>
            <a:off x="138659" y="150939"/>
            <a:ext cx="10234534" cy="2862322"/>
          </a:xfrm>
          <a:prstGeom prst="rect">
            <a:avLst/>
          </a:prstGeom>
          <a:noFill/>
        </p:spPr>
        <p:txBody>
          <a:bodyPr wrap="square">
            <a:spAutoFit/>
          </a:bodyPr>
          <a:lstStyle/>
          <a:p>
            <a:r>
              <a:rPr lang="en-US" dirty="0"/>
              <a:t>Implementation with 8:1 MUX</a:t>
            </a:r>
          </a:p>
          <a:p>
            <a:r>
              <a:rPr lang="en-US" dirty="0"/>
              <a:t>In the given </a:t>
            </a:r>
            <a:r>
              <a:rPr lang="en-US" dirty="0" err="1"/>
              <a:t>boolean</a:t>
            </a:r>
            <a:r>
              <a:rPr lang="en-US" dirty="0"/>
              <a:t> expression, there are 4 variables.</a:t>
            </a:r>
          </a:p>
          <a:p>
            <a:r>
              <a:rPr lang="en-US" dirty="0"/>
              <a:t>Hence, we should use  16:1 multiplexer.</a:t>
            </a:r>
          </a:p>
          <a:p>
            <a:r>
              <a:rPr lang="en-US" dirty="0"/>
              <a:t> But as per the question, it is to be implemented with 8:1 mux.</a:t>
            </a:r>
          </a:p>
          <a:p>
            <a:r>
              <a:rPr lang="en-US" dirty="0"/>
              <a:t>For the 8:1 multiplexer, there should be 3 selection lines.</a:t>
            </a:r>
          </a:p>
          <a:p>
            <a:r>
              <a:rPr lang="en-US" dirty="0"/>
              <a:t>So from the given 4 variables, the 3 least significant variables(B, C, D) are used as selection line </a:t>
            </a:r>
          </a:p>
          <a:p>
            <a:r>
              <a:rPr lang="en-US" dirty="0"/>
              <a:t>inputs.</a:t>
            </a:r>
          </a:p>
          <a:p>
            <a:r>
              <a:rPr lang="en-US" dirty="0"/>
              <a:t>Let us derive the eight inputs of the 8:1 multiplexer using the Implementation Table.</a:t>
            </a:r>
          </a:p>
          <a:p>
            <a:r>
              <a:rPr lang="en-US" dirty="0"/>
              <a:t>The eight inputs are listed column-wise and all the </a:t>
            </a:r>
            <a:r>
              <a:rPr lang="en-US" dirty="0" err="1"/>
              <a:t>minterms</a:t>
            </a:r>
            <a:r>
              <a:rPr lang="en-US" dirty="0"/>
              <a:t> are written under the eight inputs in rows as shown below the implementation table:</a:t>
            </a:r>
            <a:endParaRPr lang="en-IN" dirty="0"/>
          </a:p>
        </p:txBody>
      </p:sp>
      <p:pic>
        <p:nvPicPr>
          <p:cNvPr id="5" name="Picture 4">
            <a:extLst>
              <a:ext uri="{FF2B5EF4-FFF2-40B4-BE49-F238E27FC236}">
                <a16:creationId xmlns:a16="http://schemas.microsoft.com/office/drawing/2014/main" id="{794D22A8-723B-A5DB-97BF-4B5E3D992FA2}"/>
              </a:ext>
            </a:extLst>
          </p:cNvPr>
          <p:cNvPicPr>
            <a:picLocks noChangeAspect="1"/>
          </p:cNvPicPr>
          <p:nvPr/>
        </p:nvPicPr>
        <p:blipFill>
          <a:blip r:embed="rId2"/>
          <a:stretch>
            <a:fillRect/>
          </a:stretch>
        </p:blipFill>
        <p:spPr>
          <a:xfrm>
            <a:off x="326348" y="3171201"/>
            <a:ext cx="11239500" cy="3333750"/>
          </a:xfrm>
          <a:prstGeom prst="rect">
            <a:avLst/>
          </a:prstGeom>
        </p:spPr>
      </p:pic>
    </p:spTree>
    <p:extLst>
      <p:ext uri="{BB962C8B-B14F-4D97-AF65-F5344CB8AC3E}">
        <p14:creationId xmlns:p14="http://schemas.microsoft.com/office/powerpoint/2010/main" val="20127570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1CC9E5-C556-8258-3D02-E0DCD746B8EA}"/>
              </a:ext>
            </a:extLst>
          </p:cNvPr>
          <p:cNvPicPr>
            <a:picLocks noChangeAspect="1"/>
          </p:cNvPicPr>
          <p:nvPr/>
        </p:nvPicPr>
        <p:blipFill>
          <a:blip r:embed="rId2"/>
          <a:stretch>
            <a:fillRect/>
          </a:stretch>
        </p:blipFill>
        <p:spPr>
          <a:xfrm>
            <a:off x="3336910" y="629587"/>
            <a:ext cx="4949803" cy="5074170"/>
          </a:xfrm>
          <a:prstGeom prst="rect">
            <a:avLst/>
          </a:prstGeom>
        </p:spPr>
      </p:pic>
    </p:spTree>
    <p:extLst>
      <p:ext uri="{BB962C8B-B14F-4D97-AF65-F5344CB8AC3E}">
        <p14:creationId xmlns:p14="http://schemas.microsoft.com/office/powerpoint/2010/main" val="26706882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1375</TotalTime>
  <Words>3884</Words>
  <Application>Microsoft Office PowerPoint</Application>
  <PresentationFormat>Widescreen</PresentationFormat>
  <Paragraphs>373</Paragraphs>
  <Slides>68</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9" baseType="lpstr">
      <vt:lpstr>Arial</vt:lpstr>
      <vt:lpstr>Arial Black</vt:lpstr>
      <vt:lpstr>Calibri</vt:lpstr>
      <vt:lpstr>Calibri Light</vt:lpstr>
      <vt:lpstr>Cambria Math</vt:lpstr>
      <vt:lpstr>Lato</vt:lpstr>
      <vt:lpstr>Raleway</vt:lpstr>
      <vt:lpstr>Symbol</vt:lpstr>
      <vt:lpstr>Times New Roman</vt:lpstr>
      <vt:lpstr>Office Theme</vt:lpstr>
      <vt:lpstr>Paintbrush Picture</vt:lpstr>
      <vt:lpstr>PowerPoint Presentation</vt:lpstr>
      <vt:lpstr>Digital logic circuits</vt:lpstr>
      <vt:lpstr>Combinational circuit  </vt:lpstr>
      <vt:lpstr>PowerPoint Presentation</vt:lpstr>
      <vt:lpstr>PowerPoint Presentation</vt:lpstr>
      <vt:lpstr>Design Procedure:</vt:lpstr>
      <vt:lpstr>PowerPoint Presentation</vt:lpstr>
      <vt:lpstr>Design Procedure:</vt:lpstr>
      <vt:lpstr>PowerPoint Presentation</vt:lpstr>
      <vt:lpstr>PowerPoint Presentation</vt:lpstr>
      <vt:lpstr>PowerPoint Presentation</vt:lpstr>
      <vt:lpstr>PowerPoint Presentation</vt:lpstr>
      <vt:lpstr>PowerPoint Presentation</vt:lpstr>
      <vt:lpstr>PowerPoint Presentation</vt:lpstr>
      <vt:lpstr>Half Adder:</vt:lpstr>
      <vt:lpstr>Half adder sum and carry equation is</vt:lpstr>
      <vt:lpstr>Full Adder: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N-Bit Parallel Adder: </vt:lpstr>
      <vt:lpstr>4-Bit Parallel Adder:</vt:lpstr>
      <vt:lpstr>How does Parallel Adder Work:</vt:lpstr>
      <vt:lpstr>PowerPoint Presentation</vt:lpstr>
      <vt:lpstr>PowerPoint Presentation</vt:lpstr>
      <vt:lpstr>HALF SUBTRACTOR:</vt:lpstr>
      <vt:lpstr>PowerPoint Presentation</vt:lpstr>
      <vt:lpstr>Operation of Half Subtractor:</vt:lpstr>
      <vt:lpstr>K-Map for Half Subtractor:</vt:lpstr>
      <vt:lpstr>FULL SUBTRACTOR:</vt:lpstr>
      <vt:lpstr>Block Diagram of Full-Subtractor:                                               </vt:lpstr>
      <vt:lpstr>AOI Logic diagram:</vt:lpstr>
      <vt:lpstr>PowerPoint Presentation</vt:lpstr>
      <vt:lpstr>N-BIT PARALLEL SUBTRACTOR:</vt:lpstr>
      <vt:lpstr>PowerPoint Presentation</vt:lpstr>
      <vt:lpstr>4 BIT PARALLEL SUBTRACTOR:</vt:lpstr>
      <vt:lpstr>Logic diagram:</vt:lpstr>
      <vt:lpstr>DECIMAL ADDER</vt:lpstr>
      <vt:lpstr>PowerPoint Presentation</vt:lpstr>
      <vt:lpstr>Digital Binary Multiplier</vt:lpstr>
      <vt:lpstr>2×2 Bit Multiplier:</vt:lpstr>
      <vt:lpstr>Magnitude Comparators </vt:lpstr>
      <vt:lpstr>1-Bit Magnitude Comparator </vt:lpstr>
      <vt:lpstr>Decoder:</vt:lpstr>
      <vt:lpstr>2 to 4 line decoder:</vt:lpstr>
      <vt:lpstr>2 to 4 line decoder:</vt:lpstr>
      <vt:lpstr>3 to 8 line decoder:</vt:lpstr>
      <vt:lpstr>PowerPoint Presentation</vt:lpstr>
      <vt:lpstr>PowerPoint Presentation</vt:lpstr>
      <vt:lpstr>Encoders</vt:lpstr>
      <vt:lpstr>PowerPoint Presentation</vt:lpstr>
      <vt:lpstr>Multiplexer:</vt:lpstr>
      <vt:lpstr>Types of Multiplexers:</vt:lpstr>
      <vt:lpstr>2X1 Multiplexer:</vt:lpstr>
      <vt:lpstr>4x1 Multiplexer:</vt:lpstr>
      <vt:lpstr>8x1 Multiplexer:</vt:lpstr>
      <vt:lpstr>Demultiplexer:</vt:lpstr>
      <vt:lpstr>PowerPoint Presentation</vt:lpstr>
      <vt:lpstr>1x8 Demultiplexer:</vt:lpstr>
      <vt:lpstr>Truth Table:</vt:lpstr>
      <vt:lpstr>Logical circuit: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fareesa firdouse</dc:creator>
  <cp:lastModifiedBy>Dr fareesa firdouse</cp:lastModifiedBy>
  <cp:revision>12</cp:revision>
  <dcterms:created xsi:type="dcterms:W3CDTF">2025-09-19T05:29:23Z</dcterms:created>
  <dcterms:modified xsi:type="dcterms:W3CDTF">2025-11-19T14:19:07Z</dcterms:modified>
</cp:coreProperties>
</file>